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media/image11.jpg" ContentType="image/jpg"/>
  <Override PartName="/ppt/media/image12.jpg" ContentType="image/jpg"/>
  <Override PartName="/ppt/media/image13.jpg" ContentType="image/jpg"/>
  <Override PartName="/ppt/media/image14.jpg" ContentType="image/jpg"/>
  <Override PartName="/ppt/media/image15.jpg" ContentType="image/jpg"/>
  <Override PartName="/ppt/media/image16.jpg" ContentType="image/jpg"/>
  <Override PartName="/ppt/media/image17.jpg" ContentType="image/jpg"/>
  <Override PartName="/ppt/media/image18.jpg" ContentType="image/jpg"/>
  <Override PartName="/ppt/media/image19.jpg" ContentType="image/jp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48" r:id="rId1"/>
  </p:sldMasterIdLst>
  <p:notesMasterIdLst>
    <p:notesMasterId r:id="rId35"/>
  </p:notesMasterIdLst>
  <p:sldIdLst>
    <p:sldId id="256" r:id="rId2"/>
    <p:sldId id="303" r:id="rId3"/>
    <p:sldId id="258" r:id="rId4"/>
    <p:sldId id="273" r:id="rId5"/>
    <p:sldId id="278" r:id="rId6"/>
    <p:sldId id="277" r:id="rId7"/>
    <p:sldId id="259" r:id="rId8"/>
    <p:sldId id="260" r:id="rId9"/>
    <p:sldId id="280" r:id="rId10"/>
    <p:sldId id="281" r:id="rId11"/>
    <p:sldId id="306" r:id="rId12"/>
    <p:sldId id="307" r:id="rId13"/>
    <p:sldId id="283" r:id="rId14"/>
    <p:sldId id="261" r:id="rId15"/>
    <p:sldId id="298" r:id="rId16"/>
    <p:sldId id="262" r:id="rId17"/>
    <p:sldId id="263" r:id="rId18"/>
    <p:sldId id="264" r:id="rId19"/>
    <p:sldId id="265" r:id="rId20"/>
    <p:sldId id="266" r:id="rId21"/>
    <p:sldId id="267" r:id="rId22"/>
    <p:sldId id="268" r:id="rId23"/>
    <p:sldId id="269" r:id="rId24"/>
    <p:sldId id="270" r:id="rId25"/>
    <p:sldId id="305" r:id="rId26"/>
    <p:sldId id="293" r:id="rId27"/>
    <p:sldId id="304" r:id="rId28"/>
    <p:sldId id="302" r:id="rId29"/>
    <p:sldId id="299" r:id="rId30"/>
    <p:sldId id="300" r:id="rId31"/>
    <p:sldId id="301" r:id="rId32"/>
    <p:sldId id="271" r:id="rId33"/>
    <p:sldId id="272" r:id="rId34"/>
  </p:sldIdLst>
  <p:sldSz cx="18288000" cy="10287000"/>
  <p:notesSz cx="18288000" cy="10287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3997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9" d="100"/>
          <a:sy n="79" d="100"/>
        </p:scale>
        <p:origin x="294" y="10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7924800" cy="5159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10358438" y="0"/>
            <a:ext cx="7924800" cy="515938"/>
          </a:xfrm>
          <a:prstGeom prst="rect">
            <a:avLst/>
          </a:prstGeom>
        </p:spPr>
        <p:txBody>
          <a:bodyPr vert="horz" lIns="91440" tIns="45720" rIns="91440" bIns="45720" rtlCol="0"/>
          <a:lstStyle>
            <a:lvl1pPr algn="r">
              <a:defRPr sz="1200"/>
            </a:lvl1pPr>
          </a:lstStyle>
          <a:p>
            <a:fld id="{53CA737A-C855-44E5-833F-62C8E9B66DFF}" type="datetimeFigureOut">
              <a:rPr lang="en-US" smtClean="0"/>
              <a:t>11/3/25</a:t>
            </a:fld>
            <a:endParaRPr lang="en-US"/>
          </a:p>
        </p:txBody>
      </p:sp>
      <p:sp>
        <p:nvSpPr>
          <p:cNvPr id="4" name="Slide Image Placeholder 3"/>
          <p:cNvSpPr>
            <a:spLocks noGrp="1" noRot="1" noChangeAspect="1"/>
          </p:cNvSpPr>
          <p:nvPr>
            <p:ph type="sldImg" idx="2"/>
          </p:nvPr>
        </p:nvSpPr>
        <p:spPr>
          <a:xfrm>
            <a:off x="6057900" y="1285875"/>
            <a:ext cx="6172200" cy="3471863"/>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828800" y="4951413"/>
            <a:ext cx="14630400" cy="40497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71063"/>
            <a:ext cx="7924800" cy="5159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10358438" y="9771063"/>
            <a:ext cx="7924800" cy="515937"/>
          </a:xfrm>
          <a:prstGeom prst="rect">
            <a:avLst/>
          </a:prstGeom>
        </p:spPr>
        <p:txBody>
          <a:bodyPr vert="horz" lIns="91440" tIns="45720" rIns="91440" bIns="45720" rtlCol="0" anchor="b"/>
          <a:lstStyle>
            <a:lvl1pPr algn="r">
              <a:defRPr sz="1200"/>
            </a:lvl1pPr>
          </a:lstStyle>
          <a:p>
            <a:fld id="{B36B4D1D-DD8C-4727-A9BE-C21A7C2E6500}" type="slidenum">
              <a:rPr lang="en-US" smtClean="0"/>
              <a:t>‹#›</a:t>
            </a:fld>
            <a:endParaRPr lang="en-US"/>
          </a:p>
        </p:txBody>
      </p:sp>
    </p:spTree>
    <p:extLst>
      <p:ext uri="{BB962C8B-B14F-4D97-AF65-F5344CB8AC3E}">
        <p14:creationId xmlns:p14="http://schemas.microsoft.com/office/powerpoint/2010/main" val="8227773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016299" y="0"/>
            <a:ext cx="15271750" cy="10287000"/>
          </a:xfrm>
          <a:custGeom>
            <a:avLst/>
            <a:gdLst/>
            <a:ahLst/>
            <a:cxnLst/>
            <a:rect l="l" t="t" r="r" b="b"/>
            <a:pathLst>
              <a:path w="15271750" h="10287000">
                <a:moveTo>
                  <a:pt x="0" y="10286999"/>
                </a:moveTo>
                <a:lnTo>
                  <a:pt x="15271699" y="10286999"/>
                </a:lnTo>
                <a:lnTo>
                  <a:pt x="15271699" y="0"/>
                </a:lnTo>
                <a:lnTo>
                  <a:pt x="0" y="0"/>
                </a:lnTo>
                <a:lnTo>
                  <a:pt x="0" y="10286999"/>
                </a:lnTo>
                <a:close/>
              </a:path>
            </a:pathLst>
          </a:custGeom>
          <a:solidFill>
            <a:srgbClr val="F7F5EC"/>
          </a:solidFill>
        </p:spPr>
        <p:txBody>
          <a:bodyPr wrap="square" lIns="0" tIns="0" rIns="0" bIns="0" rtlCol="0"/>
          <a:lstStyle/>
          <a:p>
            <a:endParaRPr/>
          </a:p>
        </p:txBody>
      </p:sp>
      <p:sp>
        <p:nvSpPr>
          <p:cNvPr id="17" name="bg object 17"/>
          <p:cNvSpPr/>
          <p:nvPr/>
        </p:nvSpPr>
        <p:spPr>
          <a:xfrm>
            <a:off x="0" y="0"/>
            <a:ext cx="2540" cy="10287000"/>
          </a:xfrm>
          <a:custGeom>
            <a:avLst/>
            <a:gdLst/>
            <a:ahLst/>
            <a:cxnLst/>
            <a:rect l="l" t="t" r="r" b="b"/>
            <a:pathLst>
              <a:path w="2540" h="10287000">
                <a:moveTo>
                  <a:pt x="0" y="10286999"/>
                </a:moveTo>
                <a:lnTo>
                  <a:pt x="2529" y="10286999"/>
                </a:lnTo>
                <a:lnTo>
                  <a:pt x="2529" y="0"/>
                </a:lnTo>
                <a:lnTo>
                  <a:pt x="0" y="0"/>
                </a:lnTo>
                <a:lnTo>
                  <a:pt x="0" y="10286999"/>
                </a:lnTo>
                <a:close/>
              </a:path>
            </a:pathLst>
          </a:custGeom>
          <a:solidFill>
            <a:srgbClr val="F7F5EC"/>
          </a:solidFill>
        </p:spPr>
        <p:txBody>
          <a:bodyPr wrap="square" lIns="0" tIns="0" rIns="0" bIns="0" rtlCol="0"/>
          <a:lstStyle/>
          <a:p>
            <a:endParaRPr/>
          </a:p>
        </p:txBody>
      </p:sp>
      <p:sp>
        <p:nvSpPr>
          <p:cNvPr id="18" name="bg object 18"/>
          <p:cNvSpPr/>
          <p:nvPr/>
        </p:nvSpPr>
        <p:spPr>
          <a:xfrm>
            <a:off x="2529" y="0"/>
            <a:ext cx="3014345" cy="10287000"/>
          </a:xfrm>
          <a:custGeom>
            <a:avLst/>
            <a:gdLst/>
            <a:ahLst/>
            <a:cxnLst/>
            <a:rect l="l" t="t" r="r" b="b"/>
            <a:pathLst>
              <a:path w="3014345" h="10287000">
                <a:moveTo>
                  <a:pt x="0" y="0"/>
                </a:moveTo>
                <a:lnTo>
                  <a:pt x="3013769" y="0"/>
                </a:lnTo>
                <a:lnTo>
                  <a:pt x="3013769" y="10287000"/>
                </a:lnTo>
                <a:lnTo>
                  <a:pt x="0" y="10287000"/>
                </a:lnTo>
                <a:lnTo>
                  <a:pt x="0" y="0"/>
                </a:lnTo>
                <a:close/>
              </a:path>
            </a:pathLst>
          </a:custGeom>
          <a:solidFill>
            <a:srgbClr val="6A6F5C"/>
          </a:solidFill>
        </p:spPr>
        <p:txBody>
          <a:bodyPr wrap="square" lIns="0" tIns="0" rIns="0" bIns="0" rtlCol="0"/>
          <a:lstStyle/>
          <a:p>
            <a:endParaRPr/>
          </a:p>
        </p:txBody>
      </p:sp>
      <p:sp>
        <p:nvSpPr>
          <p:cNvPr id="19" name="bg object 19"/>
          <p:cNvSpPr/>
          <p:nvPr/>
        </p:nvSpPr>
        <p:spPr>
          <a:xfrm>
            <a:off x="2236955" y="1600796"/>
            <a:ext cx="1562100" cy="1562100"/>
          </a:xfrm>
          <a:custGeom>
            <a:avLst/>
            <a:gdLst/>
            <a:ahLst/>
            <a:cxnLst/>
            <a:rect l="l" t="t" r="r" b="b"/>
            <a:pathLst>
              <a:path w="1562100" h="1562100">
                <a:moveTo>
                  <a:pt x="780985" y="1562100"/>
                </a:moveTo>
                <a:lnTo>
                  <a:pt x="756602" y="1494782"/>
                </a:lnTo>
                <a:lnTo>
                  <a:pt x="728330" y="1429003"/>
                </a:lnTo>
                <a:lnTo>
                  <a:pt x="696271" y="1364984"/>
                </a:lnTo>
                <a:lnTo>
                  <a:pt x="660529" y="1302946"/>
                </a:lnTo>
                <a:lnTo>
                  <a:pt x="621231" y="1243097"/>
                </a:lnTo>
                <a:lnTo>
                  <a:pt x="578506" y="1185645"/>
                </a:lnTo>
                <a:lnTo>
                  <a:pt x="532504" y="1130782"/>
                </a:lnTo>
                <a:lnTo>
                  <a:pt x="483377" y="1078698"/>
                </a:lnTo>
                <a:lnTo>
                  <a:pt x="431297" y="1029566"/>
                </a:lnTo>
                <a:lnTo>
                  <a:pt x="376437" y="983560"/>
                </a:lnTo>
                <a:lnTo>
                  <a:pt x="318989" y="940830"/>
                </a:lnTo>
                <a:lnTo>
                  <a:pt x="259143" y="901527"/>
                </a:lnTo>
                <a:lnTo>
                  <a:pt x="197108" y="865780"/>
                </a:lnTo>
                <a:lnTo>
                  <a:pt x="133092" y="833716"/>
                </a:lnTo>
                <a:lnTo>
                  <a:pt x="67315" y="805438"/>
                </a:lnTo>
                <a:lnTo>
                  <a:pt x="0" y="781050"/>
                </a:lnTo>
                <a:lnTo>
                  <a:pt x="33850" y="769341"/>
                </a:lnTo>
                <a:lnTo>
                  <a:pt x="100396" y="743008"/>
                </a:lnTo>
                <a:lnTo>
                  <a:pt x="165348" y="712812"/>
                </a:lnTo>
                <a:lnTo>
                  <a:pt x="228373" y="678906"/>
                </a:lnTo>
                <a:lnTo>
                  <a:pt x="289366" y="641349"/>
                </a:lnTo>
                <a:lnTo>
                  <a:pt x="348012" y="600333"/>
                </a:lnTo>
                <a:lnTo>
                  <a:pt x="404214" y="555926"/>
                </a:lnTo>
                <a:lnTo>
                  <a:pt x="457684" y="508358"/>
                </a:lnTo>
                <a:lnTo>
                  <a:pt x="508331" y="457707"/>
                </a:lnTo>
                <a:lnTo>
                  <a:pt x="555895" y="404233"/>
                </a:lnTo>
                <a:lnTo>
                  <a:pt x="600297" y="348027"/>
                </a:lnTo>
                <a:lnTo>
                  <a:pt x="641309" y="289377"/>
                </a:lnTo>
                <a:lnTo>
                  <a:pt x="678861" y="228382"/>
                </a:lnTo>
                <a:lnTo>
                  <a:pt x="712761" y="165353"/>
                </a:lnTo>
                <a:lnTo>
                  <a:pt x="742952" y="100399"/>
                </a:lnTo>
                <a:lnTo>
                  <a:pt x="769280" y="33851"/>
                </a:lnTo>
                <a:lnTo>
                  <a:pt x="780985" y="0"/>
                </a:lnTo>
                <a:lnTo>
                  <a:pt x="792690" y="33850"/>
                </a:lnTo>
                <a:lnTo>
                  <a:pt x="819017" y="100398"/>
                </a:lnTo>
                <a:lnTo>
                  <a:pt x="849207" y="165352"/>
                </a:lnTo>
                <a:lnTo>
                  <a:pt x="883106" y="228380"/>
                </a:lnTo>
                <a:lnTo>
                  <a:pt x="920657" y="289374"/>
                </a:lnTo>
                <a:lnTo>
                  <a:pt x="961668" y="348024"/>
                </a:lnTo>
                <a:lnTo>
                  <a:pt x="1006068" y="404230"/>
                </a:lnTo>
                <a:lnTo>
                  <a:pt x="1053631" y="457703"/>
                </a:lnTo>
                <a:lnTo>
                  <a:pt x="1104276" y="508354"/>
                </a:lnTo>
                <a:lnTo>
                  <a:pt x="1157745" y="555923"/>
                </a:lnTo>
                <a:lnTo>
                  <a:pt x="1213946" y="600329"/>
                </a:lnTo>
                <a:lnTo>
                  <a:pt x="1272591" y="641346"/>
                </a:lnTo>
                <a:lnTo>
                  <a:pt x="1333582" y="678904"/>
                </a:lnTo>
                <a:lnTo>
                  <a:pt x="1396606" y="712810"/>
                </a:lnTo>
                <a:lnTo>
                  <a:pt x="1461557" y="743007"/>
                </a:lnTo>
                <a:lnTo>
                  <a:pt x="1528101" y="769341"/>
                </a:lnTo>
                <a:lnTo>
                  <a:pt x="1561951" y="781050"/>
                </a:lnTo>
                <a:lnTo>
                  <a:pt x="1528101" y="792758"/>
                </a:lnTo>
                <a:lnTo>
                  <a:pt x="1461556" y="819092"/>
                </a:lnTo>
                <a:lnTo>
                  <a:pt x="1396606" y="849289"/>
                </a:lnTo>
                <a:lnTo>
                  <a:pt x="1333582" y="883195"/>
                </a:lnTo>
                <a:lnTo>
                  <a:pt x="1272591" y="920753"/>
                </a:lnTo>
                <a:lnTo>
                  <a:pt x="1213945" y="961770"/>
                </a:lnTo>
                <a:lnTo>
                  <a:pt x="1157745" y="1006176"/>
                </a:lnTo>
                <a:lnTo>
                  <a:pt x="1104276" y="1053745"/>
                </a:lnTo>
                <a:lnTo>
                  <a:pt x="1053631" y="1104396"/>
                </a:lnTo>
                <a:lnTo>
                  <a:pt x="1006068" y="1157870"/>
                </a:lnTo>
                <a:lnTo>
                  <a:pt x="961668" y="1214075"/>
                </a:lnTo>
                <a:lnTo>
                  <a:pt x="920657" y="1272725"/>
                </a:lnTo>
                <a:lnTo>
                  <a:pt x="883106" y="1333720"/>
                </a:lnTo>
                <a:lnTo>
                  <a:pt x="849207" y="1396748"/>
                </a:lnTo>
                <a:lnTo>
                  <a:pt x="819017" y="1461701"/>
                </a:lnTo>
                <a:lnTo>
                  <a:pt x="792690" y="1528249"/>
                </a:lnTo>
                <a:lnTo>
                  <a:pt x="780985" y="1562100"/>
                </a:lnTo>
                <a:close/>
              </a:path>
            </a:pathLst>
          </a:custGeom>
          <a:solidFill>
            <a:srgbClr val="A5A58C"/>
          </a:solidFill>
        </p:spPr>
        <p:txBody>
          <a:bodyPr wrap="square" lIns="0" tIns="0" rIns="0" bIns="0" rtlCol="0"/>
          <a:lstStyle/>
          <a:p>
            <a:endParaRPr/>
          </a:p>
        </p:txBody>
      </p:sp>
      <p:sp>
        <p:nvSpPr>
          <p:cNvPr id="2" name="Holder 2"/>
          <p:cNvSpPr>
            <a:spLocks noGrp="1"/>
          </p:cNvSpPr>
          <p:nvPr>
            <p:ph type="ctrTitle"/>
          </p:nvPr>
        </p:nvSpPr>
        <p:spPr>
          <a:xfrm>
            <a:off x="1295973" y="1438585"/>
            <a:ext cx="15696053" cy="4540250"/>
          </a:xfrm>
          <a:prstGeom prst="rect">
            <a:avLst/>
          </a:prstGeom>
        </p:spPr>
        <p:txBody>
          <a:bodyPr wrap="square" lIns="0" tIns="0" rIns="0" bIns="0">
            <a:spAutoFit/>
          </a:bodyPr>
          <a:lstStyle>
            <a:lvl1pPr>
              <a:defRPr sz="12700" b="0" i="0">
                <a:solidFill>
                  <a:srgbClr val="6A6F5C"/>
                </a:solidFill>
                <a:latin typeface="Lucida Sans Unicode"/>
                <a:cs typeface="Lucida Sans Unicode"/>
              </a:defRPr>
            </a:lvl1pPr>
          </a:lstStyle>
          <a:p>
            <a:endParaRPr/>
          </a:p>
        </p:txBody>
      </p:sp>
      <p:sp>
        <p:nvSpPr>
          <p:cNvPr id="3" name="Holder 3"/>
          <p:cNvSpPr>
            <a:spLocks noGrp="1"/>
          </p:cNvSpPr>
          <p:nvPr>
            <p:ph type="subTitle" idx="4"/>
          </p:nvPr>
        </p:nvSpPr>
        <p:spPr>
          <a:xfrm>
            <a:off x="1780299" y="6275418"/>
            <a:ext cx="14727400" cy="1960879"/>
          </a:xfrm>
          <a:prstGeom prst="rect">
            <a:avLst/>
          </a:prstGeom>
        </p:spPr>
        <p:txBody>
          <a:bodyPr wrap="square" lIns="0" tIns="0" rIns="0" bIns="0">
            <a:spAutoFit/>
          </a:bodyPr>
          <a:lstStyle>
            <a:lvl1pPr>
              <a:defRPr sz="12700" b="0" i="0">
                <a:solidFill>
                  <a:srgbClr val="6A6F5C"/>
                </a:solidFill>
                <a:latin typeface="Lucida Sans Unicode"/>
                <a:cs typeface="Lucida Sans Unicod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264A851-A04A-4D7F-BC4D-E1B4A5C118E8}" type="datetime1">
              <a:rPr lang="en-US" smtClean="0"/>
              <a:t>11/3/25</a:t>
            </a:fld>
            <a:endParaRPr lang="en-US"/>
          </a:p>
        </p:txBody>
      </p:sp>
      <p:sp>
        <p:nvSpPr>
          <p:cNvPr id="6" name="Holder 6"/>
          <p:cNvSpPr>
            <a:spLocks noGrp="1"/>
          </p:cNvSpPr>
          <p:nvPr>
            <p:ph type="sldNum" sz="quarter" idx="7"/>
          </p:nvPr>
        </p:nvSpPr>
        <p:spPr/>
        <p:txBody>
          <a:bodyPr lIns="0" tIns="0" rIns="0" bIns="0"/>
          <a:lstStyle>
            <a:lvl1pPr>
              <a:defRPr sz="2000" b="0" i="0">
                <a:solidFill>
                  <a:schemeClr val="tx1"/>
                </a:solidFill>
                <a:latin typeface="Verdana"/>
                <a:cs typeface="Verdana"/>
              </a:defRPr>
            </a:lvl1pPr>
          </a:lstStyle>
          <a:p>
            <a:pPr marL="12700">
              <a:lnSpc>
                <a:spcPct val="100000"/>
              </a:lnSpc>
              <a:spcBef>
                <a:spcPts val="240"/>
              </a:spcBef>
            </a:pPr>
            <a:r>
              <a:rPr spc="265" dirty="0"/>
              <a:t>P</a:t>
            </a:r>
            <a:r>
              <a:rPr spc="229" dirty="0"/>
              <a:t>a</a:t>
            </a:r>
            <a:r>
              <a:rPr spc="295" dirty="0"/>
              <a:t>g</a:t>
            </a:r>
            <a:r>
              <a:rPr spc="275" dirty="0"/>
              <a:t>e</a:t>
            </a:r>
            <a:r>
              <a:rPr spc="5" dirty="0"/>
              <a:t>-</a:t>
            </a:r>
            <a:r>
              <a:rPr spc="-505" dirty="0"/>
              <a:t> </a:t>
            </a:r>
            <a:fld id="{81D60167-4931-47E6-BA6A-407CBD079E47}" type="slidenum">
              <a:rPr spc="-65" dirty="0"/>
              <a:t>‹#›</a:t>
            </a:fld>
            <a:endParaRPr spc="-6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8288000" cy="10287000"/>
          </a:xfrm>
          <a:custGeom>
            <a:avLst/>
            <a:gdLst/>
            <a:ahLst/>
            <a:cxnLst/>
            <a:rect l="l" t="t" r="r" b="b"/>
            <a:pathLst>
              <a:path w="18288000" h="10287000">
                <a:moveTo>
                  <a:pt x="18287998" y="10286999"/>
                </a:moveTo>
                <a:lnTo>
                  <a:pt x="0" y="10286999"/>
                </a:lnTo>
                <a:lnTo>
                  <a:pt x="0" y="0"/>
                </a:lnTo>
                <a:lnTo>
                  <a:pt x="18287998" y="0"/>
                </a:lnTo>
                <a:lnTo>
                  <a:pt x="18287998" y="10286999"/>
                </a:lnTo>
                <a:close/>
              </a:path>
            </a:pathLst>
          </a:custGeom>
          <a:solidFill>
            <a:srgbClr val="F7F5EC"/>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3500" b="0" i="0">
                <a:solidFill>
                  <a:srgbClr val="6A6F5C"/>
                </a:solidFill>
                <a:latin typeface="Lucida Sans Unicode"/>
                <a:cs typeface="Lucida Sans Unicode"/>
              </a:defRPr>
            </a:lvl1pPr>
          </a:lstStyle>
          <a:p>
            <a:endParaRPr/>
          </a:p>
        </p:txBody>
      </p:sp>
      <p:sp>
        <p:nvSpPr>
          <p:cNvPr id="3" name="Holder 3"/>
          <p:cNvSpPr>
            <a:spLocks noGrp="1"/>
          </p:cNvSpPr>
          <p:nvPr>
            <p:ph type="body" idx="1"/>
          </p:nvPr>
        </p:nvSpPr>
        <p:spPr/>
        <p:txBody>
          <a:bodyPr lIns="0" tIns="0" rIns="0" bIns="0"/>
          <a:lstStyle>
            <a:lvl1pPr>
              <a:defRPr sz="1950" b="0" i="0">
                <a:solidFill>
                  <a:srgbClr val="2E3125"/>
                </a:solidFill>
                <a:latin typeface="Lucida Sans Unicode"/>
                <a:cs typeface="Lucida Sans Unicod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9E1B93BB-364B-4033-931D-D375B487075D}" type="datetime1">
              <a:rPr lang="en-US" smtClean="0"/>
              <a:t>11/3/25</a:t>
            </a:fld>
            <a:endParaRPr lang="en-US"/>
          </a:p>
        </p:txBody>
      </p:sp>
      <p:sp>
        <p:nvSpPr>
          <p:cNvPr id="6" name="Holder 6"/>
          <p:cNvSpPr>
            <a:spLocks noGrp="1"/>
          </p:cNvSpPr>
          <p:nvPr>
            <p:ph type="sldNum" sz="quarter" idx="7"/>
          </p:nvPr>
        </p:nvSpPr>
        <p:spPr/>
        <p:txBody>
          <a:bodyPr lIns="0" tIns="0" rIns="0" bIns="0"/>
          <a:lstStyle>
            <a:lvl1pPr>
              <a:defRPr sz="2000" b="0" i="0">
                <a:solidFill>
                  <a:schemeClr val="tx1"/>
                </a:solidFill>
                <a:latin typeface="Verdana"/>
                <a:cs typeface="Verdana"/>
              </a:defRPr>
            </a:lvl1pPr>
          </a:lstStyle>
          <a:p>
            <a:pPr marL="12700">
              <a:lnSpc>
                <a:spcPct val="100000"/>
              </a:lnSpc>
              <a:spcBef>
                <a:spcPts val="240"/>
              </a:spcBef>
            </a:pPr>
            <a:r>
              <a:rPr spc="265" dirty="0"/>
              <a:t>P</a:t>
            </a:r>
            <a:r>
              <a:rPr spc="229" dirty="0"/>
              <a:t>a</a:t>
            </a:r>
            <a:r>
              <a:rPr spc="295" dirty="0"/>
              <a:t>g</a:t>
            </a:r>
            <a:r>
              <a:rPr spc="275" dirty="0"/>
              <a:t>e</a:t>
            </a:r>
            <a:r>
              <a:rPr spc="5" dirty="0"/>
              <a:t>-</a:t>
            </a:r>
            <a:r>
              <a:rPr spc="-505" dirty="0"/>
              <a:t> </a:t>
            </a:r>
            <a:fld id="{81D60167-4931-47E6-BA6A-407CBD079E47}" type="slidenum">
              <a:rPr spc="-65" dirty="0"/>
              <a:t>‹#›</a:t>
            </a:fld>
            <a:endParaRPr spc="-6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500" b="0" i="0">
                <a:solidFill>
                  <a:srgbClr val="6A6F5C"/>
                </a:solidFill>
                <a:latin typeface="Lucida Sans Unicode"/>
                <a:cs typeface="Lucida Sans Unicode"/>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ECF7AF9B-B212-411F-AFF2-4E30D90955D4}" type="datetime1">
              <a:rPr lang="en-US" smtClean="0"/>
              <a:t>11/3/25</a:t>
            </a:fld>
            <a:endParaRPr lang="en-US"/>
          </a:p>
        </p:txBody>
      </p:sp>
      <p:sp>
        <p:nvSpPr>
          <p:cNvPr id="7" name="Holder 7"/>
          <p:cNvSpPr>
            <a:spLocks noGrp="1"/>
          </p:cNvSpPr>
          <p:nvPr>
            <p:ph type="sldNum" sz="quarter" idx="7"/>
          </p:nvPr>
        </p:nvSpPr>
        <p:spPr/>
        <p:txBody>
          <a:bodyPr lIns="0" tIns="0" rIns="0" bIns="0"/>
          <a:lstStyle>
            <a:lvl1pPr>
              <a:defRPr sz="2000" b="0" i="0">
                <a:solidFill>
                  <a:schemeClr val="tx1"/>
                </a:solidFill>
                <a:latin typeface="Verdana"/>
                <a:cs typeface="Verdana"/>
              </a:defRPr>
            </a:lvl1pPr>
          </a:lstStyle>
          <a:p>
            <a:pPr marL="12700">
              <a:lnSpc>
                <a:spcPct val="100000"/>
              </a:lnSpc>
              <a:spcBef>
                <a:spcPts val="240"/>
              </a:spcBef>
            </a:pPr>
            <a:r>
              <a:rPr spc="265" dirty="0"/>
              <a:t>P</a:t>
            </a:r>
            <a:r>
              <a:rPr spc="229" dirty="0"/>
              <a:t>a</a:t>
            </a:r>
            <a:r>
              <a:rPr spc="295" dirty="0"/>
              <a:t>g</a:t>
            </a:r>
            <a:r>
              <a:rPr spc="275" dirty="0"/>
              <a:t>e</a:t>
            </a:r>
            <a:r>
              <a:rPr spc="5" dirty="0"/>
              <a:t>-</a:t>
            </a:r>
            <a:r>
              <a:rPr spc="-505" dirty="0"/>
              <a:t> </a:t>
            </a:r>
            <a:fld id="{81D60167-4931-47E6-BA6A-407CBD079E47}" type="slidenum">
              <a:rPr spc="-65" dirty="0"/>
              <a:t>‹#›</a:t>
            </a:fld>
            <a:endParaRPr spc="-6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8284442" y="0"/>
            <a:ext cx="3810" cy="10287000"/>
          </a:xfrm>
          <a:custGeom>
            <a:avLst/>
            <a:gdLst/>
            <a:ahLst/>
            <a:cxnLst/>
            <a:rect l="l" t="t" r="r" b="b"/>
            <a:pathLst>
              <a:path w="3809" h="10287000">
                <a:moveTo>
                  <a:pt x="0" y="10286999"/>
                </a:moveTo>
                <a:lnTo>
                  <a:pt x="3556" y="10286999"/>
                </a:lnTo>
                <a:lnTo>
                  <a:pt x="3556" y="0"/>
                </a:lnTo>
                <a:lnTo>
                  <a:pt x="0" y="0"/>
                </a:lnTo>
                <a:lnTo>
                  <a:pt x="0" y="10286999"/>
                </a:lnTo>
                <a:close/>
              </a:path>
            </a:pathLst>
          </a:custGeom>
          <a:solidFill>
            <a:srgbClr val="F7F5EC"/>
          </a:solidFill>
        </p:spPr>
        <p:txBody>
          <a:bodyPr wrap="square" lIns="0" tIns="0" rIns="0" bIns="0" rtlCol="0"/>
          <a:lstStyle/>
          <a:p>
            <a:endParaRPr/>
          </a:p>
        </p:txBody>
      </p:sp>
      <p:sp>
        <p:nvSpPr>
          <p:cNvPr id="17" name="bg object 17"/>
          <p:cNvSpPr/>
          <p:nvPr/>
        </p:nvSpPr>
        <p:spPr>
          <a:xfrm>
            <a:off x="0" y="0"/>
            <a:ext cx="14475460" cy="10287000"/>
          </a:xfrm>
          <a:custGeom>
            <a:avLst/>
            <a:gdLst/>
            <a:ahLst/>
            <a:cxnLst/>
            <a:rect l="l" t="t" r="r" b="b"/>
            <a:pathLst>
              <a:path w="14475460" h="10287000">
                <a:moveTo>
                  <a:pt x="0" y="10286999"/>
                </a:moveTo>
                <a:lnTo>
                  <a:pt x="14475037" y="10286999"/>
                </a:lnTo>
                <a:lnTo>
                  <a:pt x="14475037" y="0"/>
                </a:lnTo>
                <a:lnTo>
                  <a:pt x="0" y="0"/>
                </a:lnTo>
                <a:lnTo>
                  <a:pt x="0" y="10286999"/>
                </a:lnTo>
                <a:close/>
              </a:path>
            </a:pathLst>
          </a:custGeom>
          <a:solidFill>
            <a:srgbClr val="F7F5EC"/>
          </a:solidFill>
        </p:spPr>
        <p:txBody>
          <a:bodyPr wrap="square" lIns="0" tIns="0" rIns="0" bIns="0" rtlCol="0"/>
          <a:lstStyle/>
          <a:p>
            <a:endParaRPr/>
          </a:p>
        </p:txBody>
      </p:sp>
      <p:sp>
        <p:nvSpPr>
          <p:cNvPr id="18" name="bg object 18"/>
          <p:cNvSpPr/>
          <p:nvPr/>
        </p:nvSpPr>
        <p:spPr>
          <a:xfrm>
            <a:off x="14475038" y="0"/>
            <a:ext cx="3810000" cy="10287000"/>
          </a:xfrm>
          <a:custGeom>
            <a:avLst/>
            <a:gdLst/>
            <a:ahLst/>
            <a:cxnLst/>
            <a:rect l="l" t="t" r="r" b="b"/>
            <a:pathLst>
              <a:path w="3810000" h="10287000">
                <a:moveTo>
                  <a:pt x="3809404" y="10287000"/>
                </a:moveTo>
                <a:lnTo>
                  <a:pt x="0" y="10287000"/>
                </a:lnTo>
                <a:lnTo>
                  <a:pt x="0" y="0"/>
                </a:lnTo>
                <a:lnTo>
                  <a:pt x="3809404" y="0"/>
                </a:lnTo>
                <a:lnTo>
                  <a:pt x="3809404" y="10287000"/>
                </a:lnTo>
                <a:close/>
              </a:path>
            </a:pathLst>
          </a:custGeom>
          <a:solidFill>
            <a:srgbClr val="6A6F5C"/>
          </a:solidFill>
        </p:spPr>
        <p:txBody>
          <a:bodyPr wrap="square" lIns="0" tIns="0" rIns="0" bIns="0" rtlCol="0"/>
          <a:lstStyle/>
          <a:p>
            <a:endParaRPr/>
          </a:p>
        </p:txBody>
      </p:sp>
      <p:sp>
        <p:nvSpPr>
          <p:cNvPr id="19" name="bg object 19"/>
          <p:cNvSpPr/>
          <p:nvPr/>
        </p:nvSpPr>
        <p:spPr>
          <a:xfrm>
            <a:off x="13695607" y="1028700"/>
            <a:ext cx="1562100" cy="1562100"/>
          </a:xfrm>
          <a:custGeom>
            <a:avLst/>
            <a:gdLst/>
            <a:ahLst/>
            <a:cxnLst/>
            <a:rect l="l" t="t" r="r" b="b"/>
            <a:pathLst>
              <a:path w="1562100" h="1562100">
                <a:moveTo>
                  <a:pt x="780985" y="1562100"/>
                </a:moveTo>
                <a:lnTo>
                  <a:pt x="756602" y="1494782"/>
                </a:lnTo>
                <a:lnTo>
                  <a:pt x="728330" y="1429003"/>
                </a:lnTo>
                <a:lnTo>
                  <a:pt x="696271" y="1364984"/>
                </a:lnTo>
                <a:lnTo>
                  <a:pt x="660529" y="1302946"/>
                </a:lnTo>
                <a:lnTo>
                  <a:pt x="621231" y="1243097"/>
                </a:lnTo>
                <a:lnTo>
                  <a:pt x="578506" y="1185645"/>
                </a:lnTo>
                <a:lnTo>
                  <a:pt x="532504" y="1130782"/>
                </a:lnTo>
                <a:lnTo>
                  <a:pt x="483377" y="1078698"/>
                </a:lnTo>
                <a:lnTo>
                  <a:pt x="431297" y="1029566"/>
                </a:lnTo>
                <a:lnTo>
                  <a:pt x="376437" y="983560"/>
                </a:lnTo>
                <a:lnTo>
                  <a:pt x="318989" y="940830"/>
                </a:lnTo>
                <a:lnTo>
                  <a:pt x="259143" y="901527"/>
                </a:lnTo>
                <a:lnTo>
                  <a:pt x="197108" y="865780"/>
                </a:lnTo>
                <a:lnTo>
                  <a:pt x="133092" y="833716"/>
                </a:lnTo>
                <a:lnTo>
                  <a:pt x="67315" y="805438"/>
                </a:lnTo>
                <a:lnTo>
                  <a:pt x="0" y="781050"/>
                </a:lnTo>
                <a:lnTo>
                  <a:pt x="33850" y="769341"/>
                </a:lnTo>
                <a:lnTo>
                  <a:pt x="100396" y="743008"/>
                </a:lnTo>
                <a:lnTo>
                  <a:pt x="165348" y="712812"/>
                </a:lnTo>
                <a:lnTo>
                  <a:pt x="228373" y="678906"/>
                </a:lnTo>
                <a:lnTo>
                  <a:pt x="289366" y="641349"/>
                </a:lnTo>
                <a:lnTo>
                  <a:pt x="348012" y="600333"/>
                </a:lnTo>
                <a:lnTo>
                  <a:pt x="404214" y="555926"/>
                </a:lnTo>
                <a:lnTo>
                  <a:pt x="457684" y="508358"/>
                </a:lnTo>
                <a:lnTo>
                  <a:pt x="508331" y="457707"/>
                </a:lnTo>
                <a:lnTo>
                  <a:pt x="555895" y="404233"/>
                </a:lnTo>
                <a:lnTo>
                  <a:pt x="600297" y="348027"/>
                </a:lnTo>
                <a:lnTo>
                  <a:pt x="641309" y="289377"/>
                </a:lnTo>
                <a:lnTo>
                  <a:pt x="678861" y="228382"/>
                </a:lnTo>
                <a:lnTo>
                  <a:pt x="712761" y="165353"/>
                </a:lnTo>
                <a:lnTo>
                  <a:pt x="742952" y="100399"/>
                </a:lnTo>
                <a:lnTo>
                  <a:pt x="769280" y="33851"/>
                </a:lnTo>
                <a:lnTo>
                  <a:pt x="780985" y="0"/>
                </a:lnTo>
                <a:lnTo>
                  <a:pt x="792690" y="33850"/>
                </a:lnTo>
                <a:lnTo>
                  <a:pt x="819017" y="100398"/>
                </a:lnTo>
                <a:lnTo>
                  <a:pt x="849207" y="165352"/>
                </a:lnTo>
                <a:lnTo>
                  <a:pt x="883106" y="228380"/>
                </a:lnTo>
                <a:lnTo>
                  <a:pt x="920657" y="289374"/>
                </a:lnTo>
                <a:lnTo>
                  <a:pt x="961668" y="348024"/>
                </a:lnTo>
                <a:lnTo>
                  <a:pt x="1006068" y="404230"/>
                </a:lnTo>
                <a:lnTo>
                  <a:pt x="1053631" y="457703"/>
                </a:lnTo>
                <a:lnTo>
                  <a:pt x="1104276" y="508354"/>
                </a:lnTo>
                <a:lnTo>
                  <a:pt x="1157745" y="555923"/>
                </a:lnTo>
                <a:lnTo>
                  <a:pt x="1213946" y="600329"/>
                </a:lnTo>
                <a:lnTo>
                  <a:pt x="1272591" y="641346"/>
                </a:lnTo>
                <a:lnTo>
                  <a:pt x="1333582" y="678904"/>
                </a:lnTo>
                <a:lnTo>
                  <a:pt x="1396606" y="712810"/>
                </a:lnTo>
                <a:lnTo>
                  <a:pt x="1461557" y="743007"/>
                </a:lnTo>
                <a:lnTo>
                  <a:pt x="1528101" y="769341"/>
                </a:lnTo>
                <a:lnTo>
                  <a:pt x="1561951" y="781050"/>
                </a:lnTo>
                <a:lnTo>
                  <a:pt x="1528101" y="792758"/>
                </a:lnTo>
                <a:lnTo>
                  <a:pt x="1461556" y="819092"/>
                </a:lnTo>
                <a:lnTo>
                  <a:pt x="1396606" y="849289"/>
                </a:lnTo>
                <a:lnTo>
                  <a:pt x="1333582" y="883195"/>
                </a:lnTo>
                <a:lnTo>
                  <a:pt x="1272591" y="920753"/>
                </a:lnTo>
                <a:lnTo>
                  <a:pt x="1213945" y="961770"/>
                </a:lnTo>
                <a:lnTo>
                  <a:pt x="1157745" y="1006176"/>
                </a:lnTo>
                <a:lnTo>
                  <a:pt x="1104276" y="1053745"/>
                </a:lnTo>
                <a:lnTo>
                  <a:pt x="1053631" y="1104396"/>
                </a:lnTo>
                <a:lnTo>
                  <a:pt x="1006068" y="1157870"/>
                </a:lnTo>
                <a:lnTo>
                  <a:pt x="961668" y="1214075"/>
                </a:lnTo>
                <a:lnTo>
                  <a:pt x="920657" y="1272725"/>
                </a:lnTo>
                <a:lnTo>
                  <a:pt x="883106" y="1333720"/>
                </a:lnTo>
                <a:lnTo>
                  <a:pt x="849207" y="1396748"/>
                </a:lnTo>
                <a:lnTo>
                  <a:pt x="819017" y="1461701"/>
                </a:lnTo>
                <a:lnTo>
                  <a:pt x="792690" y="1528249"/>
                </a:lnTo>
                <a:lnTo>
                  <a:pt x="780985" y="1562100"/>
                </a:lnTo>
                <a:close/>
              </a:path>
            </a:pathLst>
          </a:custGeom>
          <a:solidFill>
            <a:srgbClr val="D5D5BF"/>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3500" b="0" i="0">
                <a:solidFill>
                  <a:srgbClr val="6A6F5C"/>
                </a:solidFill>
                <a:latin typeface="Lucida Sans Unicode"/>
                <a:cs typeface="Lucida Sans Unicod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4E3657C9-A276-4E24-849E-CAF54842E459}" type="datetime1">
              <a:rPr lang="en-US" smtClean="0"/>
              <a:t>11/3/25</a:t>
            </a:fld>
            <a:endParaRPr lang="en-US"/>
          </a:p>
        </p:txBody>
      </p:sp>
      <p:sp>
        <p:nvSpPr>
          <p:cNvPr id="5" name="Holder 5"/>
          <p:cNvSpPr>
            <a:spLocks noGrp="1"/>
          </p:cNvSpPr>
          <p:nvPr>
            <p:ph type="sldNum" sz="quarter" idx="7"/>
          </p:nvPr>
        </p:nvSpPr>
        <p:spPr/>
        <p:txBody>
          <a:bodyPr lIns="0" tIns="0" rIns="0" bIns="0"/>
          <a:lstStyle>
            <a:lvl1pPr>
              <a:defRPr sz="2000" b="0" i="0">
                <a:solidFill>
                  <a:schemeClr val="tx1"/>
                </a:solidFill>
                <a:latin typeface="Verdana"/>
                <a:cs typeface="Verdana"/>
              </a:defRPr>
            </a:lvl1pPr>
          </a:lstStyle>
          <a:p>
            <a:pPr marL="12700">
              <a:lnSpc>
                <a:spcPct val="100000"/>
              </a:lnSpc>
              <a:spcBef>
                <a:spcPts val="240"/>
              </a:spcBef>
            </a:pPr>
            <a:r>
              <a:rPr spc="265" dirty="0"/>
              <a:t>P</a:t>
            </a:r>
            <a:r>
              <a:rPr spc="229" dirty="0"/>
              <a:t>a</a:t>
            </a:r>
            <a:r>
              <a:rPr spc="295" dirty="0"/>
              <a:t>g</a:t>
            </a:r>
            <a:r>
              <a:rPr spc="275" dirty="0"/>
              <a:t>e</a:t>
            </a:r>
            <a:r>
              <a:rPr spc="5" dirty="0"/>
              <a:t>-</a:t>
            </a:r>
            <a:r>
              <a:rPr spc="-505" dirty="0"/>
              <a:t> </a:t>
            </a:r>
            <a:fld id="{81D60167-4931-47E6-BA6A-407CBD079E47}" type="slidenum">
              <a:rPr spc="-65" dirty="0"/>
              <a:t>‹#›</a:t>
            </a:fld>
            <a:endParaRPr spc="-6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75" y="0"/>
            <a:ext cx="3327400" cy="10287000"/>
          </a:xfrm>
          <a:custGeom>
            <a:avLst/>
            <a:gdLst/>
            <a:ahLst/>
            <a:cxnLst/>
            <a:rect l="l" t="t" r="r" b="b"/>
            <a:pathLst>
              <a:path w="3327400" h="10287000">
                <a:moveTo>
                  <a:pt x="0" y="10287000"/>
                </a:moveTo>
                <a:lnTo>
                  <a:pt x="0" y="0"/>
                </a:lnTo>
                <a:lnTo>
                  <a:pt x="3327201" y="0"/>
                </a:lnTo>
                <a:lnTo>
                  <a:pt x="3327201" y="10287000"/>
                </a:lnTo>
                <a:lnTo>
                  <a:pt x="0" y="10287000"/>
                </a:lnTo>
                <a:close/>
              </a:path>
            </a:pathLst>
          </a:custGeom>
          <a:solidFill>
            <a:srgbClr val="6A6F5C"/>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222F626D-7B7C-471D-8911-7B53F893D606}" type="datetime1">
              <a:rPr lang="en-US" smtClean="0"/>
              <a:t>11/3/25</a:t>
            </a:fld>
            <a:endParaRPr lang="en-US"/>
          </a:p>
        </p:txBody>
      </p:sp>
      <p:sp>
        <p:nvSpPr>
          <p:cNvPr id="4" name="Holder 4"/>
          <p:cNvSpPr>
            <a:spLocks noGrp="1"/>
          </p:cNvSpPr>
          <p:nvPr>
            <p:ph type="sldNum" sz="quarter" idx="7"/>
          </p:nvPr>
        </p:nvSpPr>
        <p:spPr/>
        <p:txBody>
          <a:bodyPr lIns="0" tIns="0" rIns="0" bIns="0"/>
          <a:lstStyle>
            <a:lvl1pPr>
              <a:defRPr sz="2000" b="0" i="0">
                <a:solidFill>
                  <a:schemeClr val="tx1"/>
                </a:solidFill>
                <a:latin typeface="Verdana"/>
                <a:cs typeface="Verdana"/>
              </a:defRPr>
            </a:lvl1pPr>
          </a:lstStyle>
          <a:p>
            <a:pPr marL="12700">
              <a:lnSpc>
                <a:spcPct val="100000"/>
              </a:lnSpc>
              <a:spcBef>
                <a:spcPts val="240"/>
              </a:spcBef>
            </a:pPr>
            <a:r>
              <a:rPr spc="265" dirty="0"/>
              <a:t>P</a:t>
            </a:r>
            <a:r>
              <a:rPr spc="229" dirty="0"/>
              <a:t>a</a:t>
            </a:r>
            <a:r>
              <a:rPr spc="295" dirty="0"/>
              <a:t>g</a:t>
            </a:r>
            <a:r>
              <a:rPr spc="275" dirty="0"/>
              <a:t>e</a:t>
            </a:r>
            <a:r>
              <a:rPr spc="5" dirty="0"/>
              <a:t>-</a:t>
            </a:r>
            <a:r>
              <a:rPr spc="-505" dirty="0"/>
              <a:t> </a:t>
            </a:r>
            <a:fld id="{81D60167-4931-47E6-BA6A-407CBD079E47}" type="slidenum">
              <a:rPr spc="-65" dirty="0"/>
              <a:t>‹#›</a:t>
            </a:fld>
            <a:endParaRPr spc="-6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038840" y="838605"/>
            <a:ext cx="16210319" cy="4207510"/>
          </a:xfrm>
          <a:prstGeom prst="rect">
            <a:avLst/>
          </a:prstGeom>
        </p:spPr>
        <p:txBody>
          <a:bodyPr wrap="square" lIns="0" tIns="0" rIns="0" bIns="0">
            <a:spAutoFit/>
          </a:bodyPr>
          <a:lstStyle>
            <a:lvl1pPr>
              <a:defRPr sz="3500" b="0" i="0">
                <a:solidFill>
                  <a:srgbClr val="6A6F5C"/>
                </a:solidFill>
                <a:latin typeface="Lucida Sans Unicode"/>
                <a:cs typeface="Lucida Sans Unicode"/>
              </a:defRPr>
            </a:lvl1pPr>
          </a:lstStyle>
          <a:p>
            <a:endParaRPr/>
          </a:p>
        </p:txBody>
      </p:sp>
      <p:sp>
        <p:nvSpPr>
          <p:cNvPr id="3" name="Holder 3"/>
          <p:cNvSpPr>
            <a:spLocks noGrp="1"/>
          </p:cNvSpPr>
          <p:nvPr>
            <p:ph type="body" idx="1"/>
          </p:nvPr>
        </p:nvSpPr>
        <p:spPr>
          <a:xfrm>
            <a:off x="638714" y="2649514"/>
            <a:ext cx="17010571" cy="6883400"/>
          </a:xfrm>
          <a:prstGeom prst="rect">
            <a:avLst/>
          </a:prstGeom>
        </p:spPr>
        <p:txBody>
          <a:bodyPr wrap="square" lIns="0" tIns="0" rIns="0" bIns="0">
            <a:spAutoFit/>
          </a:bodyPr>
          <a:lstStyle>
            <a:lvl1pPr>
              <a:defRPr sz="1950" b="0" i="0">
                <a:solidFill>
                  <a:srgbClr val="2E3125"/>
                </a:solidFill>
                <a:latin typeface="Lucida Sans Unicode"/>
                <a:cs typeface="Lucida Sans Unicode"/>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CD3D3DC9-C9E9-4677-80C8-DAE34C27B004}" type="datetime1">
              <a:rPr lang="en-US" smtClean="0"/>
              <a:t>11/3/25</a:t>
            </a:fld>
            <a:endParaRPr lang="en-US"/>
          </a:p>
        </p:txBody>
      </p:sp>
      <p:sp>
        <p:nvSpPr>
          <p:cNvPr id="6" name="Holder 6"/>
          <p:cNvSpPr>
            <a:spLocks noGrp="1"/>
          </p:cNvSpPr>
          <p:nvPr>
            <p:ph type="sldNum" sz="quarter" idx="7"/>
          </p:nvPr>
        </p:nvSpPr>
        <p:spPr>
          <a:xfrm>
            <a:off x="17042217" y="9685122"/>
            <a:ext cx="1104900" cy="393700"/>
          </a:xfrm>
          <a:prstGeom prst="rect">
            <a:avLst/>
          </a:prstGeom>
        </p:spPr>
        <p:txBody>
          <a:bodyPr wrap="square" lIns="0" tIns="0" rIns="0" bIns="0">
            <a:spAutoFit/>
          </a:bodyPr>
          <a:lstStyle>
            <a:lvl1pPr>
              <a:defRPr sz="2000" b="0" i="0">
                <a:solidFill>
                  <a:schemeClr val="tx1"/>
                </a:solidFill>
                <a:latin typeface="Verdana"/>
                <a:cs typeface="Verdana"/>
              </a:defRPr>
            </a:lvl1pPr>
          </a:lstStyle>
          <a:p>
            <a:pPr marL="12700">
              <a:lnSpc>
                <a:spcPct val="100000"/>
              </a:lnSpc>
              <a:spcBef>
                <a:spcPts val="240"/>
              </a:spcBef>
            </a:pPr>
            <a:r>
              <a:rPr spc="265" dirty="0"/>
              <a:t>P</a:t>
            </a:r>
            <a:r>
              <a:rPr spc="229" dirty="0"/>
              <a:t>a</a:t>
            </a:r>
            <a:r>
              <a:rPr spc="295" dirty="0"/>
              <a:t>g</a:t>
            </a:r>
            <a:r>
              <a:rPr spc="275" dirty="0"/>
              <a:t>e</a:t>
            </a:r>
            <a:r>
              <a:rPr spc="5" dirty="0"/>
              <a:t>-</a:t>
            </a:r>
            <a:r>
              <a:rPr spc="-505" dirty="0"/>
              <a:t> </a:t>
            </a:r>
            <a:fld id="{81D60167-4931-47E6-BA6A-407CBD079E47}" type="slidenum">
              <a:rPr spc="-65" dirty="0"/>
              <a:t>‹#›</a:t>
            </a:fld>
            <a:endParaRPr spc="-6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sldNum="0"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hyperlink" Target="http://ccrma.stanford.edu/~jos" TargetMode="External"/><Relationship Id="rId2" Type="http://schemas.openxmlformats.org/officeDocument/2006/relationships/image" Target="../media/image15.jp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5.xml"/><Relationship Id="rId5" Type="http://schemas.openxmlformats.org/officeDocument/2006/relationships/image" Target="../media/image23.png"/><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24.jp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16000" y="0"/>
            <a:ext cx="10795000" cy="4343497"/>
          </a:xfrm>
          <a:prstGeom prst="rect">
            <a:avLst/>
          </a:prstGeom>
        </p:spPr>
        <p:txBody>
          <a:bodyPr vert="horz" wrap="square" lIns="0" tIns="1073150" rIns="0" bIns="0" rtlCol="0">
            <a:spAutoFit/>
          </a:bodyPr>
          <a:lstStyle/>
          <a:p>
            <a:pPr marL="12700">
              <a:lnSpc>
                <a:spcPct val="100000"/>
              </a:lnSpc>
              <a:spcBef>
                <a:spcPts val="8450"/>
              </a:spcBef>
            </a:pPr>
            <a:r>
              <a:rPr lang="en-US" sz="13600" spc="2165" dirty="0">
                <a:latin typeface="Lucida Handwriting" panose="03010101010101010101" pitchFamily="66" charset="0"/>
                <a:cs typeface="Microsoft Sans Serif"/>
              </a:rPr>
              <a:t>Welcome</a:t>
            </a:r>
            <a:endParaRPr sz="13600" dirty="0">
              <a:latin typeface="Lucida Handwriting" panose="03010101010101010101" pitchFamily="66" charset="0"/>
              <a:cs typeface="Microsoft Sans Serif"/>
            </a:endParaRPr>
          </a:p>
          <a:p>
            <a:pPr marL="433070">
              <a:lnSpc>
                <a:spcPct val="100000"/>
              </a:lnSpc>
              <a:spcBef>
                <a:spcPts val="3070"/>
              </a:spcBef>
            </a:pPr>
            <a:r>
              <a:rPr sz="5000" spc="155" dirty="0">
                <a:latin typeface="Lucida Calligraphy" panose="03010101010101010101" pitchFamily="66" charset="0"/>
              </a:rPr>
              <a:t>let's</a:t>
            </a:r>
            <a:r>
              <a:rPr sz="5000" spc="-370" dirty="0">
                <a:latin typeface="Lucida Calligraphy" panose="03010101010101010101" pitchFamily="66" charset="0"/>
              </a:rPr>
              <a:t> </a:t>
            </a:r>
            <a:r>
              <a:rPr sz="5000" spc="325" dirty="0">
                <a:latin typeface="Lucida Calligraphy" panose="03010101010101010101" pitchFamily="66" charset="0"/>
              </a:rPr>
              <a:t>get</a:t>
            </a:r>
            <a:r>
              <a:rPr sz="5000" spc="-370" dirty="0">
                <a:latin typeface="Lucida Calligraphy" panose="03010101010101010101" pitchFamily="66" charset="0"/>
              </a:rPr>
              <a:t> </a:t>
            </a:r>
            <a:r>
              <a:rPr sz="5000" spc="290" dirty="0">
                <a:latin typeface="Lucida Calligraphy" panose="03010101010101010101" pitchFamily="66" charset="0"/>
              </a:rPr>
              <a:t>started</a:t>
            </a:r>
            <a:endParaRPr sz="5000" dirty="0">
              <a:latin typeface="Lucida Calligraphy" panose="03010101010101010101" pitchFamily="66"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3">
            <a:extLst>
              <a:ext uri="{FF2B5EF4-FFF2-40B4-BE49-F238E27FC236}">
                <a16:creationId xmlns:a16="http://schemas.microsoft.com/office/drawing/2014/main" id="{0A3DC20B-1FBE-2F60-AAC3-72270263754B}"/>
              </a:ext>
            </a:extLst>
          </p:cNvPr>
          <p:cNvGrpSpPr/>
          <p:nvPr/>
        </p:nvGrpSpPr>
        <p:grpSpPr>
          <a:xfrm>
            <a:off x="-375" y="0"/>
            <a:ext cx="4108450" cy="10287000"/>
            <a:chOff x="-375" y="0"/>
            <a:chExt cx="4108450" cy="10287000"/>
          </a:xfrm>
          <a:solidFill>
            <a:schemeClr val="tx1">
              <a:lumMod val="75000"/>
              <a:lumOff val="25000"/>
            </a:schemeClr>
          </a:solidFill>
        </p:grpSpPr>
        <p:sp>
          <p:nvSpPr>
            <p:cNvPr id="3" name="object 4">
              <a:extLst>
                <a:ext uri="{FF2B5EF4-FFF2-40B4-BE49-F238E27FC236}">
                  <a16:creationId xmlns:a16="http://schemas.microsoft.com/office/drawing/2014/main" id="{4A86963F-C2A8-68FC-2991-73ADAFFC0135}"/>
                </a:ext>
              </a:extLst>
            </p:cNvPr>
            <p:cNvSpPr/>
            <p:nvPr/>
          </p:nvSpPr>
          <p:spPr>
            <a:xfrm>
              <a:off x="-375" y="0"/>
              <a:ext cx="3327400" cy="10287000"/>
            </a:xfrm>
            <a:custGeom>
              <a:avLst/>
              <a:gdLst/>
              <a:ahLst/>
              <a:cxnLst/>
              <a:rect l="l" t="t" r="r" b="b"/>
              <a:pathLst>
                <a:path w="3327400" h="10287000">
                  <a:moveTo>
                    <a:pt x="0" y="10287000"/>
                  </a:moveTo>
                  <a:lnTo>
                    <a:pt x="0" y="0"/>
                  </a:lnTo>
                  <a:lnTo>
                    <a:pt x="3327201" y="0"/>
                  </a:lnTo>
                  <a:lnTo>
                    <a:pt x="3327201" y="10287000"/>
                  </a:lnTo>
                  <a:lnTo>
                    <a:pt x="0" y="10287000"/>
                  </a:lnTo>
                  <a:close/>
                </a:path>
              </a:pathLst>
            </a:custGeom>
            <a:solidFill>
              <a:schemeClr val="accent4">
                <a:lumMod val="40000"/>
                <a:lumOff val="60000"/>
              </a:schemeClr>
            </a:solidFill>
          </p:spPr>
          <p:txBody>
            <a:bodyPr wrap="square" lIns="0" tIns="0" rIns="0" bIns="0" rtlCol="0"/>
            <a:lstStyle/>
            <a:p>
              <a:endParaRPr/>
            </a:p>
          </p:txBody>
        </p:sp>
        <p:sp>
          <p:nvSpPr>
            <p:cNvPr id="4" name="object 5">
              <a:extLst>
                <a:ext uri="{FF2B5EF4-FFF2-40B4-BE49-F238E27FC236}">
                  <a16:creationId xmlns:a16="http://schemas.microsoft.com/office/drawing/2014/main" id="{47E4B168-42E9-A25E-AF59-CBD9E888DD7C}"/>
                </a:ext>
              </a:extLst>
            </p:cNvPr>
            <p:cNvSpPr/>
            <p:nvPr/>
          </p:nvSpPr>
          <p:spPr>
            <a:xfrm>
              <a:off x="2545975" y="476250"/>
              <a:ext cx="1562100" cy="1562100"/>
            </a:xfrm>
            <a:custGeom>
              <a:avLst/>
              <a:gdLst/>
              <a:ahLst/>
              <a:cxnLst/>
              <a:rect l="l" t="t" r="r" b="b"/>
              <a:pathLst>
                <a:path w="1562100" h="1562100">
                  <a:moveTo>
                    <a:pt x="780985" y="1562100"/>
                  </a:moveTo>
                  <a:lnTo>
                    <a:pt x="756602" y="1494782"/>
                  </a:lnTo>
                  <a:lnTo>
                    <a:pt x="728330" y="1429003"/>
                  </a:lnTo>
                  <a:lnTo>
                    <a:pt x="696271" y="1364984"/>
                  </a:lnTo>
                  <a:lnTo>
                    <a:pt x="660529" y="1302946"/>
                  </a:lnTo>
                  <a:lnTo>
                    <a:pt x="621231" y="1243097"/>
                  </a:lnTo>
                  <a:lnTo>
                    <a:pt x="578506" y="1185645"/>
                  </a:lnTo>
                  <a:lnTo>
                    <a:pt x="532504" y="1130782"/>
                  </a:lnTo>
                  <a:lnTo>
                    <a:pt x="483377" y="1078698"/>
                  </a:lnTo>
                  <a:lnTo>
                    <a:pt x="431297" y="1029566"/>
                  </a:lnTo>
                  <a:lnTo>
                    <a:pt x="376437" y="983560"/>
                  </a:lnTo>
                  <a:lnTo>
                    <a:pt x="318989" y="940830"/>
                  </a:lnTo>
                  <a:lnTo>
                    <a:pt x="259143" y="901527"/>
                  </a:lnTo>
                  <a:lnTo>
                    <a:pt x="197108" y="865780"/>
                  </a:lnTo>
                  <a:lnTo>
                    <a:pt x="133092" y="833716"/>
                  </a:lnTo>
                  <a:lnTo>
                    <a:pt x="67315" y="805438"/>
                  </a:lnTo>
                  <a:lnTo>
                    <a:pt x="0" y="781050"/>
                  </a:lnTo>
                  <a:lnTo>
                    <a:pt x="33850" y="769341"/>
                  </a:lnTo>
                  <a:lnTo>
                    <a:pt x="100396" y="743008"/>
                  </a:lnTo>
                  <a:lnTo>
                    <a:pt x="165348" y="712812"/>
                  </a:lnTo>
                  <a:lnTo>
                    <a:pt x="228373" y="678906"/>
                  </a:lnTo>
                  <a:lnTo>
                    <a:pt x="289366" y="641349"/>
                  </a:lnTo>
                  <a:lnTo>
                    <a:pt x="348012" y="600333"/>
                  </a:lnTo>
                  <a:lnTo>
                    <a:pt x="404214" y="555926"/>
                  </a:lnTo>
                  <a:lnTo>
                    <a:pt x="457684" y="508358"/>
                  </a:lnTo>
                  <a:lnTo>
                    <a:pt x="508331" y="457707"/>
                  </a:lnTo>
                  <a:lnTo>
                    <a:pt x="555895" y="404233"/>
                  </a:lnTo>
                  <a:lnTo>
                    <a:pt x="600297" y="348027"/>
                  </a:lnTo>
                  <a:lnTo>
                    <a:pt x="641309" y="289377"/>
                  </a:lnTo>
                  <a:lnTo>
                    <a:pt x="678861" y="228382"/>
                  </a:lnTo>
                  <a:lnTo>
                    <a:pt x="712761" y="165353"/>
                  </a:lnTo>
                  <a:lnTo>
                    <a:pt x="742952" y="100399"/>
                  </a:lnTo>
                  <a:lnTo>
                    <a:pt x="769280" y="33851"/>
                  </a:lnTo>
                  <a:lnTo>
                    <a:pt x="780985" y="0"/>
                  </a:lnTo>
                  <a:lnTo>
                    <a:pt x="792690" y="33850"/>
                  </a:lnTo>
                  <a:lnTo>
                    <a:pt x="819017" y="100398"/>
                  </a:lnTo>
                  <a:lnTo>
                    <a:pt x="849207" y="165352"/>
                  </a:lnTo>
                  <a:lnTo>
                    <a:pt x="883106" y="228380"/>
                  </a:lnTo>
                  <a:lnTo>
                    <a:pt x="920657" y="289374"/>
                  </a:lnTo>
                  <a:lnTo>
                    <a:pt x="961668" y="348024"/>
                  </a:lnTo>
                  <a:lnTo>
                    <a:pt x="1006068" y="404230"/>
                  </a:lnTo>
                  <a:lnTo>
                    <a:pt x="1053631" y="457703"/>
                  </a:lnTo>
                  <a:lnTo>
                    <a:pt x="1104276" y="508354"/>
                  </a:lnTo>
                  <a:lnTo>
                    <a:pt x="1157745" y="555923"/>
                  </a:lnTo>
                  <a:lnTo>
                    <a:pt x="1213946" y="600329"/>
                  </a:lnTo>
                  <a:lnTo>
                    <a:pt x="1272591" y="641346"/>
                  </a:lnTo>
                  <a:lnTo>
                    <a:pt x="1333582" y="678904"/>
                  </a:lnTo>
                  <a:lnTo>
                    <a:pt x="1396606" y="712810"/>
                  </a:lnTo>
                  <a:lnTo>
                    <a:pt x="1461557" y="743007"/>
                  </a:lnTo>
                  <a:lnTo>
                    <a:pt x="1528101" y="769341"/>
                  </a:lnTo>
                  <a:lnTo>
                    <a:pt x="1561951" y="781050"/>
                  </a:lnTo>
                  <a:lnTo>
                    <a:pt x="1528101" y="792758"/>
                  </a:lnTo>
                  <a:lnTo>
                    <a:pt x="1461556" y="819092"/>
                  </a:lnTo>
                  <a:lnTo>
                    <a:pt x="1396606" y="849289"/>
                  </a:lnTo>
                  <a:lnTo>
                    <a:pt x="1333582" y="883195"/>
                  </a:lnTo>
                  <a:lnTo>
                    <a:pt x="1272591" y="920753"/>
                  </a:lnTo>
                  <a:lnTo>
                    <a:pt x="1213945" y="961770"/>
                  </a:lnTo>
                  <a:lnTo>
                    <a:pt x="1157745" y="1006176"/>
                  </a:lnTo>
                  <a:lnTo>
                    <a:pt x="1104276" y="1053745"/>
                  </a:lnTo>
                  <a:lnTo>
                    <a:pt x="1053631" y="1104396"/>
                  </a:lnTo>
                  <a:lnTo>
                    <a:pt x="1006068" y="1157870"/>
                  </a:lnTo>
                  <a:lnTo>
                    <a:pt x="961668" y="1214075"/>
                  </a:lnTo>
                  <a:lnTo>
                    <a:pt x="920657" y="1272725"/>
                  </a:lnTo>
                  <a:lnTo>
                    <a:pt x="883106" y="1333720"/>
                  </a:lnTo>
                  <a:lnTo>
                    <a:pt x="849207" y="1396748"/>
                  </a:lnTo>
                  <a:lnTo>
                    <a:pt x="819017" y="1461701"/>
                  </a:lnTo>
                  <a:lnTo>
                    <a:pt x="792690" y="1528249"/>
                  </a:lnTo>
                  <a:lnTo>
                    <a:pt x="780985" y="1562100"/>
                  </a:lnTo>
                  <a:close/>
                </a:path>
              </a:pathLst>
            </a:custGeom>
            <a:solidFill>
              <a:schemeClr val="tx1">
                <a:lumMod val="65000"/>
                <a:lumOff val="35000"/>
              </a:schemeClr>
            </a:solidFill>
          </p:spPr>
          <p:txBody>
            <a:bodyPr wrap="square" lIns="0" tIns="0" rIns="0" bIns="0" rtlCol="0"/>
            <a:lstStyle/>
            <a:p>
              <a:endParaRPr dirty="0"/>
            </a:p>
          </p:txBody>
        </p:sp>
      </p:grpSp>
      <p:sp>
        <p:nvSpPr>
          <p:cNvPr id="5" name="Rectangle 4">
            <a:extLst>
              <a:ext uri="{FF2B5EF4-FFF2-40B4-BE49-F238E27FC236}">
                <a16:creationId xmlns:a16="http://schemas.microsoft.com/office/drawing/2014/main" id="{E67357C2-A8F3-B976-9528-89AAA21E2B42}"/>
              </a:ext>
            </a:extLst>
          </p:cNvPr>
          <p:cNvSpPr/>
          <p:nvPr/>
        </p:nvSpPr>
        <p:spPr>
          <a:xfrm>
            <a:off x="7817550" y="1115020"/>
            <a:ext cx="4603311" cy="923330"/>
          </a:xfrm>
          <a:prstGeom prst="rect">
            <a:avLst/>
          </a:prstGeom>
          <a:noFill/>
        </p:spPr>
        <p:txBody>
          <a:bodyPr wrap="none" lIns="91440" tIns="45720" rIns="91440" bIns="45720">
            <a:spAutoFit/>
          </a:bodyPr>
          <a:lstStyle/>
          <a:p>
            <a:pPr algn="ctr"/>
            <a:r>
              <a:rPr lang="en-US" sz="5400" b="1" u="sng" cap="none" spc="0" dirty="0">
                <a:ln w="12700">
                  <a:solidFill>
                    <a:schemeClr val="accent3">
                      <a:lumMod val="50000"/>
                    </a:schemeClr>
                  </a:solidFill>
                  <a:prstDash val="solid"/>
                </a:ln>
                <a:solidFill>
                  <a:schemeClr val="accent2">
                    <a:lumMod val="40000"/>
                    <a:lumOff val="60000"/>
                  </a:schemeClr>
                </a:solidFill>
                <a:effectLst>
                  <a:innerShdw blurRad="177800">
                    <a:schemeClr val="accent3">
                      <a:lumMod val="50000"/>
                    </a:schemeClr>
                  </a:innerShdw>
                </a:effectLst>
              </a:rPr>
              <a:t>GROUP NO. :12</a:t>
            </a:r>
          </a:p>
        </p:txBody>
      </p:sp>
      <p:sp>
        <p:nvSpPr>
          <p:cNvPr id="6" name="Rectangle 5">
            <a:extLst>
              <a:ext uri="{FF2B5EF4-FFF2-40B4-BE49-F238E27FC236}">
                <a16:creationId xmlns:a16="http://schemas.microsoft.com/office/drawing/2014/main" id="{14660298-6C88-290B-8CF6-6C10F00257C5}"/>
              </a:ext>
            </a:extLst>
          </p:cNvPr>
          <p:cNvSpPr/>
          <p:nvPr/>
        </p:nvSpPr>
        <p:spPr>
          <a:xfrm>
            <a:off x="4108075" y="3579913"/>
            <a:ext cx="12022262" cy="3416320"/>
          </a:xfrm>
          <a:prstGeom prst="rect">
            <a:avLst/>
          </a:prstGeom>
          <a:noFill/>
        </p:spPr>
        <p:txBody>
          <a:bodyPr wrap="square" lIns="91440" tIns="45720" rIns="91440" bIns="45720">
            <a:spAutoFit/>
          </a:bodyPr>
          <a:lstStyle/>
          <a:p>
            <a:pPr algn="ctr"/>
            <a:r>
              <a:rPr lang="en-US" sz="5400" b="1" u="sng" dirty="0">
                <a:ln w="12700">
                  <a:solidFill>
                    <a:schemeClr val="accent3">
                      <a:lumMod val="50000"/>
                    </a:schemeClr>
                  </a:solidFill>
                  <a:prstDash val="solid"/>
                </a:ln>
                <a:solidFill>
                  <a:schemeClr val="accent4">
                    <a:lumMod val="60000"/>
                    <a:lumOff val="40000"/>
                  </a:schemeClr>
                </a:solidFill>
                <a:effectLst>
                  <a:innerShdw blurRad="177800">
                    <a:schemeClr val="accent3">
                      <a:lumMod val="50000"/>
                    </a:schemeClr>
                  </a:innerShdw>
                </a:effectLst>
              </a:rPr>
              <a:t>Group members:</a:t>
            </a:r>
          </a:p>
          <a:p>
            <a:pPr algn="ctr"/>
            <a:endParaRPr lang="en-US" sz="54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endParaRPr>
          </a:p>
          <a:p>
            <a:pPr algn="ctr"/>
            <a:endParaRPr lang="en-US" sz="54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endParaRPr>
          </a:p>
          <a:p>
            <a:pPr algn="ctr"/>
            <a:endParaRPr lang="en-US" sz="54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endParaRPr>
          </a:p>
        </p:txBody>
      </p:sp>
      <p:sp>
        <p:nvSpPr>
          <p:cNvPr id="9" name="Rectangle 8">
            <a:extLst>
              <a:ext uri="{FF2B5EF4-FFF2-40B4-BE49-F238E27FC236}">
                <a16:creationId xmlns:a16="http://schemas.microsoft.com/office/drawing/2014/main" id="{7A229A54-A579-477D-19E9-BD390CDC8C62}"/>
              </a:ext>
            </a:extLst>
          </p:cNvPr>
          <p:cNvSpPr/>
          <p:nvPr/>
        </p:nvSpPr>
        <p:spPr>
          <a:xfrm>
            <a:off x="4108075" y="5143500"/>
            <a:ext cx="4844596" cy="954107"/>
          </a:xfrm>
          <a:prstGeom prst="rect">
            <a:avLst/>
          </a:prstGeom>
          <a:noFill/>
        </p:spPr>
        <p:txBody>
          <a:bodyPr wrap="none" lIns="91440" tIns="45720" rIns="91440" bIns="45720">
            <a:spAutoFit/>
          </a:bodyPr>
          <a:lstStyle/>
          <a:p>
            <a:r>
              <a:rPr lang="en-US" sz="28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Name: Md </a:t>
            </a:r>
            <a:r>
              <a:rPr lang="en-US" sz="2800" b="1" cap="none" spc="0" dirty="0" err="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Sabbir</a:t>
            </a:r>
            <a:r>
              <a:rPr lang="en-US" sz="28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 Hossain Siam</a:t>
            </a:r>
          </a:p>
          <a:p>
            <a:r>
              <a:rPr lang="en-US" sz="28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Reg. No.: 2018338002</a:t>
            </a:r>
            <a:endParaRPr lang="en-US" sz="28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endParaRPr>
          </a:p>
        </p:txBody>
      </p:sp>
      <p:sp>
        <p:nvSpPr>
          <p:cNvPr id="11" name="TextBox 10">
            <a:extLst>
              <a:ext uri="{FF2B5EF4-FFF2-40B4-BE49-F238E27FC236}">
                <a16:creationId xmlns:a16="http://schemas.microsoft.com/office/drawing/2014/main" id="{0C34B57B-9DA3-A1AB-3CE9-2F00AB2D9AFA}"/>
              </a:ext>
            </a:extLst>
          </p:cNvPr>
          <p:cNvSpPr txBox="1"/>
          <p:nvPr/>
        </p:nvSpPr>
        <p:spPr>
          <a:xfrm>
            <a:off x="4108075" y="6513106"/>
            <a:ext cx="5562600" cy="954107"/>
          </a:xfrm>
          <a:prstGeom prst="rect">
            <a:avLst/>
          </a:prstGeom>
          <a:noFill/>
        </p:spPr>
        <p:txBody>
          <a:bodyPr wrap="square">
            <a:spAutoFit/>
          </a:bodyPr>
          <a:lstStyle/>
          <a:p>
            <a:r>
              <a:rPr lang="en-US" sz="28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Name: </a:t>
            </a:r>
            <a:r>
              <a:rPr lang="en-US" sz="2800" b="1" cap="none" spc="0" dirty="0" err="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Shabiha</a:t>
            </a:r>
            <a:r>
              <a:rPr lang="en-US" sz="28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 Mahbub </a:t>
            </a:r>
            <a:r>
              <a:rPr lang="en-US" sz="2800" b="1" cap="none" spc="0" dirty="0" err="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Jarin</a:t>
            </a:r>
            <a:endParaRPr lang="en-US" sz="28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endParaRPr>
          </a:p>
          <a:p>
            <a:r>
              <a:rPr lang="en-US" sz="28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Reg. No.: 2020338028</a:t>
            </a:r>
            <a:endParaRPr lang="en-US" sz="28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endParaRPr>
          </a:p>
        </p:txBody>
      </p:sp>
      <p:sp>
        <p:nvSpPr>
          <p:cNvPr id="13" name="TextBox 12">
            <a:extLst>
              <a:ext uri="{FF2B5EF4-FFF2-40B4-BE49-F238E27FC236}">
                <a16:creationId xmlns:a16="http://schemas.microsoft.com/office/drawing/2014/main" id="{740D0F48-206D-6327-FD4A-B4879940B8A1}"/>
              </a:ext>
            </a:extLst>
          </p:cNvPr>
          <p:cNvSpPr txBox="1"/>
          <p:nvPr/>
        </p:nvSpPr>
        <p:spPr>
          <a:xfrm>
            <a:off x="11729884" y="5143500"/>
            <a:ext cx="5486400" cy="954107"/>
          </a:xfrm>
          <a:prstGeom prst="rect">
            <a:avLst/>
          </a:prstGeom>
          <a:noFill/>
        </p:spPr>
        <p:txBody>
          <a:bodyPr wrap="square">
            <a:spAutoFit/>
          </a:bodyPr>
          <a:lstStyle/>
          <a:p>
            <a:r>
              <a:rPr lang="en-US" sz="28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Name: Fardeen Mosharraf </a:t>
            </a:r>
            <a:r>
              <a:rPr lang="en-US" sz="2800" b="1" cap="none" spc="0" dirty="0" err="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Pranta</a:t>
            </a:r>
            <a:endParaRPr lang="en-US" sz="28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endParaRPr>
          </a:p>
          <a:p>
            <a:r>
              <a:rPr lang="en-US" sz="28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Reg. No.: 2020338022</a:t>
            </a:r>
            <a:endParaRPr lang="en-US" sz="28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endParaRPr>
          </a:p>
        </p:txBody>
      </p:sp>
      <p:sp>
        <p:nvSpPr>
          <p:cNvPr id="15" name="TextBox 14">
            <a:extLst>
              <a:ext uri="{FF2B5EF4-FFF2-40B4-BE49-F238E27FC236}">
                <a16:creationId xmlns:a16="http://schemas.microsoft.com/office/drawing/2014/main" id="{7FE0BF58-9DD4-8D9A-DB22-C17E0A770248}"/>
              </a:ext>
            </a:extLst>
          </p:cNvPr>
          <p:cNvSpPr txBox="1"/>
          <p:nvPr/>
        </p:nvSpPr>
        <p:spPr>
          <a:xfrm>
            <a:off x="11729884" y="6526625"/>
            <a:ext cx="5181600" cy="954107"/>
          </a:xfrm>
          <a:prstGeom prst="rect">
            <a:avLst/>
          </a:prstGeom>
          <a:noFill/>
        </p:spPr>
        <p:txBody>
          <a:bodyPr wrap="square">
            <a:spAutoFit/>
          </a:bodyPr>
          <a:lstStyle/>
          <a:p>
            <a:r>
              <a:rPr lang="en-US" sz="28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Name: Md. </a:t>
            </a:r>
            <a:r>
              <a:rPr lang="en-US" sz="2800" b="1" cap="none" spc="0" dirty="0" err="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Takoat</a:t>
            </a:r>
            <a:r>
              <a:rPr lang="en-US" sz="28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 Hossain</a:t>
            </a:r>
          </a:p>
          <a:p>
            <a:r>
              <a:rPr lang="en-US" sz="28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Reg. No.: 2020338042</a:t>
            </a:r>
            <a:endParaRPr lang="en-US" sz="28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endParaRPr>
          </a:p>
        </p:txBody>
      </p:sp>
    </p:spTree>
    <p:extLst>
      <p:ext uri="{BB962C8B-B14F-4D97-AF65-F5344CB8AC3E}">
        <p14:creationId xmlns:p14="http://schemas.microsoft.com/office/powerpoint/2010/main" val="15983161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2966727" cy="10287000"/>
            <a:chOff x="2678" y="1"/>
            <a:chExt cx="2625725" cy="10287000"/>
          </a:xfrm>
          <a:solidFill>
            <a:schemeClr val="tx2">
              <a:lumMod val="40000"/>
              <a:lumOff val="60000"/>
            </a:schemeClr>
          </a:solidFill>
        </p:grpSpPr>
        <p:sp>
          <p:nvSpPr>
            <p:cNvPr id="3" name="object 3"/>
            <p:cNvSpPr/>
            <p:nvPr/>
          </p:nvSpPr>
          <p:spPr>
            <a:xfrm>
              <a:off x="2678" y="1"/>
              <a:ext cx="2009775" cy="10287000"/>
            </a:xfrm>
            <a:custGeom>
              <a:avLst/>
              <a:gdLst/>
              <a:ahLst/>
              <a:cxnLst/>
              <a:rect l="l" t="t" r="r" b="b"/>
              <a:pathLst>
                <a:path w="2009775" h="10287000">
                  <a:moveTo>
                    <a:pt x="0" y="0"/>
                  </a:moveTo>
                  <a:lnTo>
                    <a:pt x="2009179" y="0"/>
                  </a:lnTo>
                  <a:lnTo>
                    <a:pt x="2009179" y="10287000"/>
                  </a:lnTo>
                  <a:lnTo>
                    <a:pt x="0" y="10287000"/>
                  </a:lnTo>
                  <a:lnTo>
                    <a:pt x="0" y="0"/>
                  </a:lnTo>
                  <a:close/>
                </a:path>
              </a:pathLst>
            </a:custGeom>
            <a:grpFill/>
          </p:spPr>
          <p:txBody>
            <a:bodyPr wrap="square" lIns="0" tIns="0" rIns="0" bIns="0" rtlCol="0"/>
            <a:lstStyle/>
            <a:p>
              <a:endParaRPr/>
            </a:p>
          </p:txBody>
        </p:sp>
        <p:sp>
          <p:nvSpPr>
            <p:cNvPr id="4" name="object 4"/>
            <p:cNvSpPr/>
            <p:nvPr/>
          </p:nvSpPr>
          <p:spPr>
            <a:xfrm>
              <a:off x="1399597" y="1330776"/>
              <a:ext cx="1228725" cy="1228725"/>
            </a:xfrm>
            <a:custGeom>
              <a:avLst/>
              <a:gdLst/>
              <a:ahLst/>
              <a:cxnLst/>
              <a:rect l="l" t="t" r="r" b="b"/>
              <a:pathLst>
                <a:path w="1228725" h="1228725">
                  <a:moveTo>
                    <a:pt x="614311" y="1228725"/>
                  </a:moveTo>
                  <a:lnTo>
                    <a:pt x="595132" y="1175773"/>
                  </a:lnTo>
                  <a:lnTo>
                    <a:pt x="572893" y="1124032"/>
                  </a:lnTo>
                  <a:lnTo>
                    <a:pt x="547677" y="1073676"/>
                  </a:lnTo>
                  <a:lnTo>
                    <a:pt x="519562" y="1024878"/>
                  </a:lnTo>
                  <a:lnTo>
                    <a:pt x="488651" y="977802"/>
                  </a:lnTo>
                  <a:lnTo>
                    <a:pt x="455044" y="932611"/>
                  </a:lnTo>
                  <a:lnTo>
                    <a:pt x="418859" y="889456"/>
                  </a:lnTo>
                  <a:lnTo>
                    <a:pt x="380217" y="848488"/>
                  </a:lnTo>
                  <a:lnTo>
                    <a:pt x="339252" y="809842"/>
                  </a:lnTo>
                  <a:lnTo>
                    <a:pt x="296100" y="773654"/>
                  </a:lnTo>
                  <a:lnTo>
                    <a:pt x="250912" y="740043"/>
                  </a:lnTo>
                  <a:lnTo>
                    <a:pt x="203838" y="709128"/>
                  </a:lnTo>
                  <a:lnTo>
                    <a:pt x="155042" y="681009"/>
                  </a:lnTo>
                  <a:lnTo>
                    <a:pt x="104688" y="655788"/>
                  </a:lnTo>
                  <a:lnTo>
                    <a:pt x="52949" y="633546"/>
                  </a:lnTo>
                  <a:lnTo>
                    <a:pt x="0" y="614362"/>
                  </a:lnTo>
                  <a:lnTo>
                    <a:pt x="26626" y="605153"/>
                  </a:lnTo>
                  <a:lnTo>
                    <a:pt x="78970" y="584439"/>
                  </a:lnTo>
                  <a:lnTo>
                    <a:pt x="130060" y="560687"/>
                  </a:lnTo>
                  <a:lnTo>
                    <a:pt x="179635" y="534018"/>
                  </a:lnTo>
                  <a:lnTo>
                    <a:pt x="227611" y="504476"/>
                  </a:lnTo>
                  <a:lnTo>
                    <a:pt x="273741" y="472213"/>
                  </a:lnTo>
                  <a:lnTo>
                    <a:pt x="317949" y="437284"/>
                  </a:lnTo>
                  <a:lnTo>
                    <a:pt x="360008" y="399866"/>
                  </a:lnTo>
                  <a:lnTo>
                    <a:pt x="399845" y="360025"/>
                  </a:lnTo>
                  <a:lnTo>
                    <a:pt x="437259" y="317964"/>
                  </a:lnTo>
                  <a:lnTo>
                    <a:pt x="472185" y="273753"/>
                  </a:lnTo>
                  <a:lnTo>
                    <a:pt x="504444" y="227620"/>
                  </a:lnTo>
                  <a:lnTo>
                    <a:pt x="533982" y="179642"/>
                  </a:lnTo>
                  <a:lnTo>
                    <a:pt x="560647" y="130064"/>
                  </a:lnTo>
                  <a:lnTo>
                    <a:pt x="584395" y="78972"/>
                  </a:lnTo>
                  <a:lnTo>
                    <a:pt x="605104" y="26626"/>
                  </a:lnTo>
                  <a:lnTo>
                    <a:pt x="614311" y="0"/>
                  </a:lnTo>
                  <a:lnTo>
                    <a:pt x="623518" y="26626"/>
                  </a:lnTo>
                  <a:lnTo>
                    <a:pt x="644226" y="78971"/>
                  </a:lnTo>
                  <a:lnTo>
                    <a:pt x="667973" y="130063"/>
                  </a:lnTo>
                  <a:lnTo>
                    <a:pt x="694638" y="179640"/>
                  </a:lnTo>
                  <a:lnTo>
                    <a:pt x="724175" y="227618"/>
                  </a:lnTo>
                  <a:lnTo>
                    <a:pt x="756433" y="273751"/>
                  </a:lnTo>
                  <a:lnTo>
                    <a:pt x="791358" y="317961"/>
                  </a:lnTo>
                  <a:lnTo>
                    <a:pt x="828771" y="360023"/>
                  </a:lnTo>
                  <a:lnTo>
                    <a:pt x="868608" y="399864"/>
                  </a:lnTo>
                  <a:lnTo>
                    <a:pt x="910665" y="437281"/>
                  </a:lnTo>
                  <a:lnTo>
                    <a:pt x="954872" y="472210"/>
                  </a:lnTo>
                  <a:lnTo>
                    <a:pt x="1001001" y="504473"/>
                  </a:lnTo>
                  <a:lnTo>
                    <a:pt x="1048976" y="534016"/>
                  </a:lnTo>
                  <a:lnTo>
                    <a:pt x="1098550" y="560686"/>
                  </a:lnTo>
                  <a:lnTo>
                    <a:pt x="1149639" y="584438"/>
                  </a:lnTo>
                  <a:lnTo>
                    <a:pt x="1201982" y="605152"/>
                  </a:lnTo>
                  <a:lnTo>
                    <a:pt x="1228608" y="614362"/>
                  </a:lnTo>
                  <a:lnTo>
                    <a:pt x="1201982" y="623572"/>
                  </a:lnTo>
                  <a:lnTo>
                    <a:pt x="1149639" y="644286"/>
                  </a:lnTo>
                  <a:lnTo>
                    <a:pt x="1098550" y="668038"/>
                  </a:lnTo>
                  <a:lnTo>
                    <a:pt x="1048976" y="694708"/>
                  </a:lnTo>
                  <a:lnTo>
                    <a:pt x="1001001" y="724251"/>
                  </a:lnTo>
                  <a:lnTo>
                    <a:pt x="954872" y="756514"/>
                  </a:lnTo>
                  <a:lnTo>
                    <a:pt x="910665" y="791443"/>
                  </a:lnTo>
                  <a:lnTo>
                    <a:pt x="868608" y="828860"/>
                  </a:lnTo>
                  <a:lnTo>
                    <a:pt x="828771" y="868702"/>
                  </a:lnTo>
                  <a:lnTo>
                    <a:pt x="791358" y="910763"/>
                  </a:lnTo>
                  <a:lnTo>
                    <a:pt x="756434" y="954973"/>
                  </a:lnTo>
                  <a:lnTo>
                    <a:pt x="724175" y="1001107"/>
                  </a:lnTo>
                  <a:lnTo>
                    <a:pt x="694638" y="1049084"/>
                  </a:lnTo>
                  <a:lnTo>
                    <a:pt x="667974" y="1098661"/>
                  </a:lnTo>
                  <a:lnTo>
                    <a:pt x="644226" y="1149753"/>
                  </a:lnTo>
                  <a:lnTo>
                    <a:pt x="623518" y="1202098"/>
                  </a:lnTo>
                  <a:lnTo>
                    <a:pt x="614311" y="1228725"/>
                  </a:lnTo>
                  <a:close/>
                </a:path>
              </a:pathLst>
            </a:custGeom>
            <a:solidFill>
              <a:schemeClr val="tx2">
                <a:lumMod val="20000"/>
                <a:lumOff val="80000"/>
              </a:schemeClr>
            </a:solidFill>
          </p:spPr>
          <p:txBody>
            <a:bodyPr wrap="square" lIns="0" tIns="0" rIns="0" bIns="0" rtlCol="0"/>
            <a:lstStyle/>
            <a:p>
              <a:endParaRPr dirty="0"/>
            </a:p>
          </p:txBody>
        </p:sp>
      </p:grpSp>
      <p:sp>
        <p:nvSpPr>
          <p:cNvPr id="5" name="object 5"/>
          <p:cNvSpPr txBox="1">
            <a:spLocks noGrp="1"/>
          </p:cNvSpPr>
          <p:nvPr>
            <p:ph type="title"/>
          </p:nvPr>
        </p:nvSpPr>
        <p:spPr>
          <a:xfrm>
            <a:off x="2966727" y="705301"/>
            <a:ext cx="8916670" cy="1854200"/>
          </a:xfrm>
          <a:prstGeom prst="rect">
            <a:avLst/>
          </a:prstGeom>
        </p:spPr>
        <p:txBody>
          <a:bodyPr vert="horz" wrap="square" lIns="0" tIns="12700" rIns="0" bIns="0" rtlCol="0">
            <a:spAutoFit/>
          </a:bodyPr>
          <a:lstStyle/>
          <a:p>
            <a:pPr marL="12700">
              <a:lnSpc>
                <a:spcPct val="100000"/>
              </a:lnSpc>
              <a:spcBef>
                <a:spcPts val="100"/>
              </a:spcBef>
            </a:pPr>
            <a:r>
              <a:rPr sz="12000" b="1" spc="680" dirty="0">
                <a:solidFill>
                  <a:schemeClr val="tx2">
                    <a:lumMod val="75000"/>
                  </a:schemeClr>
                </a:solidFill>
                <a:latin typeface="Trebuchet MS"/>
                <a:cs typeface="Trebuchet MS"/>
              </a:rPr>
              <a:t>I</a:t>
            </a:r>
            <a:r>
              <a:rPr sz="12000" b="1" spc="40" dirty="0">
                <a:solidFill>
                  <a:schemeClr val="tx2">
                    <a:lumMod val="75000"/>
                  </a:schemeClr>
                </a:solidFill>
                <a:latin typeface="Trebuchet MS"/>
                <a:cs typeface="Trebuchet MS"/>
              </a:rPr>
              <a:t>n</a:t>
            </a:r>
            <a:r>
              <a:rPr sz="12000" b="1" spc="-30" dirty="0">
                <a:solidFill>
                  <a:schemeClr val="tx2">
                    <a:lumMod val="75000"/>
                  </a:schemeClr>
                </a:solidFill>
                <a:latin typeface="Trebuchet MS"/>
                <a:cs typeface="Trebuchet MS"/>
              </a:rPr>
              <a:t>t</a:t>
            </a:r>
            <a:r>
              <a:rPr sz="12000" b="1" spc="-210" dirty="0">
                <a:solidFill>
                  <a:schemeClr val="tx2">
                    <a:lumMod val="75000"/>
                  </a:schemeClr>
                </a:solidFill>
                <a:latin typeface="Trebuchet MS"/>
                <a:cs typeface="Trebuchet MS"/>
              </a:rPr>
              <a:t>r</a:t>
            </a:r>
            <a:r>
              <a:rPr sz="12000" b="1" spc="60" dirty="0">
                <a:solidFill>
                  <a:schemeClr val="tx2">
                    <a:lumMod val="75000"/>
                  </a:schemeClr>
                </a:solidFill>
                <a:latin typeface="Trebuchet MS"/>
                <a:cs typeface="Trebuchet MS"/>
              </a:rPr>
              <a:t>o</a:t>
            </a:r>
            <a:r>
              <a:rPr sz="12000" b="1" spc="520" dirty="0">
                <a:solidFill>
                  <a:schemeClr val="tx2">
                    <a:lumMod val="75000"/>
                  </a:schemeClr>
                </a:solidFill>
                <a:latin typeface="Trebuchet MS"/>
                <a:cs typeface="Trebuchet MS"/>
              </a:rPr>
              <a:t>d</a:t>
            </a:r>
            <a:r>
              <a:rPr sz="12000" b="1" spc="-85" dirty="0">
                <a:solidFill>
                  <a:schemeClr val="tx2">
                    <a:lumMod val="75000"/>
                  </a:schemeClr>
                </a:solidFill>
                <a:latin typeface="Trebuchet MS"/>
                <a:cs typeface="Trebuchet MS"/>
              </a:rPr>
              <a:t>u</a:t>
            </a:r>
            <a:r>
              <a:rPr sz="12000" b="1" spc="-395" dirty="0">
                <a:solidFill>
                  <a:schemeClr val="tx2">
                    <a:lumMod val="75000"/>
                  </a:schemeClr>
                </a:solidFill>
                <a:latin typeface="Trebuchet MS"/>
                <a:cs typeface="Trebuchet MS"/>
              </a:rPr>
              <a:t>c</a:t>
            </a:r>
            <a:r>
              <a:rPr sz="12000" b="1" spc="-30" dirty="0">
                <a:solidFill>
                  <a:schemeClr val="tx2">
                    <a:lumMod val="75000"/>
                  </a:schemeClr>
                </a:solidFill>
                <a:latin typeface="Trebuchet MS"/>
                <a:cs typeface="Trebuchet MS"/>
              </a:rPr>
              <a:t>t</a:t>
            </a:r>
            <a:r>
              <a:rPr sz="12000" b="1" spc="-175" dirty="0">
                <a:solidFill>
                  <a:schemeClr val="tx2">
                    <a:lumMod val="75000"/>
                  </a:schemeClr>
                </a:solidFill>
                <a:latin typeface="Trebuchet MS"/>
                <a:cs typeface="Trebuchet MS"/>
              </a:rPr>
              <a:t>i</a:t>
            </a:r>
            <a:r>
              <a:rPr sz="12000" b="1" spc="60" dirty="0">
                <a:solidFill>
                  <a:schemeClr val="tx2">
                    <a:lumMod val="75000"/>
                  </a:schemeClr>
                </a:solidFill>
                <a:latin typeface="Trebuchet MS"/>
                <a:cs typeface="Trebuchet MS"/>
              </a:rPr>
              <a:t>o</a:t>
            </a:r>
            <a:r>
              <a:rPr sz="12000" b="1" spc="40" dirty="0">
                <a:solidFill>
                  <a:schemeClr val="tx2">
                    <a:lumMod val="75000"/>
                  </a:schemeClr>
                </a:solidFill>
                <a:latin typeface="Trebuchet MS"/>
                <a:cs typeface="Trebuchet MS"/>
              </a:rPr>
              <a:t>n</a:t>
            </a:r>
            <a:endParaRPr sz="12000" dirty="0">
              <a:solidFill>
                <a:schemeClr val="tx2">
                  <a:lumMod val="75000"/>
                </a:schemeClr>
              </a:solidFill>
              <a:latin typeface="Trebuchet MS"/>
              <a:cs typeface="Trebuchet MS"/>
            </a:endParaRPr>
          </a:p>
        </p:txBody>
      </p:sp>
      <p:sp>
        <p:nvSpPr>
          <p:cNvPr id="6" name="object 6"/>
          <p:cNvSpPr txBox="1"/>
          <p:nvPr/>
        </p:nvSpPr>
        <p:spPr>
          <a:xfrm>
            <a:off x="2966727" y="3012469"/>
            <a:ext cx="14268450" cy="6809105"/>
          </a:xfrm>
          <a:prstGeom prst="rect">
            <a:avLst/>
          </a:prstGeom>
        </p:spPr>
        <p:txBody>
          <a:bodyPr vert="horz" wrap="square" lIns="0" tIns="267970" rIns="0" bIns="0" rtlCol="0">
            <a:spAutoFit/>
          </a:bodyPr>
          <a:lstStyle/>
          <a:p>
            <a:pPr marL="12700">
              <a:lnSpc>
                <a:spcPct val="100000"/>
              </a:lnSpc>
              <a:spcBef>
                <a:spcPts val="2110"/>
              </a:spcBef>
            </a:pPr>
            <a:r>
              <a:rPr sz="3500" spc="340" dirty="0">
                <a:solidFill>
                  <a:schemeClr val="tx2">
                    <a:lumMod val="50000"/>
                  </a:schemeClr>
                </a:solidFill>
                <a:latin typeface="Lucida Sans Unicode"/>
                <a:cs typeface="Lucida Sans Unicode"/>
              </a:rPr>
              <a:t>What</a:t>
            </a:r>
            <a:r>
              <a:rPr sz="3500" spc="-260" dirty="0">
                <a:solidFill>
                  <a:schemeClr val="tx2">
                    <a:lumMod val="50000"/>
                  </a:schemeClr>
                </a:solidFill>
                <a:latin typeface="Lucida Sans Unicode"/>
                <a:cs typeface="Lucida Sans Unicode"/>
              </a:rPr>
              <a:t> </a:t>
            </a:r>
            <a:r>
              <a:rPr sz="3500" spc="30" dirty="0">
                <a:solidFill>
                  <a:schemeClr val="tx2">
                    <a:lumMod val="50000"/>
                  </a:schemeClr>
                </a:solidFill>
                <a:latin typeface="Lucida Sans Unicode"/>
                <a:cs typeface="Lucida Sans Unicode"/>
              </a:rPr>
              <a:t>will</a:t>
            </a:r>
            <a:r>
              <a:rPr sz="3500" spc="-254" dirty="0">
                <a:solidFill>
                  <a:schemeClr val="tx2">
                    <a:lumMod val="50000"/>
                  </a:schemeClr>
                </a:solidFill>
                <a:latin typeface="Lucida Sans Unicode"/>
                <a:cs typeface="Lucida Sans Unicode"/>
              </a:rPr>
              <a:t> </a:t>
            </a:r>
            <a:r>
              <a:rPr sz="3500" spc="305" dirty="0">
                <a:solidFill>
                  <a:schemeClr val="tx2">
                    <a:lumMod val="50000"/>
                  </a:schemeClr>
                </a:solidFill>
                <a:latin typeface="Lucida Sans Unicode"/>
                <a:cs typeface="Lucida Sans Unicode"/>
              </a:rPr>
              <a:t>we</a:t>
            </a:r>
            <a:r>
              <a:rPr sz="3500" spc="-254" dirty="0">
                <a:solidFill>
                  <a:schemeClr val="tx2">
                    <a:lumMod val="50000"/>
                  </a:schemeClr>
                </a:solidFill>
                <a:latin typeface="Lucida Sans Unicode"/>
                <a:cs typeface="Lucida Sans Unicode"/>
              </a:rPr>
              <a:t> </a:t>
            </a:r>
            <a:r>
              <a:rPr sz="3500" spc="240" dirty="0">
                <a:solidFill>
                  <a:schemeClr val="tx2">
                    <a:lumMod val="50000"/>
                  </a:schemeClr>
                </a:solidFill>
                <a:latin typeface="Lucida Sans Unicode"/>
                <a:cs typeface="Lucida Sans Unicode"/>
              </a:rPr>
              <a:t>present?</a:t>
            </a:r>
            <a:endParaRPr sz="3500" dirty="0">
              <a:solidFill>
                <a:schemeClr val="tx2">
                  <a:lumMod val="50000"/>
                </a:schemeClr>
              </a:solidFill>
              <a:latin typeface="Lucida Sans Unicode"/>
              <a:cs typeface="Lucida Sans Unicode"/>
            </a:endParaRPr>
          </a:p>
          <a:p>
            <a:pPr marL="12700">
              <a:lnSpc>
                <a:spcPct val="100000"/>
              </a:lnSpc>
              <a:spcBef>
                <a:spcPts val="2530"/>
              </a:spcBef>
            </a:pPr>
            <a:r>
              <a:rPr sz="4400" u="heavy" spc="120" dirty="0">
                <a:solidFill>
                  <a:schemeClr val="tx2">
                    <a:lumMod val="50000"/>
                  </a:schemeClr>
                </a:solidFill>
                <a:uFill>
                  <a:solidFill>
                    <a:srgbClr val="6A6F5C"/>
                  </a:solidFill>
                </a:uFill>
                <a:latin typeface="Trebuchet MS"/>
                <a:cs typeface="Trebuchet MS"/>
              </a:rPr>
              <a:t>L</a:t>
            </a:r>
            <a:r>
              <a:rPr sz="4400" u="heavy" spc="-125" dirty="0">
                <a:solidFill>
                  <a:schemeClr val="tx2">
                    <a:lumMod val="50000"/>
                  </a:schemeClr>
                </a:solidFill>
                <a:uFill>
                  <a:solidFill>
                    <a:srgbClr val="6A6F5C"/>
                  </a:solidFill>
                </a:uFill>
                <a:latin typeface="Trebuchet MS"/>
                <a:cs typeface="Trebuchet MS"/>
              </a:rPr>
              <a:t>i</a:t>
            </a:r>
            <a:r>
              <a:rPr sz="4400" u="heavy" spc="20" dirty="0">
                <a:solidFill>
                  <a:schemeClr val="tx2">
                    <a:lumMod val="50000"/>
                  </a:schemeClr>
                </a:solidFill>
                <a:uFill>
                  <a:solidFill>
                    <a:srgbClr val="6A6F5C"/>
                  </a:solidFill>
                </a:uFill>
                <a:latin typeface="Trebuchet MS"/>
                <a:cs typeface="Trebuchet MS"/>
              </a:rPr>
              <a:t>tt</a:t>
            </a:r>
            <a:r>
              <a:rPr sz="4400" u="heavy" spc="-100" dirty="0">
                <a:solidFill>
                  <a:schemeClr val="tx2">
                    <a:lumMod val="50000"/>
                  </a:schemeClr>
                </a:solidFill>
                <a:uFill>
                  <a:solidFill>
                    <a:srgbClr val="6A6F5C"/>
                  </a:solidFill>
                </a:uFill>
                <a:latin typeface="Trebuchet MS"/>
                <a:cs typeface="Trebuchet MS"/>
              </a:rPr>
              <a:t>l</a:t>
            </a:r>
            <a:r>
              <a:rPr sz="4400" u="heavy" spc="-175" dirty="0">
                <a:solidFill>
                  <a:schemeClr val="tx2">
                    <a:lumMod val="50000"/>
                  </a:schemeClr>
                </a:solidFill>
                <a:uFill>
                  <a:solidFill>
                    <a:srgbClr val="6A6F5C"/>
                  </a:solidFill>
                </a:uFill>
                <a:latin typeface="Trebuchet MS"/>
                <a:cs typeface="Trebuchet MS"/>
              </a:rPr>
              <a:t>e</a:t>
            </a:r>
            <a:r>
              <a:rPr sz="4400" u="heavy" spc="-300" dirty="0">
                <a:solidFill>
                  <a:schemeClr val="tx2">
                    <a:lumMod val="50000"/>
                  </a:schemeClr>
                </a:solidFill>
                <a:uFill>
                  <a:solidFill>
                    <a:srgbClr val="6A6F5C"/>
                  </a:solidFill>
                </a:uFill>
                <a:latin typeface="Trebuchet MS"/>
                <a:cs typeface="Trebuchet MS"/>
              </a:rPr>
              <a:t> </a:t>
            </a:r>
            <a:r>
              <a:rPr lang="en-US" sz="4400" u="heavy" spc="-300" dirty="0">
                <a:solidFill>
                  <a:schemeClr val="tx2">
                    <a:lumMod val="50000"/>
                  </a:schemeClr>
                </a:solidFill>
                <a:uFill>
                  <a:solidFill>
                    <a:srgbClr val="6A6F5C"/>
                  </a:solidFill>
                </a:uFill>
                <a:latin typeface="Trebuchet MS"/>
                <a:cs typeface="Trebuchet MS"/>
              </a:rPr>
              <a:t>bit about the </a:t>
            </a:r>
            <a:r>
              <a:rPr sz="4400" u="heavy" spc="160" dirty="0">
                <a:solidFill>
                  <a:schemeClr val="tx2">
                    <a:lumMod val="50000"/>
                  </a:schemeClr>
                </a:solidFill>
                <a:uFill>
                  <a:solidFill>
                    <a:srgbClr val="6A6F5C"/>
                  </a:solidFill>
                </a:uFill>
                <a:latin typeface="Trebuchet MS"/>
                <a:cs typeface="Trebuchet MS"/>
              </a:rPr>
              <a:t>FF</a:t>
            </a:r>
            <a:r>
              <a:rPr sz="4400" u="heavy" spc="-195" dirty="0">
                <a:solidFill>
                  <a:schemeClr val="tx2">
                    <a:lumMod val="50000"/>
                  </a:schemeClr>
                </a:solidFill>
                <a:uFill>
                  <a:solidFill>
                    <a:srgbClr val="6A6F5C"/>
                  </a:solidFill>
                </a:uFill>
                <a:latin typeface="Trebuchet MS"/>
                <a:cs typeface="Trebuchet MS"/>
              </a:rPr>
              <a:t>T</a:t>
            </a:r>
            <a:endParaRPr sz="4400" dirty="0">
              <a:solidFill>
                <a:schemeClr val="tx2">
                  <a:lumMod val="50000"/>
                </a:schemeClr>
              </a:solidFill>
              <a:latin typeface="Trebuchet MS"/>
              <a:cs typeface="Trebuchet MS"/>
            </a:endParaRPr>
          </a:p>
          <a:p>
            <a:pPr marL="12700" marR="962025">
              <a:lnSpc>
                <a:spcPct val="106900"/>
              </a:lnSpc>
              <a:spcBef>
                <a:spcPts val="4500"/>
              </a:spcBef>
            </a:pPr>
            <a:r>
              <a:rPr sz="3400" spc="500" dirty="0">
                <a:solidFill>
                  <a:schemeClr val="tx2">
                    <a:lumMod val="50000"/>
                  </a:schemeClr>
                </a:solidFill>
                <a:latin typeface="Lucida Sans Unicode"/>
                <a:cs typeface="Lucida Sans Unicode"/>
              </a:rPr>
              <a:t>We</a:t>
            </a:r>
            <a:r>
              <a:rPr sz="3400" spc="-240" dirty="0">
                <a:solidFill>
                  <a:schemeClr val="tx2">
                    <a:lumMod val="50000"/>
                  </a:schemeClr>
                </a:solidFill>
                <a:latin typeface="Lucida Sans Unicode"/>
                <a:cs typeface="Lucida Sans Unicode"/>
              </a:rPr>
              <a:t> </a:t>
            </a:r>
            <a:r>
              <a:rPr sz="3400" spc="25" dirty="0">
                <a:solidFill>
                  <a:schemeClr val="tx2">
                    <a:lumMod val="50000"/>
                  </a:schemeClr>
                </a:solidFill>
                <a:latin typeface="Lucida Sans Unicode"/>
                <a:cs typeface="Lucida Sans Unicode"/>
              </a:rPr>
              <a:t>will</a:t>
            </a:r>
            <a:r>
              <a:rPr lang="en-US" sz="3400" spc="25" dirty="0">
                <a:solidFill>
                  <a:schemeClr val="tx2">
                    <a:lumMod val="50000"/>
                  </a:schemeClr>
                </a:solidFill>
                <a:latin typeface="Lucida Sans Unicode"/>
                <a:cs typeface="Lucida Sans Unicode"/>
              </a:rPr>
              <a:t> try to</a:t>
            </a:r>
            <a:r>
              <a:rPr sz="3400" spc="-235" dirty="0">
                <a:solidFill>
                  <a:schemeClr val="tx2">
                    <a:lumMod val="50000"/>
                  </a:schemeClr>
                </a:solidFill>
                <a:latin typeface="Lucida Sans Unicode"/>
                <a:cs typeface="Lucida Sans Unicode"/>
              </a:rPr>
              <a:t> </a:t>
            </a:r>
            <a:r>
              <a:rPr sz="3400" spc="105" dirty="0">
                <a:solidFill>
                  <a:schemeClr val="tx2">
                    <a:lumMod val="50000"/>
                  </a:schemeClr>
                </a:solidFill>
                <a:latin typeface="Lucida Sans Unicode"/>
                <a:cs typeface="Lucida Sans Unicode"/>
              </a:rPr>
              <a:t>find</a:t>
            </a:r>
            <a:r>
              <a:rPr sz="3400" spc="-235" dirty="0">
                <a:solidFill>
                  <a:schemeClr val="tx2">
                    <a:lumMod val="50000"/>
                  </a:schemeClr>
                </a:solidFill>
                <a:latin typeface="Lucida Sans Unicode"/>
                <a:cs typeface="Lucida Sans Unicode"/>
              </a:rPr>
              <a:t> </a:t>
            </a:r>
            <a:r>
              <a:rPr sz="3400" spc="200" dirty="0">
                <a:solidFill>
                  <a:schemeClr val="tx2">
                    <a:lumMod val="50000"/>
                  </a:schemeClr>
                </a:solidFill>
                <a:latin typeface="Lucida Sans Unicode"/>
                <a:cs typeface="Lucida Sans Unicode"/>
              </a:rPr>
              <a:t>the</a:t>
            </a:r>
            <a:r>
              <a:rPr sz="3400" spc="-235" dirty="0">
                <a:solidFill>
                  <a:schemeClr val="tx2">
                    <a:lumMod val="50000"/>
                  </a:schemeClr>
                </a:solidFill>
                <a:latin typeface="Lucida Sans Unicode"/>
                <a:cs typeface="Lucida Sans Unicode"/>
              </a:rPr>
              <a:t> </a:t>
            </a:r>
            <a:r>
              <a:rPr sz="3400" spc="175" dirty="0">
                <a:solidFill>
                  <a:schemeClr val="tx2">
                    <a:lumMod val="50000"/>
                  </a:schemeClr>
                </a:solidFill>
                <a:latin typeface="Lucida Sans Unicode"/>
                <a:cs typeface="Lucida Sans Unicode"/>
              </a:rPr>
              <a:t>answers</a:t>
            </a:r>
            <a:r>
              <a:rPr sz="3400" spc="-235" dirty="0">
                <a:solidFill>
                  <a:schemeClr val="tx2">
                    <a:lumMod val="50000"/>
                  </a:schemeClr>
                </a:solidFill>
                <a:latin typeface="Lucida Sans Unicode"/>
                <a:cs typeface="Lucida Sans Unicode"/>
              </a:rPr>
              <a:t> </a:t>
            </a:r>
            <a:r>
              <a:rPr sz="3400" spc="150" dirty="0">
                <a:solidFill>
                  <a:schemeClr val="tx2">
                    <a:lumMod val="50000"/>
                  </a:schemeClr>
                </a:solidFill>
                <a:latin typeface="Lucida Sans Unicode"/>
                <a:cs typeface="Lucida Sans Unicode"/>
              </a:rPr>
              <a:t>of</a:t>
            </a:r>
            <a:r>
              <a:rPr sz="3400" spc="-240" dirty="0">
                <a:solidFill>
                  <a:schemeClr val="tx2">
                    <a:lumMod val="50000"/>
                  </a:schemeClr>
                </a:solidFill>
                <a:latin typeface="Lucida Sans Unicode"/>
                <a:cs typeface="Lucida Sans Unicode"/>
              </a:rPr>
              <a:t> </a:t>
            </a:r>
            <a:r>
              <a:rPr sz="3400" spc="130" dirty="0">
                <a:solidFill>
                  <a:schemeClr val="tx2">
                    <a:lumMod val="50000"/>
                  </a:schemeClr>
                </a:solidFill>
                <a:latin typeface="Lucida Sans Unicode"/>
                <a:cs typeface="Lucida Sans Unicode"/>
              </a:rPr>
              <a:t>questions</a:t>
            </a:r>
            <a:r>
              <a:rPr sz="3400" spc="-235" dirty="0">
                <a:solidFill>
                  <a:schemeClr val="tx2">
                    <a:lumMod val="50000"/>
                  </a:schemeClr>
                </a:solidFill>
                <a:latin typeface="Lucida Sans Unicode"/>
                <a:cs typeface="Lucida Sans Unicode"/>
              </a:rPr>
              <a:t> </a:t>
            </a:r>
            <a:r>
              <a:rPr sz="3400" spc="165" dirty="0">
                <a:solidFill>
                  <a:schemeClr val="tx2">
                    <a:lumMod val="50000"/>
                  </a:schemeClr>
                </a:solidFill>
                <a:latin typeface="Lucida Sans Unicode"/>
                <a:cs typeface="Lucida Sans Unicode"/>
              </a:rPr>
              <a:t>below</a:t>
            </a:r>
            <a:r>
              <a:rPr sz="3400" spc="-235" dirty="0">
                <a:solidFill>
                  <a:schemeClr val="tx2">
                    <a:lumMod val="50000"/>
                  </a:schemeClr>
                </a:solidFill>
                <a:latin typeface="Lucida Sans Unicode"/>
                <a:cs typeface="Lucida Sans Unicode"/>
              </a:rPr>
              <a:t> </a:t>
            </a:r>
            <a:r>
              <a:rPr sz="3400" spc="135" dirty="0">
                <a:solidFill>
                  <a:schemeClr val="tx2">
                    <a:lumMod val="50000"/>
                  </a:schemeClr>
                </a:solidFill>
                <a:latin typeface="Lucida Sans Unicode"/>
                <a:cs typeface="Lucida Sans Unicode"/>
              </a:rPr>
              <a:t>throughout</a:t>
            </a:r>
            <a:r>
              <a:rPr sz="3400" spc="-235" dirty="0">
                <a:solidFill>
                  <a:schemeClr val="tx2">
                    <a:lumMod val="50000"/>
                  </a:schemeClr>
                </a:solidFill>
                <a:latin typeface="Lucida Sans Unicode"/>
                <a:cs typeface="Lucida Sans Unicode"/>
              </a:rPr>
              <a:t> </a:t>
            </a:r>
            <a:r>
              <a:rPr sz="3400" spc="95" dirty="0">
                <a:solidFill>
                  <a:schemeClr val="tx2">
                    <a:lumMod val="50000"/>
                  </a:schemeClr>
                </a:solidFill>
                <a:latin typeface="Lucida Sans Unicode"/>
                <a:cs typeface="Lucida Sans Unicode"/>
              </a:rPr>
              <a:t>this </a:t>
            </a:r>
            <a:r>
              <a:rPr sz="3400" spc="-1060" dirty="0">
                <a:solidFill>
                  <a:schemeClr val="tx2">
                    <a:lumMod val="50000"/>
                  </a:schemeClr>
                </a:solidFill>
                <a:latin typeface="Lucida Sans Unicode"/>
                <a:cs typeface="Lucida Sans Unicode"/>
              </a:rPr>
              <a:t> </a:t>
            </a:r>
            <a:r>
              <a:rPr sz="3400" spc="125" dirty="0">
                <a:solidFill>
                  <a:schemeClr val="tx2">
                    <a:lumMod val="50000"/>
                  </a:schemeClr>
                </a:solidFill>
                <a:latin typeface="Lucida Sans Unicode"/>
                <a:cs typeface="Lucida Sans Unicode"/>
              </a:rPr>
              <a:t>presentation.</a:t>
            </a:r>
            <a:endParaRPr sz="3400" dirty="0">
              <a:solidFill>
                <a:schemeClr val="tx2">
                  <a:lumMod val="50000"/>
                </a:schemeClr>
              </a:solidFill>
              <a:latin typeface="Lucida Sans Unicode"/>
              <a:cs typeface="Lucida Sans Unicode"/>
            </a:endParaRPr>
          </a:p>
          <a:p>
            <a:pPr>
              <a:lnSpc>
                <a:spcPct val="100000"/>
              </a:lnSpc>
              <a:spcBef>
                <a:spcPts val="30"/>
              </a:spcBef>
            </a:pPr>
            <a:endParaRPr sz="3000" dirty="0">
              <a:solidFill>
                <a:schemeClr val="tx2">
                  <a:lumMod val="50000"/>
                </a:schemeClr>
              </a:solidFill>
              <a:latin typeface="Lucida Sans Unicode"/>
              <a:cs typeface="Lucida Sans Unicode"/>
            </a:endParaRPr>
          </a:p>
          <a:p>
            <a:pPr marL="744855" indent="-321310">
              <a:lnSpc>
                <a:spcPct val="100000"/>
              </a:lnSpc>
              <a:spcBef>
                <a:spcPts val="5"/>
              </a:spcBef>
              <a:buAutoNum type="arabicPeriod"/>
              <a:tabLst>
                <a:tab pos="745490" algn="l"/>
              </a:tabLst>
            </a:pPr>
            <a:r>
              <a:rPr lang="en-US" sz="3400" spc="220" dirty="0">
                <a:solidFill>
                  <a:schemeClr val="tx2">
                    <a:lumMod val="50000"/>
                  </a:schemeClr>
                </a:solidFill>
                <a:latin typeface="Lucida Sans Unicode"/>
                <a:cs typeface="Lucida Sans Unicode"/>
              </a:rPr>
              <a:t>W</a:t>
            </a:r>
            <a:r>
              <a:rPr sz="3400" spc="220" dirty="0">
                <a:solidFill>
                  <a:schemeClr val="tx2">
                    <a:lumMod val="50000"/>
                  </a:schemeClr>
                </a:solidFill>
                <a:latin typeface="Lucida Sans Unicode"/>
                <a:cs typeface="Lucida Sans Unicode"/>
              </a:rPr>
              <a:t>hat</a:t>
            </a:r>
            <a:r>
              <a:rPr sz="3400" spc="-245" dirty="0">
                <a:solidFill>
                  <a:schemeClr val="tx2">
                    <a:lumMod val="50000"/>
                  </a:schemeClr>
                </a:solidFill>
                <a:latin typeface="Lucida Sans Unicode"/>
                <a:cs typeface="Lucida Sans Unicode"/>
              </a:rPr>
              <a:t> </a:t>
            </a:r>
            <a:r>
              <a:rPr sz="3400" spc="20" dirty="0">
                <a:solidFill>
                  <a:schemeClr val="tx2">
                    <a:lumMod val="50000"/>
                  </a:schemeClr>
                </a:solidFill>
                <a:latin typeface="Lucida Sans Unicode"/>
                <a:cs typeface="Lucida Sans Unicode"/>
              </a:rPr>
              <a:t>is</a:t>
            </a:r>
            <a:r>
              <a:rPr sz="3400" spc="-240" dirty="0">
                <a:solidFill>
                  <a:schemeClr val="tx2">
                    <a:lumMod val="50000"/>
                  </a:schemeClr>
                </a:solidFill>
                <a:latin typeface="Lucida Sans Unicode"/>
                <a:cs typeface="Lucida Sans Unicode"/>
              </a:rPr>
              <a:t> </a:t>
            </a:r>
            <a:r>
              <a:rPr sz="3400" spc="170" dirty="0">
                <a:solidFill>
                  <a:schemeClr val="tx2">
                    <a:lumMod val="50000"/>
                  </a:schemeClr>
                </a:solidFill>
                <a:latin typeface="Lucida Sans Unicode"/>
                <a:cs typeface="Lucida Sans Unicode"/>
              </a:rPr>
              <a:t>FFT?</a:t>
            </a:r>
            <a:endParaRPr sz="3400" dirty="0">
              <a:solidFill>
                <a:schemeClr val="tx2">
                  <a:lumMod val="50000"/>
                </a:schemeClr>
              </a:solidFill>
              <a:latin typeface="Lucida Sans Unicode"/>
              <a:cs typeface="Lucida Sans Unicode"/>
            </a:endParaRPr>
          </a:p>
          <a:p>
            <a:pPr marL="744855" indent="-430530">
              <a:lnSpc>
                <a:spcPct val="100000"/>
              </a:lnSpc>
              <a:spcBef>
                <a:spcPts val="280"/>
              </a:spcBef>
              <a:buAutoNum type="arabicPeriod"/>
              <a:tabLst>
                <a:tab pos="745490" algn="l"/>
              </a:tabLst>
            </a:pPr>
            <a:r>
              <a:rPr sz="3400" spc="140" dirty="0">
                <a:solidFill>
                  <a:schemeClr val="tx2">
                    <a:lumMod val="50000"/>
                  </a:schemeClr>
                </a:solidFill>
                <a:latin typeface="Lucida Sans Unicode"/>
                <a:cs typeface="Lucida Sans Unicode"/>
              </a:rPr>
              <a:t>Types</a:t>
            </a:r>
            <a:r>
              <a:rPr sz="3400" spc="-260" dirty="0">
                <a:solidFill>
                  <a:schemeClr val="tx2">
                    <a:lumMod val="50000"/>
                  </a:schemeClr>
                </a:solidFill>
                <a:latin typeface="Lucida Sans Unicode"/>
                <a:cs typeface="Lucida Sans Unicode"/>
              </a:rPr>
              <a:t> </a:t>
            </a:r>
            <a:r>
              <a:rPr sz="3400" spc="150" dirty="0">
                <a:solidFill>
                  <a:schemeClr val="tx2">
                    <a:lumMod val="50000"/>
                  </a:schemeClr>
                </a:solidFill>
                <a:latin typeface="Lucida Sans Unicode"/>
                <a:cs typeface="Lucida Sans Unicode"/>
              </a:rPr>
              <a:t>of</a:t>
            </a:r>
            <a:r>
              <a:rPr sz="3400" spc="-254" dirty="0">
                <a:solidFill>
                  <a:schemeClr val="tx2">
                    <a:lumMod val="50000"/>
                  </a:schemeClr>
                </a:solidFill>
                <a:latin typeface="Lucida Sans Unicode"/>
                <a:cs typeface="Lucida Sans Unicode"/>
              </a:rPr>
              <a:t> </a:t>
            </a:r>
            <a:r>
              <a:rPr sz="3400" spc="35" dirty="0">
                <a:solidFill>
                  <a:schemeClr val="tx2">
                    <a:lumMod val="50000"/>
                  </a:schemeClr>
                </a:solidFill>
                <a:latin typeface="Lucida Sans Unicode"/>
                <a:cs typeface="Lucida Sans Unicode"/>
              </a:rPr>
              <a:t>FFT</a:t>
            </a:r>
            <a:endParaRPr sz="3400" dirty="0">
              <a:solidFill>
                <a:schemeClr val="tx2">
                  <a:lumMod val="50000"/>
                </a:schemeClr>
              </a:solidFill>
              <a:latin typeface="Lucida Sans Unicode"/>
              <a:cs typeface="Lucida Sans Unicode"/>
            </a:endParaRPr>
          </a:p>
          <a:p>
            <a:pPr marL="744855" indent="-414655">
              <a:lnSpc>
                <a:spcPct val="100000"/>
              </a:lnSpc>
              <a:spcBef>
                <a:spcPts val="280"/>
              </a:spcBef>
              <a:buAutoNum type="arabicPeriod"/>
              <a:tabLst>
                <a:tab pos="745490" algn="l"/>
              </a:tabLst>
            </a:pPr>
            <a:r>
              <a:rPr sz="3400" spc="740" dirty="0">
                <a:solidFill>
                  <a:schemeClr val="tx2">
                    <a:lumMod val="50000"/>
                  </a:schemeClr>
                </a:solidFill>
                <a:latin typeface="Lucida Sans Unicode"/>
                <a:cs typeface="Lucida Sans Unicode"/>
              </a:rPr>
              <a:t>W</a:t>
            </a:r>
            <a:r>
              <a:rPr sz="3400" spc="110" dirty="0">
                <a:solidFill>
                  <a:schemeClr val="tx2">
                    <a:lumMod val="50000"/>
                  </a:schemeClr>
                </a:solidFill>
                <a:latin typeface="Lucida Sans Unicode"/>
                <a:cs typeface="Lucida Sans Unicode"/>
              </a:rPr>
              <a:t>h</a:t>
            </a:r>
            <a:r>
              <a:rPr sz="3400" spc="150" dirty="0">
                <a:solidFill>
                  <a:schemeClr val="tx2">
                    <a:lumMod val="50000"/>
                  </a:schemeClr>
                </a:solidFill>
                <a:latin typeface="Lucida Sans Unicode"/>
                <a:cs typeface="Lucida Sans Unicode"/>
              </a:rPr>
              <a:t>y</a:t>
            </a:r>
            <a:r>
              <a:rPr sz="3400" spc="-235" dirty="0">
                <a:solidFill>
                  <a:schemeClr val="tx2">
                    <a:lumMod val="50000"/>
                  </a:schemeClr>
                </a:solidFill>
                <a:latin typeface="Lucida Sans Unicode"/>
                <a:cs typeface="Lucida Sans Unicode"/>
              </a:rPr>
              <a:t> </a:t>
            </a:r>
            <a:r>
              <a:rPr sz="3400" spc="60" dirty="0">
                <a:solidFill>
                  <a:schemeClr val="tx2">
                    <a:lumMod val="50000"/>
                  </a:schemeClr>
                </a:solidFill>
                <a:latin typeface="Lucida Sans Unicode"/>
                <a:cs typeface="Lucida Sans Unicode"/>
              </a:rPr>
              <a:t>FF</a:t>
            </a:r>
            <a:r>
              <a:rPr sz="3400" spc="-20" dirty="0">
                <a:solidFill>
                  <a:schemeClr val="tx2">
                    <a:lumMod val="50000"/>
                  </a:schemeClr>
                </a:solidFill>
                <a:latin typeface="Lucida Sans Unicode"/>
                <a:cs typeface="Lucida Sans Unicode"/>
              </a:rPr>
              <a:t>T</a:t>
            </a:r>
            <a:r>
              <a:rPr sz="3400" spc="575" dirty="0">
                <a:solidFill>
                  <a:schemeClr val="tx2">
                    <a:lumMod val="50000"/>
                  </a:schemeClr>
                </a:solidFill>
                <a:latin typeface="Lucida Sans Unicode"/>
                <a:cs typeface="Lucida Sans Unicode"/>
              </a:rPr>
              <a:t>?</a:t>
            </a:r>
            <a:endParaRPr sz="3400" dirty="0">
              <a:solidFill>
                <a:schemeClr val="tx2">
                  <a:lumMod val="50000"/>
                </a:schemeClr>
              </a:solidFill>
              <a:latin typeface="Lucida Sans Unicode"/>
              <a:cs typeface="Lucida Sans Unicode"/>
            </a:endParaRPr>
          </a:p>
          <a:p>
            <a:pPr marL="744855" marR="5080" indent="-416559">
              <a:lnSpc>
                <a:spcPct val="106900"/>
              </a:lnSpc>
              <a:buAutoNum type="arabicPeriod"/>
              <a:tabLst>
                <a:tab pos="745490" algn="l"/>
              </a:tabLst>
            </a:pPr>
            <a:r>
              <a:rPr sz="3400" spc="140" dirty="0">
                <a:solidFill>
                  <a:schemeClr val="tx2">
                    <a:lumMod val="50000"/>
                  </a:schemeClr>
                </a:solidFill>
                <a:latin typeface="Lucida Sans Unicode"/>
                <a:cs typeface="Lucida Sans Unicode"/>
              </a:rPr>
              <a:t>Methodology</a:t>
            </a:r>
            <a:r>
              <a:rPr sz="3400" spc="-235" dirty="0">
                <a:solidFill>
                  <a:schemeClr val="tx2">
                    <a:lumMod val="50000"/>
                  </a:schemeClr>
                </a:solidFill>
                <a:latin typeface="Lucida Sans Unicode"/>
                <a:cs typeface="Lucida Sans Unicode"/>
              </a:rPr>
              <a:t> </a:t>
            </a:r>
            <a:r>
              <a:rPr sz="3400" spc="150" dirty="0">
                <a:solidFill>
                  <a:schemeClr val="tx2">
                    <a:lumMod val="50000"/>
                  </a:schemeClr>
                </a:solidFill>
                <a:latin typeface="Lucida Sans Unicode"/>
                <a:cs typeface="Lucida Sans Unicode"/>
              </a:rPr>
              <a:t>of</a:t>
            </a:r>
            <a:r>
              <a:rPr sz="3400" spc="-229" dirty="0">
                <a:solidFill>
                  <a:schemeClr val="tx2">
                    <a:lumMod val="50000"/>
                  </a:schemeClr>
                </a:solidFill>
                <a:latin typeface="Lucida Sans Unicode"/>
                <a:cs typeface="Lucida Sans Unicode"/>
              </a:rPr>
              <a:t> </a:t>
            </a:r>
            <a:r>
              <a:rPr sz="3400" spc="-30" dirty="0">
                <a:solidFill>
                  <a:schemeClr val="tx2">
                    <a:lumMod val="50000"/>
                  </a:schemeClr>
                </a:solidFill>
                <a:latin typeface="Lucida Sans Unicode"/>
                <a:cs typeface="Lucida Sans Unicode"/>
              </a:rPr>
              <a:t>radix-2,</a:t>
            </a:r>
            <a:r>
              <a:rPr sz="3400" spc="-229" dirty="0">
                <a:solidFill>
                  <a:schemeClr val="tx2">
                    <a:lumMod val="50000"/>
                  </a:schemeClr>
                </a:solidFill>
                <a:latin typeface="Lucida Sans Unicode"/>
                <a:cs typeface="Lucida Sans Unicode"/>
              </a:rPr>
              <a:t> </a:t>
            </a:r>
            <a:r>
              <a:rPr sz="3400" spc="-45" dirty="0">
                <a:solidFill>
                  <a:schemeClr val="tx2">
                    <a:lumMod val="50000"/>
                  </a:schemeClr>
                </a:solidFill>
                <a:latin typeface="Lucida Sans Unicode"/>
                <a:cs typeface="Lucida Sans Unicode"/>
              </a:rPr>
              <a:t>radix-4,</a:t>
            </a:r>
            <a:r>
              <a:rPr sz="3400" spc="-235" dirty="0">
                <a:solidFill>
                  <a:schemeClr val="tx2">
                    <a:lumMod val="50000"/>
                  </a:schemeClr>
                </a:solidFill>
                <a:latin typeface="Lucida Sans Unicode"/>
                <a:cs typeface="Lucida Sans Unicode"/>
              </a:rPr>
              <a:t> </a:t>
            </a:r>
            <a:r>
              <a:rPr sz="3400" spc="80" dirty="0">
                <a:solidFill>
                  <a:schemeClr val="tx2">
                    <a:lumMod val="50000"/>
                  </a:schemeClr>
                </a:solidFill>
                <a:latin typeface="Lucida Sans Unicode"/>
                <a:cs typeface="Lucida Sans Unicode"/>
              </a:rPr>
              <a:t>split</a:t>
            </a:r>
            <a:r>
              <a:rPr sz="3400" spc="-229" dirty="0">
                <a:solidFill>
                  <a:schemeClr val="tx2">
                    <a:lumMod val="50000"/>
                  </a:schemeClr>
                </a:solidFill>
                <a:latin typeface="Lucida Sans Unicode"/>
                <a:cs typeface="Lucida Sans Unicode"/>
              </a:rPr>
              <a:t> </a:t>
            </a:r>
            <a:r>
              <a:rPr sz="3400" spc="60" dirty="0">
                <a:solidFill>
                  <a:schemeClr val="tx2">
                    <a:lumMod val="50000"/>
                  </a:schemeClr>
                </a:solidFill>
                <a:latin typeface="Lucida Sans Unicode"/>
                <a:cs typeface="Lucida Sans Unicode"/>
              </a:rPr>
              <a:t>radix</a:t>
            </a:r>
            <a:r>
              <a:rPr sz="3400" spc="-229" dirty="0">
                <a:solidFill>
                  <a:schemeClr val="tx2">
                    <a:lumMod val="50000"/>
                  </a:schemeClr>
                </a:solidFill>
                <a:latin typeface="Lucida Sans Unicode"/>
                <a:cs typeface="Lucida Sans Unicode"/>
              </a:rPr>
              <a:t> </a:t>
            </a:r>
            <a:r>
              <a:rPr sz="3400" spc="35" dirty="0">
                <a:solidFill>
                  <a:schemeClr val="tx2">
                    <a:lumMod val="50000"/>
                  </a:schemeClr>
                </a:solidFill>
                <a:latin typeface="Lucida Sans Unicode"/>
                <a:cs typeface="Lucida Sans Unicode"/>
              </a:rPr>
              <a:t>FFT</a:t>
            </a:r>
            <a:r>
              <a:rPr sz="3400" spc="-235" dirty="0">
                <a:solidFill>
                  <a:schemeClr val="tx2">
                    <a:lumMod val="50000"/>
                  </a:schemeClr>
                </a:solidFill>
                <a:latin typeface="Lucida Sans Unicode"/>
                <a:cs typeface="Lucida Sans Unicode"/>
              </a:rPr>
              <a:t> </a:t>
            </a:r>
            <a:r>
              <a:rPr sz="3400" spc="155" dirty="0">
                <a:solidFill>
                  <a:schemeClr val="tx2">
                    <a:lumMod val="50000"/>
                  </a:schemeClr>
                </a:solidFill>
                <a:latin typeface="Lucida Sans Unicode"/>
                <a:cs typeface="Lucida Sans Unicode"/>
              </a:rPr>
              <a:t>combinedly</a:t>
            </a:r>
            <a:r>
              <a:rPr sz="3400" spc="-229" dirty="0">
                <a:solidFill>
                  <a:schemeClr val="tx2">
                    <a:lumMod val="50000"/>
                  </a:schemeClr>
                </a:solidFill>
                <a:latin typeface="Lucida Sans Unicode"/>
                <a:cs typeface="Lucida Sans Unicode"/>
              </a:rPr>
              <a:t> </a:t>
            </a:r>
            <a:r>
              <a:rPr sz="3400" spc="20" dirty="0">
                <a:solidFill>
                  <a:schemeClr val="tx2">
                    <a:lumMod val="50000"/>
                  </a:schemeClr>
                </a:solidFill>
                <a:latin typeface="Lucida Sans Unicode"/>
                <a:cs typeface="Lucida Sans Unicode"/>
              </a:rPr>
              <a:t>in </a:t>
            </a:r>
            <a:r>
              <a:rPr sz="3400" spc="-1060" dirty="0">
                <a:solidFill>
                  <a:schemeClr val="tx2">
                    <a:lumMod val="50000"/>
                  </a:schemeClr>
                </a:solidFill>
                <a:latin typeface="Lucida Sans Unicode"/>
                <a:cs typeface="Lucida Sans Unicode"/>
              </a:rPr>
              <a:t> </a:t>
            </a:r>
            <a:r>
              <a:rPr sz="3400" spc="5" dirty="0">
                <a:solidFill>
                  <a:schemeClr val="tx2">
                    <a:lumMod val="50000"/>
                  </a:schemeClr>
                </a:solidFill>
                <a:latin typeface="Lucida Sans Unicode"/>
                <a:cs typeface="Lucida Sans Unicode"/>
              </a:rPr>
              <a:t>DIT</a:t>
            </a:r>
            <a:r>
              <a:rPr sz="3400" spc="-240" dirty="0">
                <a:solidFill>
                  <a:schemeClr val="tx2">
                    <a:lumMod val="50000"/>
                  </a:schemeClr>
                </a:solidFill>
                <a:latin typeface="Lucida Sans Unicode"/>
                <a:cs typeface="Lucida Sans Unicode"/>
              </a:rPr>
              <a:t> </a:t>
            </a:r>
            <a:r>
              <a:rPr sz="3400" spc="90" dirty="0">
                <a:solidFill>
                  <a:schemeClr val="tx2">
                    <a:lumMod val="50000"/>
                  </a:schemeClr>
                </a:solidFill>
                <a:latin typeface="Lucida Sans Unicode"/>
                <a:cs typeface="Lucida Sans Unicode"/>
              </a:rPr>
              <a:t>domain.</a:t>
            </a:r>
            <a:endParaRPr sz="3400" dirty="0">
              <a:solidFill>
                <a:schemeClr val="tx2">
                  <a:lumMod val="50000"/>
                </a:schemeClr>
              </a:solidFill>
              <a:latin typeface="Lucida Sans Unicode"/>
              <a:cs typeface="Lucida Sans Unicode"/>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F133195-2FEC-7D4C-A29E-1135D977735A}"/>
              </a:ext>
            </a:extLst>
          </p:cNvPr>
          <p:cNvSpPr txBox="1"/>
          <p:nvPr/>
        </p:nvSpPr>
        <p:spPr>
          <a:xfrm>
            <a:off x="4191000" y="2489106"/>
            <a:ext cx="13792200" cy="1815882"/>
          </a:xfrm>
          <a:prstGeom prst="rect">
            <a:avLst/>
          </a:prstGeom>
          <a:noFill/>
        </p:spPr>
        <p:txBody>
          <a:bodyPr wrap="square">
            <a:spAutoFit/>
          </a:bodyPr>
          <a:lstStyle/>
          <a:p>
            <a:r>
              <a:rPr lang="en-US" sz="2800" b="0" i="0" dirty="0">
                <a:solidFill>
                  <a:schemeClr val="bg2">
                    <a:lumMod val="25000"/>
                  </a:schemeClr>
                </a:solidFill>
                <a:effectLst/>
                <a:highlight>
                  <a:srgbClr val="FFFFFF"/>
                </a:highlight>
                <a:latin typeface="Calibri" panose="020F0502020204030204" pitchFamily="34" charset="0"/>
                <a:cs typeface="Calibri" panose="020F0502020204030204" pitchFamily="34" charset="0"/>
              </a:rPr>
              <a:t>Well, The Fourier Transform is a mathematical technique that transforms a function of tim</a:t>
            </a:r>
            <a:r>
              <a:rPr lang="en-US" sz="2800" b="0" i="1" dirty="0">
                <a:solidFill>
                  <a:schemeClr val="bg2">
                    <a:lumMod val="25000"/>
                  </a:schemeClr>
                </a:solidFill>
                <a:effectLst/>
                <a:highlight>
                  <a:srgbClr val="FFFFFF"/>
                </a:highlight>
                <a:latin typeface="Calibri" panose="020F0502020204030204" pitchFamily="34" charset="0"/>
                <a:cs typeface="Calibri" panose="020F0502020204030204" pitchFamily="34" charset="0"/>
              </a:rPr>
              <a:t>e, x(t)</a:t>
            </a:r>
            <a:r>
              <a:rPr lang="en-US" sz="2800" b="0" i="0" dirty="0">
                <a:solidFill>
                  <a:schemeClr val="bg2">
                    <a:lumMod val="25000"/>
                  </a:schemeClr>
                </a:solidFill>
                <a:effectLst/>
                <a:highlight>
                  <a:srgbClr val="FFFFFF"/>
                </a:highlight>
                <a:latin typeface="Calibri" panose="020F0502020204030204" pitchFamily="34" charset="0"/>
                <a:cs typeface="Calibri" panose="020F0502020204030204" pitchFamily="34" charset="0"/>
              </a:rPr>
              <a:t>, to a function of frequency, </a:t>
            </a:r>
            <a:r>
              <a:rPr lang="en-US" sz="2800" b="0" i="1" dirty="0">
                <a:solidFill>
                  <a:schemeClr val="bg2">
                    <a:lumMod val="25000"/>
                  </a:schemeClr>
                </a:solidFill>
                <a:effectLst/>
                <a:highlight>
                  <a:srgbClr val="FFFFFF"/>
                </a:highlight>
                <a:latin typeface="Calibri" panose="020F0502020204030204" pitchFamily="34" charset="0"/>
                <a:cs typeface="Calibri" panose="020F0502020204030204" pitchFamily="34" charset="0"/>
              </a:rPr>
              <a:t>X(ω)</a:t>
            </a:r>
            <a:r>
              <a:rPr lang="en-US" sz="2800" b="0" i="0" dirty="0">
                <a:solidFill>
                  <a:schemeClr val="bg2">
                    <a:lumMod val="25000"/>
                  </a:schemeClr>
                </a:solidFill>
                <a:effectLst/>
                <a:highlight>
                  <a:srgbClr val="FFFFFF"/>
                </a:highlight>
                <a:latin typeface="Calibri" panose="020F0502020204030204" pitchFamily="34" charset="0"/>
                <a:cs typeface="Calibri" panose="020F0502020204030204" pitchFamily="34" charset="0"/>
              </a:rPr>
              <a:t>. It is closely related to the </a:t>
            </a:r>
            <a:r>
              <a:rPr lang="en-US" sz="2800" dirty="0">
                <a:solidFill>
                  <a:schemeClr val="bg2">
                    <a:lumMod val="25000"/>
                  </a:schemeClr>
                </a:solidFill>
                <a:highlight>
                  <a:srgbClr val="FFFFFF"/>
                </a:highlight>
                <a:latin typeface="Calibri" panose="020F0502020204030204" pitchFamily="34" charset="0"/>
                <a:cs typeface="Calibri" panose="020F0502020204030204" pitchFamily="34" charset="0"/>
              </a:rPr>
              <a:t>Fourier Series.</a:t>
            </a:r>
          </a:p>
          <a:p>
            <a:endParaRPr lang="en-US" sz="2800" dirty="0">
              <a:solidFill>
                <a:schemeClr val="bg2">
                  <a:lumMod val="25000"/>
                </a:schemeClr>
              </a:solidFill>
              <a:highlight>
                <a:srgbClr val="FFFFFF"/>
              </a:highlight>
              <a:latin typeface="Calibri" panose="020F0502020204030204" pitchFamily="34" charset="0"/>
              <a:cs typeface="Calibri" panose="020F0502020204030204" pitchFamily="34" charset="0"/>
            </a:endParaRPr>
          </a:p>
          <a:p>
            <a:r>
              <a:rPr lang="en-US" sz="2800" dirty="0">
                <a:solidFill>
                  <a:schemeClr val="bg2">
                    <a:lumMod val="25000"/>
                  </a:schemeClr>
                </a:solidFill>
                <a:highlight>
                  <a:srgbClr val="FFFFFF"/>
                </a:highlight>
                <a:latin typeface="Calibri" panose="020F0502020204030204" pitchFamily="34" charset="0"/>
                <a:cs typeface="Calibri" panose="020F0502020204030204" pitchFamily="34" charset="0"/>
              </a:rPr>
              <a:t>Mathematically,</a:t>
            </a:r>
            <a:endParaRPr lang="en-US" sz="2800" dirty="0">
              <a:solidFill>
                <a:schemeClr val="bg2">
                  <a:lumMod val="25000"/>
                </a:schemeClr>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F3FF006F-D8CF-FEB6-E757-C93B195DE79E}"/>
              </a:ext>
            </a:extLst>
          </p:cNvPr>
          <p:cNvSpPr txBox="1"/>
          <p:nvPr/>
        </p:nvSpPr>
        <p:spPr>
          <a:xfrm>
            <a:off x="3810000" y="622872"/>
            <a:ext cx="13411200" cy="839894"/>
          </a:xfrm>
          <a:prstGeom prst="rect">
            <a:avLst/>
          </a:prstGeom>
          <a:noFill/>
        </p:spPr>
        <p:txBody>
          <a:bodyPr wrap="square">
            <a:spAutoFit/>
          </a:bodyPr>
          <a:lstStyle/>
          <a:p>
            <a:pPr algn="ctr"/>
            <a:r>
              <a:rPr lang="en-US" sz="4800" b="0" cap="none" spc="0" dirty="0">
                <a:ln w="0"/>
                <a:solidFill>
                  <a:schemeClr val="tx1"/>
                </a:solidFill>
                <a:effectLst>
                  <a:outerShdw blurRad="38100" dist="19050" dir="2700000" algn="tl" rotWithShape="0">
                    <a:schemeClr val="dk1">
                      <a:alpha val="40000"/>
                    </a:schemeClr>
                  </a:outerShdw>
                </a:effectLst>
              </a:rPr>
              <a:t>To know FFT , We must know the following question</a:t>
            </a:r>
          </a:p>
        </p:txBody>
      </p:sp>
      <p:sp>
        <p:nvSpPr>
          <p:cNvPr id="7" name="TextBox 6">
            <a:extLst>
              <a:ext uri="{FF2B5EF4-FFF2-40B4-BE49-F238E27FC236}">
                <a16:creationId xmlns:a16="http://schemas.microsoft.com/office/drawing/2014/main" id="{43506A96-6556-5D65-0534-CD8F3F89268C}"/>
              </a:ext>
            </a:extLst>
          </p:cNvPr>
          <p:cNvSpPr txBox="1"/>
          <p:nvPr/>
        </p:nvSpPr>
        <p:spPr>
          <a:xfrm>
            <a:off x="4062663" y="1660093"/>
            <a:ext cx="9144000" cy="707886"/>
          </a:xfrm>
          <a:prstGeom prst="rect">
            <a:avLst/>
          </a:prstGeom>
          <a:noFill/>
        </p:spPr>
        <p:txBody>
          <a:bodyPr wrap="square">
            <a:spAutoFit/>
          </a:bodyPr>
          <a:lstStyle/>
          <a:p>
            <a:r>
              <a:rPr lang="en-US" sz="4000" b="0" cap="none" spc="0" dirty="0">
                <a:ln w="0"/>
                <a:solidFill>
                  <a:schemeClr val="tx1"/>
                </a:solidFill>
                <a:effectLst>
                  <a:outerShdw blurRad="38100" dist="19050" dir="2700000" algn="tl" rotWithShape="0">
                    <a:schemeClr val="dk1">
                      <a:alpha val="40000"/>
                    </a:schemeClr>
                  </a:outerShdw>
                </a:effectLst>
              </a:rPr>
              <a:t>What is Fourier transform?...</a:t>
            </a:r>
            <a:endParaRPr lang="en-US" sz="4000" dirty="0"/>
          </a:p>
        </p:txBody>
      </p:sp>
      <p:pic>
        <p:nvPicPr>
          <p:cNvPr id="9" name="Picture 8">
            <a:extLst>
              <a:ext uri="{FF2B5EF4-FFF2-40B4-BE49-F238E27FC236}">
                <a16:creationId xmlns:a16="http://schemas.microsoft.com/office/drawing/2014/main" id="{55A59C50-2BC4-0AAC-4098-A85BF7D398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19600" y="4991100"/>
            <a:ext cx="11049000" cy="478528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5" name="object 4">
            <a:extLst>
              <a:ext uri="{FF2B5EF4-FFF2-40B4-BE49-F238E27FC236}">
                <a16:creationId xmlns:a16="http://schemas.microsoft.com/office/drawing/2014/main" id="{B836546D-C36A-6006-867B-C6987975E082}"/>
              </a:ext>
            </a:extLst>
          </p:cNvPr>
          <p:cNvSpPr/>
          <p:nvPr/>
        </p:nvSpPr>
        <p:spPr>
          <a:xfrm>
            <a:off x="2590800" y="1116164"/>
            <a:ext cx="1447800" cy="1447800"/>
          </a:xfrm>
          <a:custGeom>
            <a:avLst/>
            <a:gdLst/>
            <a:ahLst/>
            <a:cxnLst/>
            <a:rect l="l" t="t" r="r" b="b"/>
            <a:pathLst>
              <a:path w="1447800" h="1447800">
                <a:moveTo>
                  <a:pt x="723840" y="1447799"/>
                </a:moveTo>
                <a:lnTo>
                  <a:pt x="701241" y="1385407"/>
                </a:lnTo>
                <a:lnTo>
                  <a:pt x="675037" y="1324441"/>
                </a:lnTo>
                <a:lnTo>
                  <a:pt x="645324" y="1265107"/>
                </a:lnTo>
                <a:lnTo>
                  <a:pt x="612198" y="1207608"/>
                </a:lnTo>
                <a:lnTo>
                  <a:pt x="575775" y="1152139"/>
                </a:lnTo>
                <a:lnTo>
                  <a:pt x="536176" y="1098891"/>
                </a:lnTo>
                <a:lnTo>
                  <a:pt x="493540" y="1048041"/>
                </a:lnTo>
                <a:lnTo>
                  <a:pt x="448007" y="999769"/>
                </a:lnTo>
                <a:lnTo>
                  <a:pt x="399738" y="954232"/>
                </a:lnTo>
                <a:lnTo>
                  <a:pt x="348893" y="911592"/>
                </a:lnTo>
                <a:lnTo>
                  <a:pt x="295648" y="871988"/>
                </a:lnTo>
                <a:lnTo>
                  <a:pt x="240181" y="835561"/>
                </a:lnTo>
                <a:lnTo>
                  <a:pt x="182686" y="802430"/>
                </a:lnTo>
                <a:lnTo>
                  <a:pt x="123353" y="772712"/>
                </a:lnTo>
                <a:lnTo>
                  <a:pt x="62390" y="746503"/>
                </a:lnTo>
                <a:lnTo>
                  <a:pt x="0" y="723899"/>
                </a:lnTo>
                <a:lnTo>
                  <a:pt x="31373" y="713048"/>
                </a:lnTo>
                <a:lnTo>
                  <a:pt x="93050" y="688642"/>
                </a:lnTo>
                <a:lnTo>
                  <a:pt x="153249" y="660655"/>
                </a:lnTo>
                <a:lnTo>
                  <a:pt x="211663" y="629230"/>
                </a:lnTo>
                <a:lnTo>
                  <a:pt x="268192" y="594421"/>
                </a:lnTo>
                <a:lnTo>
                  <a:pt x="322548" y="556406"/>
                </a:lnTo>
                <a:lnTo>
                  <a:pt x="374638" y="515249"/>
                </a:lnTo>
                <a:lnTo>
                  <a:pt x="424195" y="471161"/>
                </a:lnTo>
                <a:lnTo>
                  <a:pt x="471136" y="424216"/>
                </a:lnTo>
                <a:lnTo>
                  <a:pt x="515220" y="374655"/>
                </a:lnTo>
                <a:lnTo>
                  <a:pt x="556373" y="322562"/>
                </a:lnTo>
                <a:lnTo>
                  <a:pt x="594383" y="268203"/>
                </a:lnTo>
                <a:lnTo>
                  <a:pt x="629188" y="211671"/>
                </a:lnTo>
                <a:lnTo>
                  <a:pt x="660608" y="153254"/>
                </a:lnTo>
                <a:lnTo>
                  <a:pt x="688590" y="93053"/>
                </a:lnTo>
                <a:lnTo>
                  <a:pt x="712991" y="31374"/>
                </a:lnTo>
                <a:lnTo>
                  <a:pt x="723840" y="0"/>
                </a:lnTo>
                <a:lnTo>
                  <a:pt x="734688" y="31373"/>
                </a:lnTo>
                <a:lnTo>
                  <a:pt x="759088" y="93052"/>
                </a:lnTo>
                <a:lnTo>
                  <a:pt x="787070" y="153253"/>
                </a:lnTo>
                <a:lnTo>
                  <a:pt x="818488" y="211669"/>
                </a:lnTo>
                <a:lnTo>
                  <a:pt x="853292" y="268201"/>
                </a:lnTo>
                <a:lnTo>
                  <a:pt x="891302" y="322559"/>
                </a:lnTo>
                <a:lnTo>
                  <a:pt x="932453" y="374652"/>
                </a:lnTo>
                <a:lnTo>
                  <a:pt x="976536" y="424213"/>
                </a:lnTo>
                <a:lnTo>
                  <a:pt x="1023476" y="471157"/>
                </a:lnTo>
                <a:lnTo>
                  <a:pt x="1073032" y="515246"/>
                </a:lnTo>
                <a:lnTo>
                  <a:pt x="1125120" y="556403"/>
                </a:lnTo>
                <a:lnTo>
                  <a:pt x="1179474" y="594418"/>
                </a:lnTo>
                <a:lnTo>
                  <a:pt x="1236002" y="629228"/>
                </a:lnTo>
                <a:lnTo>
                  <a:pt x="1294415" y="660653"/>
                </a:lnTo>
                <a:lnTo>
                  <a:pt x="1354613" y="688641"/>
                </a:lnTo>
                <a:lnTo>
                  <a:pt x="1416289" y="713048"/>
                </a:lnTo>
                <a:lnTo>
                  <a:pt x="1447662" y="723899"/>
                </a:lnTo>
                <a:lnTo>
                  <a:pt x="1416289" y="734751"/>
                </a:lnTo>
                <a:lnTo>
                  <a:pt x="1354613" y="759158"/>
                </a:lnTo>
                <a:lnTo>
                  <a:pt x="1294415" y="787146"/>
                </a:lnTo>
                <a:lnTo>
                  <a:pt x="1236002" y="818571"/>
                </a:lnTo>
                <a:lnTo>
                  <a:pt x="1179474" y="853381"/>
                </a:lnTo>
                <a:lnTo>
                  <a:pt x="1125120" y="891396"/>
                </a:lnTo>
                <a:lnTo>
                  <a:pt x="1073032" y="932553"/>
                </a:lnTo>
                <a:lnTo>
                  <a:pt x="1023476" y="976642"/>
                </a:lnTo>
                <a:lnTo>
                  <a:pt x="976536" y="1023586"/>
                </a:lnTo>
                <a:lnTo>
                  <a:pt x="932453" y="1073147"/>
                </a:lnTo>
                <a:lnTo>
                  <a:pt x="891302" y="1125240"/>
                </a:lnTo>
                <a:lnTo>
                  <a:pt x="853292" y="1179599"/>
                </a:lnTo>
                <a:lnTo>
                  <a:pt x="818489" y="1236130"/>
                </a:lnTo>
                <a:lnTo>
                  <a:pt x="787070" y="1294546"/>
                </a:lnTo>
                <a:lnTo>
                  <a:pt x="759088" y="1354747"/>
                </a:lnTo>
                <a:lnTo>
                  <a:pt x="734688" y="1416426"/>
                </a:lnTo>
                <a:lnTo>
                  <a:pt x="723840" y="1447799"/>
                </a:lnTo>
                <a:close/>
              </a:path>
            </a:pathLst>
          </a:custGeom>
          <a:solidFill>
            <a:schemeClr val="accent4">
              <a:lumMod val="20000"/>
              <a:lumOff val="80000"/>
            </a:schemeClr>
          </a:solidFill>
        </p:spPr>
        <p:txBody>
          <a:bodyPr wrap="square" lIns="0" tIns="0" rIns="0" bIns="0" rtlCol="0"/>
          <a:lstStyle/>
          <a:p>
            <a:endParaRPr dirty="0"/>
          </a:p>
        </p:txBody>
      </p:sp>
      <p:sp>
        <p:nvSpPr>
          <p:cNvPr id="6" name="TextBox 5">
            <a:extLst>
              <a:ext uri="{FF2B5EF4-FFF2-40B4-BE49-F238E27FC236}">
                <a16:creationId xmlns:a16="http://schemas.microsoft.com/office/drawing/2014/main" id="{BC246095-71F7-9FC9-BBDF-6140A4B8C042}"/>
              </a:ext>
            </a:extLst>
          </p:cNvPr>
          <p:cNvSpPr txBox="1"/>
          <p:nvPr/>
        </p:nvSpPr>
        <p:spPr>
          <a:xfrm>
            <a:off x="13563600" y="9799248"/>
            <a:ext cx="2468880" cy="369332"/>
          </a:xfrm>
          <a:prstGeom prst="rect">
            <a:avLst/>
          </a:prstGeom>
          <a:noFill/>
        </p:spPr>
        <p:txBody>
          <a:bodyPr wrap="square">
            <a:spAutoFit/>
          </a:bodyPr>
          <a:lstStyle/>
          <a:p>
            <a:pPr algn="ctr"/>
            <a:r>
              <a:rPr lang="en-US" dirty="0">
                <a:ln w="0"/>
                <a:effectLst>
                  <a:outerShdw blurRad="38100" dist="19050" dir="2700000" algn="tl" rotWithShape="0">
                    <a:schemeClr val="dk1">
                      <a:alpha val="40000"/>
                    </a:schemeClr>
                  </a:outerShdw>
                </a:effectLst>
              </a:rPr>
              <a:t>Source : Wikipedia</a:t>
            </a:r>
            <a:endParaRPr lang="en-US" sz="18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6803992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6709072-CF4A-DC28-F60E-ED8183D690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91000" y="996345"/>
            <a:ext cx="6629400" cy="3623044"/>
          </a:xfrm>
          <a:prstGeom prst="rect">
            <a:avLst/>
          </a:prstGeom>
          <a:ln>
            <a:noFill/>
          </a:ln>
          <a:effectLst>
            <a:softEdge rad="112500"/>
          </a:effectLst>
        </p:spPr>
      </p:pic>
      <p:pic>
        <p:nvPicPr>
          <p:cNvPr id="5" name="Picture 4">
            <a:extLst>
              <a:ext uri="{FF2B5EF4-FFF2-40B4-BE49-F238E27FC236}">
                <a16:creationId xmlns:a16="http://schemas.microsoft.com/office/drawing/2014/main" id="{0891010D-B781-5C41-8AF5-F97C210009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82926" y="5981700"/>
            <a:ext cx="5943600" cy="3263865"/>
          </a:xfrm>
          <a:prstGeom prst="rect">
            <a:avLst/>
          </a:prstGeom>
          <a:ln>
            <a:noFill/>
          </a:ln>
          <a:effectLst>
            <a:softEdge rad="112500"/>
          </a:effectLst>
        </p:spPr>
      </p:pic>
      <p:sp>
        <p:nvSpPr>
          <p:cNvPr id="2" name="Rectangle 1">
            <a:extLst>
              <a:ext uri="{FF2B5EF4-FFF2-40B4-BE49-F238E27FC236}">
                <a16:creationId xmlns:a16="http://schemas.microsoft.com/office/drawing/2014/main" id="{4FE9D62D-5F1D-81D5-A4B1-0DACD3EE566B}"/>
              </a:ext>
            </a:extLst>
          </p:cNvPr>
          <p:cNvSpPr/>
          <p:nvPr/>
        </p:nvSpPr>
        <p:spPr>
          <a:xfrm>
            <a:off x="11201400" y="1467886"/>
            <a:ext cx="6829926" cy="1938992"/>
          </a:xfrm>
          <a:prstGeom prst="rect">
            <a:avLst/>
          </a:prstGeom>
          <a:noFill/>
        </p:spPr>
        <p:txBody>
          <a:bodyPr wrap="square" lIns="91440" tIns="45720" rIns="91440" bIns="45720">
            <a:spAutoFit/>
          </a:bodyPr>
          <a:lstStyle/>
          <a:p>
            <a:r>
              <a:rPr lang="en-US" sz="4000" dirty="0">
                <a:ln w="0"/>
                <a:solidFill>
                  <a:schemeClr val="bg2">
                    <a:lumMod val="50000"/>
                  </a:schemeClr>
                </a:solidFill>
                <a:effectLst>
                  <a:outerShdw blurRad="38100" dist="19050" dir="2700000" algn="tl" rotWithShape="0">
                    <a:schemeClr val="dk1">
                      <a:alpha val="40000"/>
                    </a:schemeClr>
                  </a:outerShdw>
                </a:effectLst>
              </a:rPr>
              <a:t>This signal is the result of superposition of another three signals </a:t>
            </a:r>
            <a:endParaRPr lang="en-US" sz="4000" b="0" cap="none" spc="0" dirty="0">
              <a:ln w="0"/>
              <a:solidFill>
                <a:schemeClr val="bg2">
                  <a:lumMod val="50000"/>
                </a:schemeClr>
              </a:solidFill>
              <a:effectLst>
                <a:outerShdw blurRad="38100" dist="19050" dir="2700000" algn="tl" rotWithShape="0">
                  <a:schemeClr val="dk1">
                    <a:alpha val="40000"/>
                  </a:schemeClr>
                </a:outerShdw>
              </a:effectLst>
            </a:endParaRPr>
          </a:p>
        </p:txBody>
      </p:sp>
      <p:sp>
        <p:nvSpPr>
          <p:cNvPr id="4" name="Rectangle 3">
            <a:extLst>
              <a:ext uri="{FF2B5EF4-FFF2-40B4-BE49-F238E27FC236}">
                <a16:creationId xmlns:a16="http://schemas.microsoft.com/office/drawing/2014/main" id="{9FEF3FC7-66D2-F286-A414-245565F2B9CC}"/>
              </a:ext>
            </a:extLst>
          </p:cNvPr>
          <p:cNvSpPr/>
          <p:nvPr/>
        </p:nvSpPr>
        <p:spPr>
          <a:xfrm>
            <a:off x="3629526" y="6880122"/>
            <a:ext cx="8153400" cy="1323439"/>
          </a:xfrm>
          <a:prstGeom prst="rect">
            <a:avLst/>
          </a:prstGeom>
          <a:noFill/>
        </p:spPr>
        <p:txBody>
          <a:bodyPr wrap="square" lIns="91440" tIns="45720" rIns="91440" bIns="45720">
            <a:spAutoFit/>
          </a:bodyPr>
          <a:lstStyle/>
          <a:p>
            <a:r>
              <a:rPr lang="en-US" sz="4000" b="0" cap="none" spc="0" dirty="0">
                <a:ln w="0"/>
                <a:solidFill>
                  <a:schemeClr val="bg2">
                    <a:lumMod val="50000"/>
                  </a:schemeClr>
                </a:solidFill>
                <a:effectLst>
                  <a:outerShdw blurRad="38100" dist="19050" dir="2700000" algn="tl" rotWithShape="0">
                    <a:schemeClr val="dk1">
                      <a:alpha val="40000"/>
                    </a:schemeClr>
                  </a:outerShdw>
                </a:effectLst>
              </a:rPr>
              <a:t>The signal can be Fourier Transformed into a frequency domain signal</a:t>
            </a:r>
          </a:p>
        </p:txBody>
      </p:sp>
      <p:sp>
        <p:nvSpPr>
          <p:cNvPr id="6" name="object 4">
            <a:extLst>
              <a:ext uri="{FF2B5EF4-FFF2-40B4-BE49-F238E27FC236}">
                <a16:creationId xmlns:a16="http://schemas.microsoft.com/office/drawing/2014/main" id="{38B4BC39-8D59-F82E-3ED2-B097FFF46C3C}"/>
              </a:ext>
            </a:extLst>
          </p:cNvPr>
          <p:cNvSpPr/>
          <p:nvPr/>
        </p:nvSpPr>
        <p:spPr>
          <a:xfrm>
            <a:off x="2552700" y="1003619"/>
            <a:ext cx="1447800" cy="1447800"/>
          </a:xfrm>
          <a:custGeom>
            <a:avLst/>
            <a:gdLst/>
            <a:ahLst/>
            <a:cxnLst/>
            <a:rect l="l" t="t" r="r" b="b"/>
            <a:pathLst>
              <a:path w="1447800" h="1447800">
                <a:moveTo>
                  <a:pt x="723840" y="1447799"/>
                </a:moveTo>
                <a:lnTo>
                  <a:pt x="701241" y="1385407"/>
                </a:lnTo>
                <a:lnTo>
                  <a:pt x="675037" y="1324441"/>
                </a:lnTo>
                <a:lnTo>
                  <a:pt x="645324" y="1265107"/>
                </a:lnTo>
                <a:lnTo>
                  <a:pt x="612198" y="1207608"/>
                </a:lnTo>
                <a:lnTo>
                  <a:pt x="575775" y="1152139"/>
                </a:lnTo>
                <a:lnTo>
                  <a:pt x="536176" y="1098891"/>
                </a:lnTo>
                <a:lnTo>
                  <a:pt x="493540" y="1048041"/>
                </a:lnTo>
                <a:lnTo>
                  <a:pt x="448007" y="999769"/>
                </a:lnTo>
                <a:lnTo>
                  <a:pt x="399738" y="954232"/>
                </a:lnTo>
                <a:lnTo>
                  <a:pt x="348893" y="911592"/>
                </a:lnTo>
                <a:lnTo>
                  <a:pt x="295648" y="871988"/>
                </a:lnTo>
                <a:lnTo>
                  <a:pt x="240181" y="835561"/>
                </a:lnTo>
                <a:lnTo>
                  <a:pt x="182686" y="802430"/>
                </a:lnTo>
                <a:lnTo>
                  <a:pt x="123353" y="772712"/>
                </a:lnTo>
                <a:lnTo>
                  <a:pt x="62390" y="746503"/>
                </a:lnTo>
                <a:lnTo>
                  <a:pt x="0" y="723899"/>
                </a:lnTo>
                <a:lnTo>
                  <a:pt x="31373" y="713048"/>
                </a:lnTo>
                <a:lnTo>
                  <a:pt x="93050" y="688642"/>
                </a:lnTo>
                <a:lnTo>
                  <a:pt x="153249" y="660655"/>
                </a:lnTo>
                <a:lnTo>
                  <a:pt x="211663" y="629230"/>
                </a:lnTo>
                <a:lnTo>
                  <a:pt x="268192" y="594421"/>
                </a:lnTo>
                <a:lnTo>
                  <a:pt x="322548" y="556406"/>
                </a:lnTo>
                <a:lnTo>
                  <a:pt x="374638" y="515249"/>
                </a:lnTo>
                <a:lnTo>
                  <a:pt x="424195" y="471161"/>
                </a:lnTo>
                <a:lnTo>
                  <a:pt x="471136" y="424216"/>
                </a:lnTo>
                <a:lnTo>
                  <a:pt x="515220" y="374655"/>
                </a:lnTo>
                <a:lnTo>
                  <a:pt x="556373" y="322562"/>
                </a:lnTo>
                <a:lnTo>
                  <a:pt x="594383" y="268203"/>
                </a:lnTo>
                <a:lnTo>
                  <a:pt x="629188" y="211671"/>
                </a:lnTo>
                <a:lnTo>
                  <a:pt x="660608" y="153254"/>
                </a:lnTo>
                <a:lnTo>
                  <a:pt x="688590" y="93053"/>
                </a:lnTo>
                <a:lnTo>
                  <a:pt x="712991" y="31374"/>
                </a:lnTo>
                <a:lnTo>
                  <a:pt x="723840" y="0"/>
                </a:lnTo>
                <a:lnTo>
                  <a:pt x="734688" y="31373"/>
                </a:lnTo>
                <a:lnTo>
                  <a:pt x="759088" y="93052"/>
                </a:lnTo>
                <a:lnTo>
                  <a:pt x="787070" y="153253"/>
                </a:lnTo>
                <a:lnTo>
                  <a:pt x="818488" y="211669"/>
                </a:lnTo>
                <a:lnTo>
                  <a:pt x="853292" y="268201"/>
                </a:lnTo>
                <a:lnTo>
                  <a:pt x="891302" y="322559"/>
                </a:lnTo>
                <a:lnTo>
                  <a:pt x="932453" y="374652"/>
                </a:lnTo>
                <a:lnTo>
                  <a:pt x="976536" y="424213"/>
                </a:lnTo>
                <a:lnTo>
                  <a:pt x="1023476" y="471157"/>
                </a:lnTo>
                <a:lnTo>
                  <a:pt x="1073032" y="515246"/>
                </a:lnTo>
                <a:lnTo>
                  <a:pt x="1125120" y="556403"/>
                </a:lnTo>
                <a:lnTo>
                  <a:pt x="1179474" y="594418"/>
                </a:lnTo>
                <a:lnTo>
                  <a:pt x="1236002" y="629228"/>
                </a:lnTo>
                <a:lnTo>
                  <a:pt x="1294415" y="660653"/>
                </a:lnTo>
                <a:lnTo>
                  <a:pt x="1354613" y="688641"/>
                </a:lnTo>
                <a:lnTo>
                  <a:pt x="1416289" y="713048"/>
                </a:lnTo>
                <a:lnTo>
                  <a:pt x="1447662" y="723899"/>
                </a:lnTo>
                <a:lnTo>
                  <a:pt x="1416289" y="734751"/>
                </a:lnTo>
                <a:lnTo>
                  <a:pt x="1354613" y="759158"/>
                </a:lnTo>
                <a:lnTo>
                  <a:pt x="1294415" y="787146"/>
                </a:lnTo>
                <a:lnTo>
                  <a:pt x="1236002" y="818571"/>
                </a:lnTo>
                <a:lnTo>
                  <a:pt x="1179474" y="853381"/>
                </a:lnTo>
                <a:lnTo>
                  <a:pt x="1125120" y="891396"/>
                </a:lnTo>
                <a:lnTo>
                  <a:pt x="1073032" y="932553"/>
                </a:lnTo>
                <a:lnTo>
                  <a:pt x="1023476" y="976642"/>
                </a:lnTo>
                <a:lnTo>
                  <a:pt x="976536" y="1023586"/>
                </a:lnTo>
                <a:lnTo>
                  <a:pt x="932453" y="1073147"/>
                </a:lnTo>
                <a:lnTo>
                  <a:pt x="891302" y="1125240"/>
                </a:lnTo>
                <a:lnTo>
                  <a:pt x="853292" y="1179599"/>
                </a:lnTo>
                <a:lnTo>
                  <a:pt x="818489" y="1236130"/>
                </a:lnTo>
                <a:lnTo>
                  <a:pt x="787070" y="1294546"/>
                </a:lnTo>
                <a:lnTo>
                  <a:pt x="759088" y="1354747"/>
                </a:lnTo>
                <a:lnTo>
                  <a:pt x="734688" y="1416426"/>
                </a:lnTo>
                <a:lnTo>
                  <a:pt x="723840" y="1447799"/>
                </a:lnTo>
                <a:close/>
              </a:path>
            </a:pathLst>
          </a:custGeom>
          <a:solidFill>
            <a:schemeClr val="tx1">
              <a:lumMod val="75000"/>
              <a:lumOff val="25000"/>
            </a:schemeClr>
          </a:solidFill>
        </p:spPr>
        <p:txBody>
          <a:bodyPr wrap="square" lIns="0" tIns="0" rIns="0" bIns="0" rtlCol="0"/>
          <a:lstStyle/>
          <a:p>
            <a:endParaRPr dirty="0"/>
          </a:p>
        </p:txBody>
      </p:sp>
      <p:sp>
        <p:nvSpPr>
          <p:cNvPr id="7" name="Rectangle 6">
            <a:extLst>
              <a:ext uri="{FF2B5EF4-FFF2-40B4-BE49-F238E27FC236}">
                <a16:creationId xmlns:a16="http://schemas.microsoft.com/office/drawing/2014/main" id="{4A80A0C1-12A4-BBA1-387F-124301904830}"/>
              </a:ext>
            </a:extLst>
          </p:cNvPr>
          <p:cNvSpPr/>
          <p:nvPr/>
        </p:nvSpPr>
        <p:spPr>
          <a:xfrm>
            <a:off x="11976167" y="9486900"/>
            <a:ext cx="3960123" cy="307777"/>
          </a:xfrm>
          <a:prstGeom prst="rect">
            <a:avLst/>
          </a:prstGeom>
          <a:noFill/>
        </p:spPr>
        <p:txBody>
          <a:bodyPr wrap="none" lIns="91440" tIns="45720" rIns="91440" bIns="45720">
            <a:spAutoFit/>
          </a:bodyPr>
          <a:lstStyle/>
          <a:p>
            <a:pPr algn="ctr"/>
            <a:r>
              <a:rPr lang="en-US" sz="1400" b="0" cap="none" spc="0" dirty="0">
                <a:ln w="0"/>
                <a:solidFill>
                  <a:schemeClr val="tx1"/>
                </a:solidFill>
                <a:effectLst>
                  <a:outerShdw blurRad="38100" dist="19050" dir="2700000" algn="tl" rotWithShape="0">
                    <a:schemeClr val="dk1">
                      <a:alpha val="40000"/>
                    </a:schemeClr>
                  </a:outerShdw>
                </a:effectLst>
              </a:rPr>
              <a:t>Source: https://www.youtube.com/@MrOrange191</a:t>
            </a:r>
          </a:p>
        </p:txBody>
      </p:sp>
    </p:spTree>
    <p:extLst>
      <p:ext uri="{BB962C8B-B14F-4D97-AF65-F5344CB8AC3E}">
        <p14:creationId xmlns:p14="http://schemas.microsoft.com/office/powerpoint/2010/main" val="1944340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75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12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A78970-36E5-47EA-6E2A-923BE3A679EC}"/>
              </a:ext>
            </a:extLst>
          </p:cNvPr>
          <p:cNvSpPr/>
          <p:nvPr/>
        </p:nvSpPr>
        <p:spPr>
          <a:xfrm>
            <a:off x="3984458" y="342900"/>
            <a:ext cx="14401800" cy="1800493"/>
          </a:xfrm>
          <a:prstGeom prst="rect">
            <a:avLst/>
          </a:prstGeom>
          <a:noFill/>
        </p:spPr>
        <p:txBody>
          <a:bodyPr wrap="square" lIns="137160" tIns="68580" rIns="137160" bIns="68580">
            <a:spAutoFit/>
          </a:bodyPr>
          <a:lstStyle/>
          <a:p>
            <a:r>
              <a:rPr lang="en-US" sz="5400" dirty="0">
                <a:ln w="0"/>
                <a:solidFill>
                  <a:schemeClr val="bg2">
                    <a:lumMod val="50000"/>
                  </a:schemeClr>
                </a:solidFill>
                <a:effectLst>
                  <a:outerShdw blurRad="38100" dist="19050" dir="2700000" algn="tl" rotWithShape="0">
                    <a:schemeClr val="dk1">
                      <a:alpha val="40000"/>
                    </a:schemeClr>
                  </a:outerShdw>
                </a:effectLst>
              </a:rPr>
              <a:t>THESE TWO ARE THE SAME SIGNAL. CAN YOU TELL WHICH ONE IS THE SIMPLEST?</a:t>
            </a:r>
          </a:p>
        </p:txBody>
      </p:sp>
      <p:pic>
        <p:nvPicPr>
          <p:cNvPr id="8" name="Picture 7">
            <a:extLst>
              <a:ext uri="{FF2B5EF4-FFF2-40B4-BE49-F238E27FC236}">
                <a16:creationId xmlns:a16="http://schemas.microsoft.com/office/drawing/2014/main" id="{9468EB40-AFC4-A74B-820B-E587BF6A2E5C}"/>
              </a:ext>
            </a:extLst>
          </p:cNvPr>
          <p:cNvPicPr>
            <a:picLocks noChangeAspect="1"/>
          </p:cNvPicPr>
          <p:nvPr/>
        </p:nvPicPr>
        <p:blipFill>
          <a:blip r:embed="rId2"/>
          <a:stretch>
            <a:fillRect/>
          </a:stretch>
        </p:blipFill>
        <p:spPr>
          <a:xfrm>
            <a:off x="4457700" y="2372430"/>
            <a:ext cx="10439400" cy="5105400"/>
          </a:xfrm>
          <a:prstGeom prst="rect">
            <a:avLst/>
          </a:prstGeom>
        </p:spPr>
      </p:pic>
      <p:sp>
        <p:nvSpPr>
          <p:cNvPr id="9" name="Rectangle 8">
            <a:extLst>
              <a:ext uri="{FF2B5EF4-FFF2-40B4-BE49-F238E27FC236}">
                <a16:creationId xmlns:a16="http://schemas.microsoft.com/office/drawing/2014/main" id="{329A90A1-2B07-4C39-61DB-40DB2AE9E6A6}"/>
              </a:ext>
            </a:extLst>
          </p:cNvPr>
          <p:cNvSpPr/>
          <p:nvPr/>
        </p:nvSpPr>
        <p:spPr>
          <a:xfrm>
            <a:off x="3527121" y="7912775"/>
            <a:ext cx="14782800" cy="2031325"/>
          </a:xfrm>
          <a:prstGeom prst="rect">
            <a:avLst/>
          </a:prstGeom>
          <a:noFill/>
        </p:spPr>
        <p:txBody>
          <a:bodyPr wrap="square" lIns="91440" tIns="45720" rIns="91440" bIns="45720">
            <a:spAutoFit/>
          </a:bodyPr>
          <a:lstStyle/>
          <a:p>
            <a:r>
              <a:rPr lang="en-US" sz="3600" b="0" cap="none" spc="0" dirty="0">
                <a:ln w="0"/>
                <a:solidFill>
                  <a:schemeClr val="bg2">
                    <a:lumMod val="25000"/>
                  </a:schemeClr>
                </a:solidFill>
                <a:effectLst>
                  <a:outerShdw blurRad="38100" dist="19050" dir="2700000" algn="tl" rotWithShape="0">
                    <a:schemeClr val="dk1">
                      <a:alpha val="40000"/>
                    </a:schemeClr>
                  </a:outerShdw>
                </a:effectLst>
              </a:rPr>
              <a:t>One is represented in the time domain and one is in the frequency domain</a:t>
            </a:r>
            <a:r>
              <a:rPr lang="en-US" sz="5400" b="0" cap="none" spc="0" dirty="0">
                <a:ln w="0"/>
                <a:solidFill>
                  <a:schemeClr val="bg2">
                    <a:lumMod val="25000"/>
                  </a:schemeClr>
                </a:solidFill>
                <a:effectLst>
                  <a:outerShdw blurRad="38100" dist="19050" dir="2700000" algn="tl" rotWithShape="0">
                    <a:schemeClr val="dk1">
                      <a:alpha val="40000"/>
                    </a:schemeClr>
                  </a:outerShdw>
                </a:effectLst>
              </a:rPr>
              <a:t>. </a:t>
            </a:r>
            <a:r>
              <a:rPr lang="en-US" sz="3600" dirty="0">
                <a:ln w="0"/>
                <a:solidFill>
                  <a:schemeClr val="bg2">
                    <a:lumMod val="25000"/>
                  </a:schemeClr>
                </a:solidFill>
                <a:effectLst>
                  <a:outerShdw blurRad="38100" dist="19050" dir="2700000" algn="tl" rotWithShape="0">
                    <a:schemeClr val="dk1">
                      <a:alpha val="40000"/>
                    </a:schemeClr>
                  </a:outerShdw>
                </a:effectLst>
              </a:rPr>
              <a:t>It is easier to work in the frequency domain as the frequency than that of time domain as the signal remains a lot tangled in the time domain </a:t>
            </a:r>
            <a:r>
              <a:rPr lang="en-US" sz="3600" b="0" cap="none" spc="0" dirty="0">
                <a:ln w="0"/>
                <a:solidFill>
                  <a:schemeClr val="bg2">
                    <a:lumMod val="25000"/>
                  </a:schemeClr>
                </a:solidFill>
                <a:effectLst>
                  <a:outerShdw blurRad="38100" dist="19050" dir="2700000" algn="tl" rotWithShape="0">
                    <a:schemeClr val="dk1">
                      <a:alpha val="40000"/>
                    </a:schemeClr>
                  </a:outerShdw>
                </a:effectLst>
              </a:rPr>
              <a:t> .</a:t>
            </a:r>
          </a:p>
        </p:txBody>
      </p:sp>
      <p:sp>
        <p:nvSpPr>
          <p:cNvPr id="10" name="object 4">
            <a:extLst>
              <a:ext uri="{FF2B5EF4-FFF2-40B4-BE49-F238E27FC236}">
                <a16:creationId xmlns:a16="http://schemas.microsoft.com/office/drawing/2014/main" id="{B91C0362-7A86-95F2-3BEE-A5962C623ED6}"/>
              </a:ext>
            </a:extLst>
          </p:cNvPr>
          <p:cNvSpPr/>
          <p:nvPr/>
        </p:nvSpPr>
        <p:spPr>
          <a:xfrm>
            <a:off x="2572753" y="1132974"/>
            <a:ext cx="1447800" cy="1447800"/>
          </a:xfrm>
          <a:custGeom>
            <a:avLst/>
            <a:gdLst/>
            <a:ahLst/>
            <a:cxnLst/>
            <a:rect l="l" t="t" r="r" b="b"/>
            <a:pathLst>
              <a:path w="1447800" h="1447800">
                <a:moveTo>
                  <a:pt x="723840" y="1447799"/>
                </a:moveTo>
                <a:lnTo>
                  <a:pt x="701241" y="1385407"/>
                </a:lnTo>
                <a:lnTo>
                  <a:pt x="675037" y="1324441"/>
                </a:lnTo>
                <a:lnTo>
                  <a:pt x="645324" y="1265107"/>
                </a:lnTo>
                <a:lnTo>
                  <a:pt x="612198" y="1207608"/>
                </a:lnTo>
                <a:lnTo>
                  <a:pt x="575775" y="1152139"/>
                </a:lnTo>
                <a:lnTo>
                  <a:pt x="536176" y="1098891"/>
                </a:lnTo>
                <a:lnTo>
                  <a:pt x="493540" y="1048041"/>
                </a:lnTo>
                <a:lnTo>
                  <a:pt x="448007" y="999769"/>
                </a:lnTo>
                <a:lnTo>
                  <a:pt x="399738" y="954232"/>
                </a:lnTo>
                <a:lnTo>
                  <a:pt x="348893" y="911592"/>
                </a:lnTo>
                <a:lnTo>
                  <a:pt x="295648" y="871988"/>
                </a:lnTo>
                <a:lnTo>
                  <a:pt x="240181" y="835561"/>
                </a:lnTo>
                <a:lnTo>
                  <a:pt x="182686" y="802430"/>
                </a:lnTo>
                <a:lnTo>
                  <a:pt x="123353" y="772712"/>
                </a:lnTo>
                <a:lnTo>
                  <a:pt x="62390" y="746503"/>
                </a:lnTo>
                <a:lnTo>
                  <a:pt x="0" y="723899"/>
                </a:lnTo>
                <a:lnTo>
                  <a:pt x="31373" y="713048"/>
                </a:lnTo>
                <a:lnTo>
                  <a:pt x="93050" y="688642"/>
                </a:lnTo>
                <a:lnTo>
                  <a:pt x="153249" y="660655"/>
                </a:lnTo>
                <a:lnTo>
                  <a:pt x="211663" y="629230"/>
                </a:lnTo>
                <a:lnTo>
                  <a:pt x="268192" y="594421"/>
                </a:lnTo>
                <a:lnTo>
                  <a:pt x="322548" y="556406"/>
                </a:lnTo>
                <a:lnTo>
                  <a:pt x="374638" y="515249"/>
                </a:lnTo>
                <a:lnTo>
                  <a:pt x="424195" y="471161"/>
                </a:lnTo>
                <a:lnTo>
                  <a:pt x="471136" y="424216"/>
                </a:lnTo>
                <a:lnTo>
                  <a:pt x="515220" y="374655"/>
                </a:lnTo>
                <a:lnTo>
                  <a:pt x="556373" y="322562"/>
                </a:lnTo>
                <a:lnTo>
                  <a:pt x="594383" y="268203"/>
                </a:lnTo>
                <a:lnTo>
                  <a:pt x="629188" y="211671"/>
                </a:lnTo>
                <a:lnTo>
                  <a:pt x="660608" y="153254"/>
                </a:lnTo>
                <a:lnTo>
                  <a:pt x="688590" y="93053"/>
                </a:lnTo>
                <a:lnTo>
                  <a:pt x="712991" y="31374"/>
                </a:lnTo>
                <a:lnTo>
                  <a:pt x="723840" y="0"/>
                </a:lnTo>
                <a:lnTo>
                  <a:pt x="734688" y="31373"/>
                </a:lnTo>
                <a:lnTo>
                  <a:pt x="759088" y="93052"/>
                </a:lnTo>
                <a:lnTo>
                  <a:pt x="787070" y="153253"/>
                </a:lnTo>
                <a:lnTo>
                  <a:pt x="818488" y="211669"/>
                </a:lnTo>
                <a:lnTo>
                  <a:pt x="853292" y="268201"/>
                </a:lnTo>
                <a:lnTo>
                  <a:pt x="891302" y="322559"/>
                </a:lnTo>
                <a:lnTo>
                  <a:pt x="932453" y="374652"/>
                </a:lnTo>
                <a:lnTo>
                  <a:pt x="976536" y="424213"/>
                </a:lnTo>
                <a:lnTo>
                  <a:pt x="1023476" y="471157"/>
                </a:lnTo>
                <a:lnTo>
                  <a:pt x="1073032" y="515246"/>
                </a:lnTo>
                <a:lnTo>
                  <a:pt x="1125120" y="556403"/>
                </a:lnTo>
                <a:lnTo>
                  <a:pt x="1179474" y="594418"/>
                </a:lnTo>
                <a:lnTo>
                  <a:pt x="1236002" y="629228"/>
                </a:lnTo>
                <a:lnTo>
                  <a:pt x="1294415" y="660653"/>
                </a:lnTo>
                <a:lnTo>
                  <a:pt x="1354613" y="688641"/>
                </a:lnTo>
                <a:lnTo>
                  <a:pt x="1416289" y="713048"/>
                </a:lnTo>
                <a:lnTo>
                  <a:pt x="1447662" y="723899"/>
                </a:lnTo>
                <a:lnTo>
                  <a:pt x="1416289" y="734751"/>
                </a:lnTo>
                <a:lnTo>
                  <a:pt x="1354613" y="759158"/>
                </a:lnTo>
                <a:lnTo>
                  <a:pt x="1294415" y="787146"/>
                </a:lnTo>
                <a:lnTo>
                  <a:pt x="1236002" y="818571"/>
                </a:lnTo>
                <a:lnTo>
                  <a:pt x="1179474" y="853381"/>
                </a:lnTo>
                <a:lnTo>
                  <a:pt x="1125120" y="891396"/>
                </a:lnTo>
                <a:lnTo>
                  <a:pt x="1073032" y="932553"/>
                </a:lnTo>
                <a:lnTo>
                  <a:pt x="1023476" y="976642"/>
                </a:lnTo>
                <a:lnTo>
                  <a:pt x="976536" y="1023586"/>
                </a:lnTo>
                <a:lnTo>
                  <a:pt x="932453" y="1073147"/>
                </a:lnTo>
                <a:lnTo>
                  <a:pt x="891302" y="1125240"/>
                </a:lnTo>
                <a:lnTo>
                  <a:pt x="853292" y="1179599"/>
                </a:lnTo>
                <a:lnTo>
                  <a:pt x="818489" y="1236130"/>
                </a:lnTo>
                <a:lnTo>
                  <a:pt x="787070" y="1294546"/>
                </a:lnTo>
                <a:lnTo>
                  <a:pt x="759088" y="1354747"/>
                </a:lnTo>
                <a:lnTo>
                  <a:pt x="734688" y="1416426"/>
                </a:lnTo>
                <a:lnTo>
                  <a:pt x="723840" y="1447799"/>
                </a:lnTo>
                <a:close/>
              </a:path>
            </a:pathLst>
          </a:custGeom>
          <a:solidFill>
            <a:schemeClr val="bg2">
              <a:lumMod val="75000"/>
            </a:schemeClr>
          </a:solidFill>
        </p:spPr>
        <p:txBody>
          <a:bodyPr wrap="square" lIns="0" tIns="0" rIns="0" bIns="0" rtlCol="0"/>
          <a:lstStyle/>
          <a:p>
            <a:endParaRPr dirty="0"/>
          </a:p>
        </p:txBody>
      </p:sp>
      <p:sp>
        <p:nvSpPr>
          <p:cNvPr id="3" name="TextBox 2">
            <a:extLst>
              <a:ext uri="{FF2B5EF4-FFF2-40B4-BE49-F238E27FC236}">
                <a16:creationId xmlns:a16="http://schemas.microsoft.com/office/drawing/2014/main" id="{A21D49E4-3E2A-E3E3-90FB-E2929BD72152}"/>
              </a:ext>
            </a:extLst>
          </p:cNvPr>
          <p:cNvSpPr txBox="1"/>
          <p:nvPr/>
        </p:nvSpPr>
        <p:spPr>
          <a:xfrm>
            <a:off x="4971288" y="7706868"/>
            <a:ext cx="9412224" cy="369332"/>
          </a:xfrm>
          <a:prstGeom prst="rect">
            <a:avLst/>
          </a:prstGeom>
          <a:noFill/>
        </p:spPr>
        <p:txBody>
          <a:bodyPr wrap="square">
            <a:spAutoFit/>
          </a:bodyPr>
          <a:lstStyle/>
          <a:p>
            <a:pPr algn="ctr"/>
            <a:r>
              <a:rPr lang="en-US" sz="1800" b="0" cap="none" spc="0" dirty="0">
                <a:ln w="0"/>
                <a:solidFill>
                  <a:schemeClr val="tx1"/>
                </a:solidFill>
                <a:effectLst>
                  <a:outerShdw blurRad="38100" dist="19050" dir="2700000" algn="tl" rotWithShape="0">
                    <a:schemeClr val="dk1">
                      <a:alpha val="40000"/>
                    </a:schemeClr>
                  </a:outerShdw>
                </a:effectLst>
              </a:rPr>
              <a:t>Source: https://www.youtube.com/@MrOrange191</a:t>
            </a:r>
          </a:p>
        </p:txBody>
      </p:sp>
    </p:spTree>
    <p:extLst>
      <p:ext uri="{BB962C8B-B14F-4D97-AF65-F5344CB8AC3E}">
        <p14:creationId xmlns:p14="http://schemas.microsoft.com/office/powerpoint/2010/main" val="2057826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5040967" y="0"/>
            <a:ext cx="3251247" cy="10287000"/>
            <a:chOff x="15040967" y="0"/>
            <a:chExt cx="3251247" cy="10287000"/>
          </a:xfrm>
        </p:grpSpPr>
        <p:sp>
          <p:nvSpPr>
            <p:cNvPr id="3" name="object 3"/>
            <p:cNvSpPr/>
            <p:nvPr/>
          </p:nvSpPr>
          <p:spPr>
            <a:xfrm>
              <a:off x="15792219" y="0"/>
              <a:ext cx="2499995" cy="10287000"/>
            </a:xfrm>
            <a:custGeom>
              <a:avLst/>
              <a:gdLst/>
              <a:ahLst/>
              <a:cxnLst/>
              <a:rect l="l" t="t" r="r" b="b"/>
              <a:pathLst>
                <a:path w="2499994" h="10287000">
                  <a:moveTo>
                    <a:pt x="0" y="0"/>
                  </a:moveTo>
                  <a:lnTo>
                    <a:pt x="2499419" y="0"/>
                  </a:lnTo>
                  <a:lnTo>
                    <a:pt x="2499419" y="10287000"/>
                  </a:lnTo>
                  <a:lnTo>
                    <a:pt x="0" y="10287000"/>
                  </a:lnTo>
                  <a:lnTo>
                    <a:pt x="0" y="0"/>
                  </a:lnTo>
                  <a:close/>
                </a:path>
              </a:pathLst>
            </a:custGeom>
            <a:solidFill>
              <a:srgbClr val="CB997D"/>
            </a:solidFill>
          </p:spPr>
          <p:txBody>
            <a:bodyPr wrap="square" lIns="0" tIns="0" rIns="0" bIns="0" rtlCol="0"/>
            <a:lstStyle/>
            <a:p>
              <a:endParaRPr dirty="0"/>
            </a:p>
          </p:txBody>
        </p:sp>
        <p:sp>
          <p:nvSpPr>
            <p:cNvPr id="4" name="object 4"/>
            <p:cNvSpPr/>
            <p:nvPr/>
          </p:nvSpPr>
          <p:spPr>
            <a:xfrm>
              <a:off x="15040967" y="1181099"/>
              <a:ext cx="1447800" cy="1447800"/>
            </a:xfrm>
            <a:custGeom>
              <a:avLst/>
              <a:gdLst/>
              <a:ahLst/>
              <a:cxnLst/>
              <a:rect l="l" t="t" r="r" b="b"/>
              <a:pathLst>
                <a:path w="1447800" h="1447800">
                  <a:moveTo>
                    <a:pt x="723840" y="1447799"/>
                  </a:moveTo>
                  <a:lnTo>
                    <a:pt x="701241" y="1385407"/>
                  </a:lnTo>
                  <a:lnTo>
                    <a:pt x="675037" y="1324441"/>
                  </a:lnTo>
                  <a:lnTo>
                    <a:pt x="645324" y="1265107"/>
                  </a:lnTo>
                  <a:lnTo>
                    <a:pt x="612198" y="1207608"/>
                  </a:lnTo>
                  <a:lnTo>
                    <a:pt x="575775" y="1152139"/>
                  </a:lnTo>
                  <a:lnTo>
                    <a:pt x="536176" y="1098891"/>
                  </a:lnTo>
                  <a:lnTo>
                    <a:pt x="493540" y="1048041"/>
                  </a:lnTo>
                  <a:lnTo>
                    <a:pt x="448007" y="999769"/>
                  </a:lnTo>
                  <a:lnTo>
                    <a:pt x="399738" y="954232"/>
                  </a:lnTo>
                  <a:lnTo>
                    <a:pt x="348893" y="911592"/>
                  </a:lnTo>
                  <a:lnTo>
                    <a:pt x="295648" y="871988"/>
                  </a:lnTo>
                  <a:lnTo>
                    <a:pt x="240181" y="835561"/>
                  </a:lnTo>
                  <a:lnTo>
                    <a:pt x="182686" y="802430"/>
                  </a:lnTo>
                  <a:lnTo>
                    <a:pt x="123353" y="772712"/>
                  </a:lnTo>
                  <a:lnTo>
                    <a:pt x="62390" y="746503"/>
                  </a:lnTo>
                  <a:lnTo>
                    <a:pt x="0" y="723899"/>
                  </a:lnTo>
                  <a:lnTo>
                    <a:pt x="31373" y="713048"/>
                  </a:lnTo>
                  <a:lnTo>
                    <a:pt x="93050" y="688642"/>
                  </a:lnTo>
                  <a:lnTo>
                    <a:pt x="153249" y="660655"/>
                  </a:lnTo>
                  <a:lnTo>
                    <a:pt x="211663" y="629230"/>
                  </a:lnTo>
                  <a:lnTo>
                    <a:pt x="268192" y="594421"/>
                  </a:lnTo>
                  <a:lnTo>
                    <a:pt x="322548" y="556406"/>
                  </a:lnTo>
                  <a:lnTo>
                    <a:pt x="374638" y="515249"/>
                  </a:lnTo>
                  <a:lnTo>
                    <a:pt x="424195" y="471161"/>
                  </a:lnTo>
                  <a:lnTo>
                    <a:pt x="471136" y="424216"/>
                  </a:lnTo>
                  <a:lnTo>
                    <a:pt x="515220" y="374655"/>
                  </a:lnTo>
                  <a:lnTo>
                    <a:pt x="556373" y="322562"/>
                  </a:lnTo>
                  <a:lnTo>
                    <a:pt x="594383" y="268203"/>
                  </a:lnTo>
                  <a:lnTo>
                    <a:pt x="629188" y="211671"/>
                  </a:lnTo>
                  <a:lnTo>
                    <a:pt x="660608" y="153254"/>
                  </a:lnTo>
                  <a:lnTo>
                    <a:pt x="688590" y="93053"/>
                  </a:lnTo>
                  <a:lnTo>
                    <a:pt x="712991" y="31374"/>
                  </a:lnTo>
                  <a:lnTo>
                    <a:pt x="723840" y="0"/>
                  </a:lnTo>
                  <a:lnTo>
                    <a:pt x="734688" y="31373"/>
                  </a:lnTo>
                  <a:lnTo>
                    <a:pt x="759088" y="93052"/>
                  </a:lnTo>
                  <a:lnTo>
                    <a:pt x="787070" y="153253"/>
                  </a:lnTo>
                  <a:lnTo>
                    <a:pt x="818488" y="211669"/>
                  </a:lnTo>
                  <a:lnTo>
                    <a:pt x="853292" y="268201"/>
                  </a:lnTo>
                  <a:lnTo>
                    <a:pt x="891302" y="322559"/>
                  </a:lnTo>
                  <a:lnTo>
                    <a:pt x="932453" y="374652"/>
                  </a:lnTo>
                  <a:lnTo>
                    <a:pt x="976536" y="424213"/>
                  </a:lnTo>
                  <a:lnTo>
                    <a:pt x="1023476" y="471157"/>
                  </a:lnTo>
                  <a:lnTo>
                    <a:pt x="1073032" y="515246"/>
                  </a:lnTo>
                  <a:lnTo>
                    <a:pt x="1125120" y="556403"/>
                  </a:lnTo>
                  <a:lnTo>
                    <a:pt x="1179474" y="594418"/>
                  </a:lnTo>
                  <a:lnTo>
                    <a:pt x="1236002" y="629228"/>
                  </a:lnTo>
                  <a:lnTo>
                    <a:pt x="1294415" y="660653"/>
                  </a:lnTo>
                  <a:lnTo>
                    <a:pt x="1354613" y="688641"/>
                  </a:lnTo>
                  <a:lnTo>
                    <a:pt x="1416289" y="713048"/>
                  </a:lnTo>
                  <a:lnTo>
                    <a:pt x="1447662" y="723899"/>
                  </a:lnTo>
                  <a:lnTo>
                    <a:pt x="1416289" y="734751"/>
                  </a:lnTo>
                  <a:lnTo>
                    <a:pt x="1354613" y="759158"/>
                  </a:lnTo>
                  <a:lnTo>
                    <a:pt x="1294415" y="787146"/>
                  </a:lnTo>
                  <a:lnTo>
                    <a:pt x="1236002" y="818571"/>
                  </a:lnTo>
                  <a:lnTo>
                    <a:pt x="1179474" y="853381"/>
                  </a:lnTo>
                  <a:lnTo>
                    <a:pt x="1125120" y="891396"/>
                  </a:lnTo>
                  <a:lnTo>
                    <a:pt x="1073032" y="932553"/>
                  </a:lnTo>
                  <a:lnTo>
                    <a:pt x="1023476" y="976642"/>
                  </a:lnTo>
                  <a:lnTo>
                    <a:pt x="976536" y="1023586"/>
                  </a:lnTo>
                  <a:lnTo>
                    <a:pt x="932453" y="1073147"/>
                  </a:lnTo>
                  <a:lnTo>
                    <a:pt x="891302" y="1125240"/>
                  </a:lnTo>
                  <a:lnTo>
                    <a:pt x="853292" y="1179599"/>
                  </a:lnTo>
                  <a:lnTo>
                    <a:pt x="818489" y="1236130"/>
                  </a:lnTo>
                  <a:lnTo>
                    <a:pt x="787070" y="1294546"/>
                  </a:lnTo>
                  <a:lnTo>
                    <a:pt x="759088" y="1354747"/>
                  </a:lnTo>
                  <a:lnTo>
                    <a:pt x="734688" y="1416426"/>
                  </a:lnTo>
                  <a:lnTo>
                    <a:pt x="723840" y="1447799"/>
                  </a:lnTo>
                  <a:close/>
                </a:path>
              </a:pathLst>
            </a:custGeom>
            <a:solidFill>
              <a:srgbClr val="FFCCB1"/>
            </a:solidFill>
          </p:spPr>
          <p:txBody>
            <a:bodyPr wrap="square" lIns="0" tIns="0" rIns="0" bIns="0" rtlCol="0"/>
            <a:lstStyle/>
            <a:p>
              <a:endParaRPr dirty="0"/>
            </a:p>
          </p:txBody>
        </p:sp>
      </p:grpSp>
      <p:sp>
        <p:nvSpPr>
          <p:cNvPr id="5" name="object 5"/>
          <p:cNvSpPr txBox="1">
            <a:spLocks noGrp="1"/>
          </p:cNvSpPr>
          <p:nvPr>
            <p:ph type="title"/>
          </p:nvPr>
        </p:nvSpPr>
        <p:spPr>
          <a:xfrm>
            <a:off x="1016000" y="939800"/>
            <a:ext cx="9820275" cy="1854200"/>
          </a:xfrm>
          <a:prstGeom prst="rect">
            <a:avLst/>
          </a:prstGeom>
        </p:spPr>
        <p:txBody>
          <a:bodyPr vert="horz" wrap="square" lIns="0" tIns="12700" rIns="0" bIns="0" rtlCol="0">
            <a:spAutoFit/>
          </a:bodyPr>
          <a:lstStyle/>
          <a:p>
            <a:pPr marL="12700">
              <a:lnSpc>
                <a:spcPct val="100000"/>
              </a:lnSpc>
              <a:spcBef>
                <a:spcPts val="100"/>
              </a:spcBef>
            </a:pPr>
            <a:r>
              <a:rPr sz="12000" b="1" spc="655" dirty="0">
                <a:solidFill>
                  <a:srgbClr val="B1663D"/>
                </a:solidFill>
                <a:latin typeface="Trebuchet MS"/>
                <a:cs typeface="Trebuchet MS"/>
              </a:rPr>
              <a:t>What</a:t>
            </a:r>
            <a:r>
              <a:rPr sz="12000" b="1" spc="235" dirty="0">
                <a:solidFill>
                  <a:srgbClr val="B1663D"/>
                </a:solidFill>
                <a:latin typeface="Trebuchet MS"/>
                <a:cs typeface="Trebuchet MS"/>
              </a:rPr>
              <a:t> </a:t>
            </a:r>
            <a:r>
              <a:rPr sz="12000" b="1" spc="10" dirty="0">
                <a:solidFill>
                  <a:srgbClr val="B1663D"/>
                </a:solidFill>
                <a:latin typeface="Trebuchet MS"/>
                <a:cs typeface="Trebuchet MS"/>
              </a:rPr>
              <a:t>is</a:t>
            </a:r>
            <a:r>
              <a:rPr sz="12000" b="1" spc="240" dirty="0">
                <a:solidFill>
                  <a:srgbClr val="B1663D"/>
                </a:solidFill>
                <a:latin typeface="Trebuchet MS"/>
                <a:cs typeface="Trebuchet MS"/>
              </a:rPr>
              <a:t> </a:t>
            </a:r>
            <a:r>
              <a:rPr sz="12000" b="1" spc="434" dirty="0">
                <a:solidFill>
                  <a:srgbClr val="B1663D"/>
                </a:solidFill>
                <a:latin typeface="Trebuchet MS"/>
                <a:cs typeface="Trebuchet MS"/>
              </a:rPr>
              <a:t>DFT?</a:t>
            </a:r>
            <a:endParaRPr sz="12000" dirty="0">
              <a:latin typeface="Trebuchet MS"/>
              <a:cs typeface="Trebuchet MS"/>
            </a:endParaRPr>
          </a:p>
        </p:txBody>
      </p:sp>
      <p:sp>
        <p:nvSpPr>
          <p:cNvPr id="6" name="object 6"/>
          <p:cNvSpPr txBox="1"/>
          <p:nvPr/>
        </p:nvSpPr>
        <p:spPr>
          <a:xfrm>
            <a:off x="1141047" y="4115579"/>
            <a:ext cx="13738225" cy="4388485"/>
          </a:xfrm>
          <a:prstGeom prst="rect">
            <a:avLst/>
          </a:prstGeom>
        </p:spPr>
        <p:txBody>
          <a:bodyPr vert="horz" wrap="square" lIns="0" tIns="12065" rIns="0" bIns="0" rtlCol="0">
            <a:spAutoFit/>
          </a:bodyPr>
          <a:lstStyle/>
          <a:p>
            <a:pPr marL="12700" marR="5080">
              <a:lnSpc>
                <a:spcPct val="108400"/>
              </a:lnSpc>
              <a:spcBef>
                <a:spcPts val="95"/>
              </a:spcBef>
            </a:pPr>
            <a:r>
              <a:rPr sz="4400" spc="180" dirty="0">
                <a:solidFill>
                  <a:srgbClr val="A1562E"/>
                </a:solidFill>
                <a:latin typeface="Lucida Sans Unicode"/>
                <a:cs typeface="Lucida Sans Unicode"/>
              </a:rPr>
              <a:t>The</a:t>
            </a:r>
            <a:r>
              <a:rPr sz="4400" spc="-300" dirty="0">
                <a:solidFill>
                  <a:srgbClr val="A1562E"/>
                </a:solidFill>
                <a:latin typeface="Lucida Sans Unicode"/>
                <a:cs typeface="Lucida Sans Unicode"/>
              </a:rPr>
              <a:t> </a:t>
            </a:r>
            <a:r>
              <a:rPr sz="4400" spc="229" dirty="0">
                <a:solidFill>
                  <a:srgbClr val="A1562E"/>
                </a:solidFill>
                <a:latin typeface="Lucida Sans Unicode"/>
                <a:cs typeface="Lucida Sans Unicode"/>
              </a:rPr>
              <a:t>Discrete</a:t>
            </a:r>
            <a:r>
              <a:rPr sz="4400" spc="-295" dirty="0">
                <a:solidFill>
                  <a:srgbClr val="A1562E"/>
                </a:solidFill>
                <a:latin typeface="Lucida Sans Unicode"/>
                <a:cs typeface="Lucida Sans Unicode"/>
              </a:rPr>
              <a:t> </a:t>
            </a:r>
            <a:r>
              <a:rPr sz="4400" spc="140" dirty="0">
                <a:solidFill>
                  <a:srgbClr val="A1562E"/>
                </a:solidFill>
                <a:latin typeface="Lucida Sans Unicode"/>
                <a:cs typeface="Lucida Sans Unicode"/>
              </a:rPr>
              <a:t>Fourier</a:t>
            </a:r>
            <a:r>
              <a:rPr sz="4400" spc="-295" dirty="0">
                <a:solidFill>
                  <a:srgbClr val="A1562E"/>
                </a:solidFill>
                <a:latin typeface="Lucida Sans Unicode"/>
                <a:cs typeface="Lucida Sans Unicode"/>
              </a:rPr>
              <a:t> </a:t>
            </a:r>
            <a:r>
              <a:rPr sz="4400" spc="190" dirty="0">
                <a:solidFill>
                  <a:srgbClr val="A1562E"/>
                </a:solidFill>
                <a:latin typeface="Lucida Sans Unicode"/>
                <a:cs typeface="Lucida Sans Unicode"/>
              </a:rPr>
              <a:t>Transform</a:t>
            </a:r>
            <a:r>
              <a:rPr sz="4400" spc="-300" dirty="0">
                <a:solidFill>
                  <a:srgbClr val="A1562E"/>
                </a:solidFill>
                <a:latin typeface="Lucida Sans Unicode"/>
                <a:cs typeface="Lucida Sans Unicode"/>
              </a:rPr>
              <a:t> </a:t>
            </a:r>
            <a:r>
              <a:rPr sz="4400" spc="210" dirty="0">
                <a:solidFill>
                  <a:srgbClr val="A1562E"/>
                </a:solidFill>
                <a:latin typeface="Lucida Sans Unicode"/>
                <a:cs typeface="Lucida Sans Unicode"/>
              </a:rPr>
              <a:t>(DFT)</a:t>
            </a:r>
            <a:r>
              <a:rPr sz="4400" spc="-295" dirty="0">
                <a:solidFill>
                  <a:srgbClr val="A1562E"/>
                </a:solidFill>
                <a:latin typeface="Lucida Sans Unicode"/>
                <a:cs typeface="Lucida Sans Unicode"/>
              </a:rPr>
              <a:t> </a:t>
            </a:r>
            <a:r>
              <a:rPr sz="4400" spc="160" dirty="0">
                <a:solidFill>
                  <a:srgbClr val="A1562E"/>
                </a:solidFill>
                <a:latin typeface="Lucida Sans Unicode"/>
                <a:cs typeface="Lucida Sans Unicode"/>
              </a:rPr>
              <a:t>allows</a:t>
            </a:r>
            <a:r>
              <a:rPr sz="4400" spc="-295" dirty="0">
                <a:solidFill>
                  <a:srgbClr val="A1562E"/>
                </a:solidFill>
                <a:latin typeface="Lucida Sans Unicode"/>
                <a:cs typeface="Lucida Sans Unicode"/>
              </a:rPr>
              <a:t> </a:t>
            </a:r>
            <a:r>
              <a:rPr sz="4400" spc="160" dirty="0">
                <a:solidFill>
                  <a:srgbClr val="A1562E"/>
                </a:solidFill>
                <a:latin typeface="Lucida Sans Unicode"/>
                <a:cs typeface="Lucida Sans Unicode"/>
              </a:rPr>
              <a:t>us </a:t>
            </a:r>
            <a:r>
              <a:rPr sz="4400" spc="165" dirty="0">
                <a:solidFill>
                  <a:srgbClr val="A1562E"/>
                </a:solidFill>
                <a:latin typeface="Lucida Sans Unicode"/>
                <a:cs typeface="Lucida Sans Unicode"/>
              </a:rPr>
              <a:t> </a:t>
            </a:r>
            <a:r>
              <a:rPr sz="4400" spc="250" dirty="0">
                <a:solidFill>
                  <a:srgbClr val="A1562E"/>
                </a:solidFill>
                <a:latin typeface="Lucida Sans Unicode"/>
                <a:cs typeface="Lucida Sans Unicode"/>
              </a:rPr>
              <a:t>to</a:t>
            </a:r>
            <a:r>
              <a:rPr sz="4400" spc="-305" dirty="0">
                <a:solidFill>
                  <a:srgbClr val="A1562E"/>
                </a:solidFill>
                <a:latin typeface="Lucida Sans Unicode"/>
                <a:cs typeface="Lucida Sans Unicode"/>
              </a:rPr>
              <a:t> </a:t>
            </a:r>
            <a:r>
              <a:rPr sz="4400" spc="155" dirty="0">
                <a:solidFill>
                  <a:srgbClr val="A1562E"/>
                </a:solidFill>
                <a:latin typeface="Lucida Sans Unicode"/>
                <a:cs typeface="Lucida Sans Unicode"/>
              </a:rPr>
              <a:t>analyze</a:t>
            </a:r>
            <a:r>
              <a:rPr sz="4400" spc="-300" dirty="0">
                <a:solidFill>
                  <a:srgbClr val="A1562E"/>
                </a:solidFill>
                <a:latin typeface="Lucida Sans Unicode"/>
                <a:cs typeface="Lucida Sans Unicode"/>
              </a:rPr>
              <a:t> </a:t>
            </a:r>
            <a:r>
              <a:rPr sz="4400" spc="285" dirty="0">
                <a:solidFill>
                  <a:srgbClr val="A1562E"/>
                </a:solidFill>
                <a:latin typeface="Lucida Sans Unicode"/>
                <a:cs typeface="Lucida Sans Unicode"/>
              </a:rPr>
              <a:t>the</a:t>
            </a:r>
            <a:r>
              <a:rPr sz="4400" spc="-300" dirty="0">
                <a:solidFill>
                  <a:srgbClr val="A1562E"/>
                </a:solidFill>
                <a:latin typeface="Lucida Sans Unicode"/>
                <a:cs typeface="Lucida Sans Unicode"/>
              </a:rPr>
              <a:t> </a:t>
            </a:r>
            <a:r>
              <a:rPr sz="4400" spc="275" dirty="0">
                <a:solidFill>
                  <a:srgbClr val="A1562E"/>
                </a:solidFill>
                <a:latin typeface="Lucida Sans Unicode"/>
                <a:cs typeface="Lucida Sans Unicode"/>
              </a:rPr>
              <a:t>frequency</a:t>
            </a:r>
            <a:r>
              <a:rPr sz="4400" spc="-300" dirty="0">
                <a:solidFill>
                  <a:srgbClr val="A1562E"/>
                </a:solidFill>
                <a:latin typeface="Lucida Sans Unicode"/>
                <a:cs typeface="Lucida Sans Unicode"/>
              </a:rPr>
              <a:t> </a:t>
            </a:r>
            <a:r>
              <a:rPr sz="4400" spc="295" dirty="0">
                <a:solidFill>
                  <a:srgbClr val="A1562E"/>
                </a:solidFill>
                <a:latin typeface="Lucida Sans Unicode"/>
                <a:cs typeface="Lucida Sans Unicode"/>
              </a:rPr>
              <a:t>content</a:t>
            </a:r>
            <a:r>
              <a:rPr sz="4400" spc="-300" dirty="0">
                <a:solidFill>
                  <a:srgbClr val="A1562E"/>
                </a:solidFill>
                <a:latin typeface="Lucida Sans Unicode"/>
                <a:cs typeface="Lucida Sans Unicode"/>
              </a:rPr>
              <a:t> </a:t>
            </a:r>
            <a:r>
              <a:rPr sz="4400" spc="220" dirty="0">
                <a:solidFill>
                  <a:srgbClr val="A1562E"/>
                </a:solidFill>
                <a:latin typeface="Lucida Sans Unicode"/>
                <a:cs typeface="Lucida Sans Unicode"/>
              </a:rPr>
              <a:t>of</a:t>
            </a:r>
            <a:r>
              <a:rPr sz="4400" spc="-300" dirty="0">
                <a:solidFill>
                  <a:srgbClr val="A1562E"/>
                </a:solidFill>
                <a:latin typeface="Lucida Sans Unicode"/>
                <a:cs typeface="Lucida Sans Unicode"/>
              </a:rPr>
              <a:t> </a:t>
            </a:r>
            <a:r>
              <a:rPr sz="4400" spc="315" dirty="0">
                <a:solidFill>
                  <a:srgbClr val="A1562E"/>
                </a:solidFill>
                <a:latin typeface="Lucida Sans Unicode"/>
                <a:cs typeface="Lucida Sans Unicode"/>
              </a:rPr>
              <a:t>a</a:t>
            </a:r>
            <a:r>
              <a:rPr sz="4400" spc="-300" dirty="0">
                <a:solidFill>
                  <a:srgbClr val="A1562E"/>
                </a:solidFill>
                <a:latin typeface="Lucida Sans Unicode"/>
                <a:cs typeface="Lucida Sans Unicode"/>
              </a:rPr>
              <a:t> </a:t>
            </a:r>
            <a:r>
              <a:rPr sz="4400" spc="175" dirty="0">
                <a:solidFill>
                  <a:srgbClr val="A1562E"/>
                </a:solidFill>
                <a:latin typeface="Lucida Sans Unicode"/>
                <a:cs typeface="Lucida Sans Unicode"/>
              </a:rPr>
              <a:t>discrete- </a:t>
            </a:r>
            <a:r>
              <a:rPr sz="4400" spc="-1375" dirty="0">
                <a:solidFill>
                  <a:srgbClr val="A1562E"/>
                </a:solidFill>
                <a:latin typeface="Lucida Sans Unicode"/>
                <a:cs typeface="Lucida Sans Unicode"/>
              </a:rPr>
              <a:t> </a:t>
            </a:r>
            <a:r>
              <a:rPr sz="4400" spc="240" dirty="0">
                <a:solidFill>
                  <a:srgbClr val="A1562E"/>
                </a:solidFill>
                <a:latin typeface="Lucida Sans Unicode"/>
                <a:cs typeface="Lucida Sans Unicode"/>
              </a:rPr>
              <a:t>time </a:t>
            </a:r>
            <a:r>
              <a:rPr sz="4400" spc="65" dirty="0">
                <a:solidFill>
                  <a:srgbClr val="A1562E"/>
                </a:solidFill>
                <a:latin typeface="Lucida Sans Unicode"/>
                <a:cs typeface="Lucida Sans Unicode"/>
              </a:rPr>
              <a:t>signal. </a:t>
            </a:r>
            <a:r>
              <a:rPr sz="4400" spc="325" dirty="0">
                <a:solidFill>
                  <a:srgbClr val="A1562E"/>
                </a:solidFill>
                <a:latin typeface="Lucida Sans Unicode"/>
                <a:cs typeface="Lucida Sans Unicode"/>
              </a:rPr>
              <a:t>By </a:t>
            </a:r>
            <a:r>
              <a:rPr sz="4400" spc="210" dirty="0">
                <a:solidFill>
                  <a:srgbClr val="A1562E"/>
                </a:solidFill>
                <a:latin typeface="Lucida Sans Unicode"/>
                <a:cs typeface="Lucida Sans Unicode"/>
              </a:rPr>
              <a:t>calculating </a:t>
            </a:r>
            <a:r>
              <a:rPr sz="4400" spc="285" dirty="0">
                <a:solidFill>
                  <a:srgbClr val="A1562E"/>
                </a:solidFill>
                <a:latin typeface="Lucida Sans Unicode"/>
                <a:cs typeface="Lucida Sans Unicode"/>
              </a:rPr>
              <a:t>the </a:t>
            </a:r>
            <a:r>
              <a:rPr sz="4400" spc="60" dirty="0">
                <a:solidFill>
                  <a:srgbClr val="A1562E"/>
                </a:solidFill>
                <a:latin typeface="Lucida Sans Unicode"/>
                <a:cs typeface="Lucida Sans Unicode"/>
              </a:rPr>
              <a:t>DFT </a:t>
            </a:r>
            <a:r>
              <a:rPr sz="4400" spc="220" dirty="0">
                <a:solidFill>
                  <a:srgbClr val="A1562E"/>
                </a:solidFill>
                <a:latin typeface="Lucida Sans Unicode"/>
                <a:cs typeface="Lucida Sans Unicode"/>
              </a:rPr>
              <a:t>of </a:t>
            </a:r>
            <a:r>
              <a:rPr sz="4400" spc="315" dirty="0">
                <a:solidFill>
                  <a:srgbClr val="A1562E"/>
                </a:solidFill>
                <a:latin typeface="Lucida Sans Unicode"/>
                <a:cs typeface="Lucida Sans Unicode"/>
              </a:rPr>
              <a:t>a </a:t>
            </a:r>
            <a:r>
              <a:rPr sz="4400" spc="80" dirty="0">
                <a:solidFill>
                  <a:srgbClr val="A1562E"/>
                </a:solidFill>
                <a:latin typeface="Lucida Sans Unicode"/>
                <a:cs typeface="Lucida Sans Unicode"/>
              </a:rPr>
              <a:t>signal, </a:t>
            </a:r>
            <a:r>
              <a:rPr sz="4400" spc="-1380" dirty="0">
                <a:solidFill>
                  <a:srgbClr val="A1562E"/>
                </a:solidFill>
                <a:latin typeface="Lucida Sans Unicode"/>
                <a:cs typeface="Lucida Sans Unicode"/>
              </a:rPr>
              <a:t> </a:t>
            </a:r>
            <a:r>
              <a:rPr sz="4400" spc="405" dirty="0">
                <a:solidFill>
                  <a:srgbClr val="A1562E"/>
                </a:solidFill>
                <a:latin typeface="Lucida Sans Unicode"/>
                <a:cs typeface="Lucida Sans Unicode"/>
              </a:rPr>
              <a:t>we</a:t>
            </a:r>
            <a:r>
              <a:rPr sz="4400" spc="-295" dirty="0">
                <a:solidFill>
                  <a:srgbClr val="A1562E"/>
                </a:solidFill>
                <a:latin typeface="Lucida Sans Unicode"/>
                <a:cs typeface="Lucida Sans Unicode"/>
              </a:rPr>
              <a:t> </a:t>
            </a:r>
            <a:r>
              <a:rPr sz="4400" spc="345" dirty="0">
                <a:solidFill>
                  <a:srgbClr val="A1562E"/>
                </a:solidFill>
                <a:latin typeface="Lucida Sans Unicode"/>
                <a:cs typeface="Lucida Sans Unicode"/>
              </a:rPr>
              <a:t>can</a:t>
            </a:r>
            <a:r>
              <a:rPr sz="4400" spc="-295" dirty="0">
                <a:solidFill>
                  <a:srgbClr val="A1562E"/>
                </a:solidFill>
                <a:latin typeface="Lucida Sans Unicode"/>
                <a:cs typeface="Lucida Sans Unicode"/>
              </a:rPr>
              <a:t> </a:t>
            </a:r>
            <a:r>
              <a:rPr sz="4400" spc="250" dirty="0">
                <a:solidFill>
                  <a:srgbClr val="A1562E"/>
                </a:solidFill>
                <a:latin typeface="Lucida Sans Unicode"/>
                <a:cs typeface="Lucida Sans Unicode"/>
              </a:rPr>
              <a:t>determine</a:t>
            </a:r>
            <a:r>
              <a:rPr sz="4400" spc="-295" dirty="0">
                <a:solidFill>
                  <a:srgbClr val="A1562E"/>
                </a:solidFill>
                <a:latin typeface="Lucida Sans Unicode"/>
                <a:cs typeface="Lucida Sans Unicode"/>
              </a:rPr>
              <a:t> </a:t>
            </a:r>
            <a:r>
              <a:rPr sz="4400" spc="285" dirty="0">
                <a:solidFill>
                  <a:srgbClr val="A1562E"/>
                </a:solidFill>
                <a:latin typeface="Lucida Sans Unicode"/>
                <a:cs typeface="Lucida Sans Unicode"/>
              </a:rPr>
              <a:t>the</a:t>
            </a:r>
            <a:r>
              <a:rPr sz="4400" spc="-295" dirty="0">
                <a:solidFill>
                  <a:srgbClr val="A1562E"/>
                </a:solidFill>
                <a:latin typeface="Lucida Sans Unicode"/>
                <a:cs typeface="Lucida Sans Unicode"/>
              </a:rPr>
              <a:t> </a:t>
            </a:r>
            <a:r>
              <a:rPr sz="4400" spc="210" dirty="0">
                <a:solidFill>
                  <a:srgbClr val="A1562E"/>
                </a:solidFill>
                <a:latin typeface="Lucida Sans Unicode"/>
                <a:cs typeface="Lucida Sans Unicode"/>
              </a:rPr>
              <a:t>amplitude</a:t>
            </a:r>
            <a:r>
              <a:rPr sz="4400" spc="-295" dirty="0">
                <a:solidFill>
                  <a:srgbClr val="A1562E"/>
                </a:solidFill>
                <a:latin typeface="Lucida Sans Unicode"/>
                <a:cs typeface="Lucida Sans Unicode"/>
              </a:rPr>
              <a:t> </a:t>
            </a:r>
            <a:r>
              <a:rPr sz="4400" spc="260" dirty="0">
                <a:solidFill>
                  <a:srgbClr val="A1562E"/>
                </a:solidFill>
                <a:latin typeface="Lucida Sans Unicode"/>
                <a:cs typeface="Lucida Sans Unicode"/>
              </a:rPr>
              <a:t>and</a:t>
            </a:r>
            <a:r>
              <a:rPr sz="4400" spc="-295" dirty="0">
                <a:solidFill>
                  <a:srgbClr val="A1562E"/>
                </a:solidFill>
                <a:latin typeface="Lucida Sans Unicode"/>
                <a:cs typeface="Lucida Sans Unicode"/>
              </a:rPr>
              <a:t> </a:t>
            </a:r>
            <a:r>
              <a:rPr sz="4400" spc="260" dirty="0">
                <a:solidFill>
                  <a:srgbClr val="A1562E"/>
                </a:solidFill>
                <a:latin typeface="Lucida Sans Unicode"/>
                <a:cs typeface="Lucida Sans Unicode"/>
              </a:rPr>
              <a:t>phase</a:t>
            </a:r>
            <a:r>
              <a:rPr sz="4400" spc="-295" dirty="0">
                <a:solidFill>
                  <a:srgbClr val="A1562E"/>
                </a:solidFill>
                <a:latin typeface="Lucida Sans Unicode"/>
                <a:cs typeface="Lucida Sans Unicode"/>
              </a:rPr>
              <a:t> </a:t>
            </a:r>
            <a:r>
              <a:rPr sz="4400" spc="220" dirty="0">
                <a:solidFill>
                  <a:srgbClr val="A1562E"/>
                </a:solidFill>
                <a:latin typeface="Lucida Sans Unicode"/>
                <a:cs typeface="Lucida Sans Unicode"/>
              </a:rPr>
              <a:t>of </a:t>
            </a:r>
            <a:r>
              <a:rPr sz="4400" spc="225" dirty="0">
                <a:solidFill>
                  <a:srgbClr val="A1562E"/>
                </a:solidFill>
                <a:latin typeface="Lucida Sans Unicode"/>
                <a:cs typeface="Lucida Sans Unicode"/>
              </a:rPr>
              <a:t> </a:t>
            </a:r>
            <a:r>
              <a:rPr sz="4400" spc="350" dirty="0">
                <a:solidFill>
                  <a:srgbClr val="A1562E"/>
                </a:solidFill>
                <a:latin typeface="Lucida Sans Unicode"/>
                <a:cs typeface="Lucida Sans Unicode"/>
              </a:rPr>
              <a:t>each </a:t>
            </a:r>
            <a:r>
              <a:rPr sz="4400" spc="275" dirty="0">
                <a:solidFill>
                  <a:srgbClr val="A1562E"/>
                </a:solidFill>
                <a:latin typeface="Lucida Sans Unicode"/>
                <a:cs typeface="Lucida Sans Unicode"/>
              </a:rPr>
              <a:t>frequency </a:t>
            </a:r>
            <a:r>
              <a:rPr sz="4400" spc="290" dirty="0">
                <a:solidFill>
                  <a:srgbClr val="A1562E"/>
                </a:solidFill>
                <a:latin typeface="Lucida Sans Unicode"/>
                <a:cs typeface="Lucida Sans Unicode"/>
              </a:rPr>
              <a:t>component </a:t>
            </a:r>
            <a:r>
              <a:rPr sz="4400" spc="254" dirty="0">
                <a:solidFill>
                  <a:srgbClr val="A1562E"/>
                </a:solidFill>
                <a:latin typeface="Lucida Sans Unicode"/>
                <a:cs typeface="Lucida Sans Unicode"/>
              </a:rPr>
              <a:t>present </a:t>
            </a:r>
            <a:r>
              <a:rPr sz="4400" spc="45" dirty="0">
                <a:solidFill>
                  <a:srgbClr val="A1562E"/>
                </a:solidFill>
                <a:latin typeface="Lucida Sans Unicode"/>
                <a:cs typeface="Lucida Sans Unicode"/>
              </a:rPr>
              <a:t>in </a:t>
            </a:r>
            <a:r>
              <a:rPr sz="4400" spc="285" dirty="0">
                <a:solidFill>
                  <a:srgbClr val="A1562E"/>
                </a:solidFill>
                <a:latin typeface="Lucida Sans Unicode"/>
                <a:cs typeface="Lucida Sans Unicode"/>
              </a:rPr>
              <a:t>the </a:t>
            </a:r>
            <a:r>
              <a:rPr sz="4400" spc="290" dirty="0">
                <a:solidFill>
                  <a:srgbClr val="A1562E"/>
                </a:solidFill>
                <a:latin typeface="Lucida Sans Unicode"/>
                <a:cs typeface="Lucida Sans Unicode"/>
              </a:rPr>
              <a:t> </a:t>
            </a:r>
            <a:r>
              <a:rPr sz="4400" spc="65" dirty="0">
                <a:solidFill>
                  <a:srgbClr val="A1562E"/>
                </a:solidFill>
                <a:latin typeface="Lucida Sans Unicode"/>
                <a:cs typeface="Lucida Sans Unicode"/>
              </a:rPr>
              <a:t>signal.</a:t>
            </a:r>
            <a:endParaRPr sz="4400" dirty="0">
              <a:latin typeface="Lucida Sans Unicode"/>
              <a:cs typeface="Lucida Sans Unicode"/>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5063470" y="0"/>
            <a:ext cx="3224530" cy="10287000"/>
            <a:chOff x="15040967" y="2"/>
            <a:chExt cx="3224530" cy="10287000"/>
          </a:xfrm>
          <a:solidFill>
            <a:schemeClr val="accent4">
              <a:lumMod val="40000"/>
              <a:lumOff val="60000"/>
            </a:schemeClr>
          </a:solidFill>
        </p:grpSpPr>
        <p:sp>
          <p:nvSpPr>
            <p:cNvPr id="3" name="object 3"/>
            <p:cNvSpPr/>
            <p:nvPr/>
          </p:nvSpPr>
          <p:spPr>
            <a:xfrm>
              <a:off x="15765718" y="2"/>
              <a:ext cx="2499995" cy="10287000"/>
            </a:xfrm>
            <a:custGeom>
              <a:avLst/>
              <a:gdLst/>
              <a:ahLst/>
              <a:cxnLst/>
              <a:rect l="l" t="t" r="r" b="b"/>
              <a:pathLst>
                <a:path w="2499994" h="10287000">
                  <a:moveTo>
                    <a:pt x="0" y="0"/>
                  </a:moveTo>
                  <a:lnTo>
                    <a:pt x="2499419" y="0"/>
                  </a:lnTo>
                  <a:lnTo>
                    <a:pt x="2499419" y="10287000"/>
                  </a:lnTo>
                  <a:lnTo>
                    <a:pt x="0" y="10287000"/>
                  </a:lnTo>
                  <a:lnTo>
                    <a:pt x="0" y="0"/>
                  </a:lnTo>
                  <a:close/>
                </a:path>
              </a:pathLst>
            </a:custGeom>
            <a:grpFill/>
          </p:spPr>
          <p:txBody>
            <a:bodyPr wrap="square" lIns="0" tIns="0" rIns="0" bIns="0" rtlCol="0"/>
            <a:lstStyle/>
            <a:p>
              <a:endParaRPr/>
            </a:p>
          </p:txBody>
        </p:sp>
        <p:sp>
          <p:nvSpPr>
            <p:cNvPr id="4" name="object 4"/>
            <p:cNvSpPr/>
            <p:nvPr/>
          </p:nvSpPr>
          <p:spPr>
            <a:xfrm>
              <a:off x="15040967" y="1181102"/>
              <a:ext cx="1447800" cy="1447800"/>
            </a:xfrm>
            <a:custGeom>
              <a:avLst/>
              <a:gdLst/>
              <a:ahLst/>
              <a:cxnLst/>
              <a:rect l="l" t="t" r="r" b="b"/>
              <a:pathLst>
                <a:path w="1447800" h="1447800">
                  <a:moveTo>
                    <a:pt x="723840" y="1447799"/>
                  </a:moveTo>
                  <a:lnTo>
                    <a:pt x="701241" y="1385407"/>
                  </a:lnTo>
                  <a:lnTo>
                    <a:pt x="675037" y="1324441"/>
                  </a:lnTo>
                  <a:lnTo>
                    <a:pt x="645324" y="1265107"/>
                  </a:lnTo>
                  <a:lnTo>
                    <a:pt x="612198" y="1207608"/>
                  </a:lnTo>
                  <a:lnTo>
                    <a:pt x="575775" y="1152139"/>
                  </a:lnTo>
                  <a:lnTo>
                    <a:pt x="536176" y="1098891"/>
                  </a:lnTo>
                  <a:lnTo>
                    <a:pt x="493540" y="1048041"/>
                  </a:lnTo>
                  <a:lnTo>
                    <a:pt x="448007" y="999769"/>
                  </a:lnTo>
                  <a:lnTo>
                    <a:pt x="399738" y="954232"/>
                  </a:lnTo>
                  <a:lnTo>
                    <a:pt x="348893" y="911592"/>
                  </a:lnTo>
                  <a:lnTo>
                    <a:pt x="295648" y="871988"/>
                  </a:lnTo>
                  <a:lnTo>
                    <a:pt x="240181" y="835561"/>
                  </a:lnTo>
                  <a:lnTo>
                    <a:pt x="182686" y="802430"/>
                  </a:lnTo>
                  <a:lnTo>
                    <a:pt x="123353" y="772712"/>
                  </a:lnTo>
                  <a:lnTo>
                    <a:pt x="62390" y="746503"/>
                  </a:lnTo>
                  <a:lnTo>
                    <a:pt x="0" y="723899"/>
                  </a:lnTo>
                  <a:lnTo>
                    <a:pt x="31373" y="713048"/>
                  </a:lnTo>
                  <a:lnTo>
                    <a:pt x="93050" y="688642"/>
                  </a:lnTo>
                  <a:lnTo>
                    <a:pt x="153249" y="660655"/>
                  </a:lnTo>
                  <a:lnTo>
                    <a:pt x="211663" y="629230"/>
                  </a:lnTo>
                  <a:lnTo>
                    <a:pt x="268192" y="594421"/>
                  </a:lnTo>
                  <a:lnTo>
                    <a:pt x="322548" y="556406"/>
                  </a:lnTo>
                  <a:lnTo>
                    <a:pt x="374638" y="515249"/>
                  </a:lnTo>
                  <a:lnTo>
                    <a:pt x="424195" y="471161"/>
                  </a:lnTo>
                  <a:lnTo>
                    <a:pt x="471136" y="424216"/>
                  </a:lnTo>
                  <a:lnTo>
                    <a:pt x="515220" y="374655"/>
                  </a:lnTo>
                  <a:lnTo>
                    <a:pt x="556373" y="322562"/>
                  </a:lnTo>
                  <a:lnTo>
                    <a:pt x="594383" y="268203"/>
                  </a:lnTo>
                  <a:lnTo>
                    <a:pt x="629188" y="211671"/>
                  </a:lnTo>
                  <a:lnTo>
                    <a:pt x="660608" y="153254"/>
                  </a:lnTo>
                  <a:lnTo>
                    <a:pt x="688590" y="93053"/>
                  </a:lnTo>
                  <a:lnTo>
                    <a:pt x="712991" y="31374"/>
                  </a:lnTo>
                  <a:lnTo>
                    <a:pt x="723840" y="0"/>
                  </a:lnTo>
                  <a:lnTo>
                    <a:pt x="734688" y="31373"/>
                  </a:lnTo>
                  <a:lnTo>
                    <a:pt x="759088" y="93052"/>
                  </a:lnTo>
                  <a:lnTo>
                    <a:pt x="787070" y="153253"/>
                  </a:lnTo>
                  <a:lnTo>
                    <a:pt x="818488" y="211669"/>
                  </a:lnTo>
                  <a:lnTo>
                    <a:pt x="853292" y="268201"/>
                  </a:lnTo>
                  <a:lnTo>
                    <a:pt x="891302" y="322559"/>
                  </a:lnTo>
                  <a:lnTo>
                    <a:pt x="932453" y="374652"/>
                  </a:lnTo>
                  <a:lnTo>
                    <a:pt x="976536" y="424213"/>
                  </a:lnTo>
                  <a:lnTo>
                    <a:pt x="1023476" y="471157"/>
                  </a:lnTo>
                  <a:lnTo>
                    <a:pt x="1073032" y="515246"/>
                  </a:lnTo>
                  <a:lnTo>
                    <a:pt x="1125120" y="556403"/>
                  </a:lnTo>
                  <a:lnTo>
                    <a:pt x="1179474" y="594418"/>
                  </a:lnTo>
                  <a:lnTo>
                    <a:pt x="1236002" y="629228"/>
                  </a:lnTo>
                  <a:lnTo>
                    <a:pt x="1294415" y="660653"/>
                  </a:lnTo>
                  <a:lnTo>
                    <a:pt x="1354613" y="688641"/>
                  </a:lnTo>
                  <a:lnTo>
                    <a:pt x="1416289" y="713048"/>
                  </a:lnTo>
                  <a:lnTo>
                    <a:pt x="1447662" y="723899"/>
                  </a:lnTo>
                  <a:lnTo>
                    <a:pt x="1416289" y="734751"/>
                  </a:lnTo>
                  <a:lnTo>
                    <a:pt x="1354613" y="759158"/>
                  </a:lnTo>
                  <a:lnTo>
                    <a:pt x="1294415" y="787146"/>
                  </a:lnTo>
                  <a:lnTo>
                    <a:pt x="1236002" y="818571"/>
                  </a:lnTo>
                  <a:lnTo>
                    <a:pt x="1179474" y="853381"/>
                  </a:lnTo>
                  <a:lnTo>
                    <a:pt x="1125120" y="891396"/>
                  </a:lnTo>
                  <a:lnTo>
                    <a:pt x="1073032" y="932553"/>
                  </a:lnTo>
                  <a:lnTo>
                    <a:pt x="1023476" y="976642"/>
                  </a:lnTo>
                  <a:lnTo>
                    <a:pt x="976536" y="1023586"/>
                  </a:lnTo>
                  <a:lnTo>
                    <a:pt x="932453" y="1073147"/>
                  </a:lnTo>
                  <a:lnTo>
                    <a:pt x="891302" y="1125240"/>
                  </a:lnTo>
                  <a:lnTo>
                    <a:pt x="853292" y="1179599"/>
                  </a:lnTo>
                  <a:lnTo>
                    <a:pt x="818489" y="1236130"/>
                  </a:lnTo>
                  <a:lnTo>
                    <a:pt x="787070" y="1294546"/>
                  </a:lnTo>
                  <a:lnTo>
                    <a:pt x="759088" y="1354747"/>
                  </a:lnTo>
                  <a:lnTo>
                    <a:pt x="734688" y="1416426"/>
                  </a:lnTo>
                  <a:lnTo>
                    <a:pt x="723840" y="1447799"/>
                  </a:lnTo>
                  <a:close/>
                </a:path>
              </a:pathLst>
            </a:custGeom>
            <a:solidFill>
              <a:schemeClr val="accent4">
                <a:lumMod val="20000"/>
                <a:lumOff val="80000"/>
              </a:schemeClr>
            </a:solidFill>
          </p:spPr>
          <p:txBody>
            <a:bodyPr wrap="square" lIns="0" tIns="0" rIns="0" bIns="0" rtlCol="0"/>
            <a:lstStyle/>
            <a:p>
              <a:endParaRPr dirty="0"/>
            </a:p>
          </p:txBody>
        </p:sp>
      </p:grpSp>
      <p:sp>
        <p:nvSpPr>
          <p:cNvPr id="5" name="object 5"/>
          <p:cNvSpPr txBox="1">
            <a:spLocks noGrp="1"/>
          </p:cNvSpPr>
          <p:nvPr>
            <p:ph type="title"/>
          </p:nvPr>
        </p:nvSpPr>
        <p:spPr>
          <a:xfrm>
            <a:off x="1016000" y="939803"/>
            <a:ext cx="9559925" cy="1854200"/>
          </a:xfrm>
          <a:prstGeom prst="rect">
            <a:avLst/>
          </a:prstGeom>
        </p:spPr>
        <p:txBody>
          <a:bodyPr vert="horz" wrap="square" lIns="0" tIns="12700" rIns="0" bIns="0" rtlCol="0">
            <a:spAutoFit/>
          </a:bodyPr>
          <a:lstStyle/>
          <a:p>
            <a:pPr marL="12700">
              <a:lnSpc>
                <a:spcPct val="100000"/>
              </a:lnSpc>
              <a:spcBef>
                <a:spcPts val="100"/>
              </a:spcBef>
            </a:pPr>
            <a:r>
              <a:rPr sz="12000" b="1" spc="655" dirty="0">
                <a:solidFill>
                  <a:schemeClr val="accent4">
                    <a:lumMod val="75000"/>
                  </a:schemeClr>
                </a:solidFill>
                <a:latin typeface="Trebuchet MS"/>
                <a:cs typeface="Trebuchet MS"/>
              </a:rPr>
              <a:t>What</a:t>
            </a:r>
            <a:r>
              <a:rPr sz="12000" b="1" spc="245" dirty="0">
                <a:solidFill>
                  <a:schemeClr val="accent4">
                    <a:lumMod val="75000"/>
                  </a:schemeClr>
                </a:solidFill>
                <a:latin typeface="Trebuchet MS"/>
                <a:cs typeface="Trebuchet MS"/>
              </a:rPr>
              <a:t> </a:t>
            </a:r>
            <a:r>
              <a:rPr sz="12000" b="1" spc="10" dirty="0">
                <a:solidFill>
                  <a:schemeClr val="accent4">
                    <a:lumMod val="75000"/>
                  </a:schemeClr>
                </a:solidFill>
                <a:latin typeface="Trebuchet MS"/>
                <a:cs typeface="Trebuchet MS"/>
              </a:rPr>
              <a:t>is</a:t>
            </a:r>
            <a:r>
              <a:rPr sz="12000" b="1" spc="245" dirty="0">
                <a:solidFill>
                  <a:schemeClr val="accent4">
                    <a:lumMod val="75000"/>
                  </a:schemeClr>
                </a:solidFill>
                <a:latin typeface="Trebuchet MS"/>
                <a:cs typeface="Trebuchet MS"/>
              </a:rPr>
              <a:t> </a:t>
            </a:r>
            <a:r>
              <a:rPr sz="12000" b="1" spc="95" dirty="0">
                <a:solidFill>
                  <a:schemeClr val="accent4">
                    <a:lumMod val="75000"/>
                  </a:schemeClr>
                </a:solidFill>
                <a:latin typeface="Trebuchet MS"/>
                <a:cs typeface="Trebuchet MS"/>
              </a:rPr>
              <a:t>FFT?</a:t>
            </a:r>
            <a:endParaRPr sz="12000" dirty="0">
              <a:solidFill>
                <a:schemeClr val="accent4">
                  <a:lumMod val="75000"/>
                </a:schemeClr>
              </a:solidFill>
              <a:latin typeface="Trebuchet MS"/>
              <a:cs typeface="Trebuchet MS"/>
            </a:endParaRPr>
          </a:p>
        </p:txBody>
      </p:sp>
      <p:sp>
        <p:nvSpPr>
          <p:cNvPr id="6" name="object 6"/>
          <p:cNvSpPr txBox="1"/>
          <p:nvPr/>
        </p:nvSpPr>
        <p:spPr>
          <a:xfrm>
            <a:off x="1016000" y="3914547"/>
            <a:ext cx="14033500" cy="4438015"/>
          </a:xfrm>
          <a:prstGeom prst="rect">
            <a:avLst/>
          </a:prstGeom>
        </p:spPr>
        <p:txBody>
          <a:bodyPr vert="horz" wrap="square" lIns="0" tIns="12065" rIns="0" bIns="0" rtlCol="0">
            <a:spAutoFit/>
          </a:bodyPr>
          <a:lstStyle/>
          <a:p>
            <a:pPr marL="12700" marR="5080">
              <a:lnSpc>
                <a:spcPct val="108400"/>
              </a:lnSpc>
              <a:spcBef>
                <a:spcPts val="95"/>
              </a:spcBef>
            </a:pPr>
            <a:r>
              <a:rPr sz="4450" spc="195" dirty="0">
                <a:solidFill>
                  <a:schemeClr val="accent4">
                    <a:lumMod val="75000"/>
                  </a:schemeClr>
                </a:solidFill>
                <a:latin typeface="Lucida Sans Unicode"/>
                <a:cs typeface="Lucida Sans Unicode"/>
              </a:rPr>
              <a:t>FFT(Fast </a:t>
            </a:r>
            <a:r>
              <a:rPr sz="4450" spc="140" dirty="0">
                <a:solidFill>
                  <a:schemeClr val="accent4">
                    <a:lumMod val="75000"/>
                  </a:schemeClr>
                </a:solidFill>
                <a:latin typeface="Lucida Sans Unicode"/>
                <a:cs typeface="Lucida Sans Unicode"/>
              </a:rPr>
              <a:t>Fourier </a:t>
            </a:r>
            <a:r>
              <a:rPr sz="4450" spc="215" dirty="0">
                <a:solidFill>
                  <a:schemeClr val="accent4">
                    <a:lumMod val="75000"/>
                  </a:schemeClr>
                </a:solidFill>
                <a:latin typeface="Lucida Sans Unicode"/>
                <a:cs typeface="Lucida Sans Unicode"/>
              </a:rPr>
              <a:t>Transform) </a:t>
            </a:r>
            <a:r>
              <a:rPr sz="4450" spc="45" dirty="0">
                <a:solidFill>
                  <a:schemeClr val="accent4">
                    <a:lumMod val="75000"/>
                  </a:schemeClr>
                </a:solidFill>
                <a:latin typeface="Lucida Sans Unicode"/>
                <a:cs typeface="Lucida Sans Unicode"/>
              </a:rPr>
              <a:t>is </a:t>
            </a:r>
            <a:r>
              <a:rPr sz="4450" spc="245" dirty="0">
                <a:solidFill>
                  <a:schemeClr val="accent4">
                    <a:lumMod val="75000"/>
                  </a:schemeClr>
                </a:solidFill>
                <a:latin typeface="Lucida Sans Unicode"/>
                <a:cs typeface="Lucida Sans Unicode"/>
              </a:rPr>
              <a:t>an </a:t>
            </a:r>
            <a:r>
              <a:rPr sz="4450" spc="175" dirty="0">
                <a:solidFill>
                  <a:schemeClr val="accent4">
                    <a:lumMod val="75000"/>
                  </a:schemeClr>
                </a:solidFill>
                <a:latin typeface="Lucida Sans Unicode"/>
                <a:cs typeface="Lucida Sans Unicode"/>
              </a:rPr>
              <a:t>algorithm </a:t>
            </a:r>
            <a:r>
              <a:rPr sz="4450" spc="180" dirty="0">
                <a:solidFill>
                  <a:schemeClr val="accent4">
                    <a:lumMod val="75000"/>
                  </a:schemeClr>
                </a:solidFill>
                <a:latin typeface="Lucida Sans Unicode"/>
                <a:cs typeface="Lucida Sans Unicode"/>
              </a:rPr>
              <a:t> </a:t>
            </a:r>
            <a:r>
              <a:rPr sz="4450" spc="254" dirty="0">
                <a:solidFill>
                  <a:schemeClr val="accent4">
                    <a:lumMod val="75000"/>
                  </a:schemeClr>
                </a:solidFill>
                <a:latin typeface="Lucida Sans Unicode"/>
                <a:cs typeface="Lucida Sans Unicode"/>
              </a:rPr>
              <a:t>which</a:t>
            </a:r>
            <a:r>
              <a:rPr sz="4450" spc="-300" dirty="0">
                <a:solidFill>
                  <a:schemeClr val="accent4">
                    <a:lumMod val="75000"/>
                  </a:schemeClr>
                </a:solidFill>
                <a:latin typeface="Lucida Sans Unicode"/>
                <a:cs typeface="Lucida Sans Unicode"/>
              </a:rPr>
              <a:t> </a:t>
            </a:r>
            <a:r>
              <a:rPr sz="4450" spc="45" dirty="0">
                <a:solidFill>
                  <a:schemeClr val="accent4">
                    <a:lumMod val="75000"/>
                  </a:schemeClr>
                </a:solidFill>
                <a:latin typeface="Lucida Sans Unicode"/>
                <a:cs typeface="Lucida Sans Unicode"/>
              </a:rPr>
              <a:t>is</a:t>
            </a:r>
            <a:r>
              <a:rPr sz="4450" spc="-300" dirty="0">
                <a:solidFill>
                  <a:schemeClr val="accent4">
                    <a:lumMod val="75000"/>
                  </a:schemeClr>
                </a:solidFill>
                <a:latin typeface="Lucida Sans Unicode"/>
                <a:cs typeface="Lucida Sans Unicode"/>
              </a:rPr>
              <a:t> </a:t>
            </a:r>
            <a:r>
              <a:rPr sz="4450" spc="285" dirty="0">
                <a:solidFill>
                  <a:schemeClr val="accent4">
                    <a:lumMod val="75000"/>
                  </a:schemeClr>
                </a:solidFill>
                <a:latin typeface="Lucida Sans Unicode"/>
                <a:cs typeface="Lucida Sans Unicode"/>
              </a:rPr>
              <a:t>based</a:t>
            </a:r>
            <a:r>
              <a:rPr sz="4450" spc="-295" dirty="0">
                <a:solidFill>
                  <a:schemeClr val="accent4">
                    <a:lumMod val="75000"/>
                  </a:schemeClr>
                </a:solidFill>
                <a:latin typeface="Lucida Sans Unicode"/>
                <a:cs typeface="Lucida Sans Unicode"/>
              </a:rPr>
              <a:t> </a:t>
            </a:r>
            <a:r>
              <a:rPr sz="4450" spc="185" dirty="0">
                <a:solidFill>
                  <a:schemeClr val="accent4">
                    <a:lumMod val="75000"/>
                  </a:schemeClr>
                </a:solidFill>
                <a:latin typeface="Lucida Sans Unicode"/>
                <a:cs typeface="Lucida Sans Unicode"/>
              </a:rPr>
              <a:t>on</a:t>
            </a:r>
            <a:r>
              <a:rPr sz="4450" spc="-300" dirty="0">
                <a:solidFill>
                  <a:schemeClr val="accent4">
                    <a:lumMod val="75000"/>
                  </a:schemeClr>
                </a:solidFill>
                <a:latin typeface="Lucida Sans Unicode"/>
                <a:cs typeface="Lucida Sans Unicode"/>
              </a:rPr>
              <a:t> </a:t>
            </a:r>
            <a:r>
              <a:rPr sz="4450" spc="285" dirty="0">
                <a:solidFill>
                  <a:schemeClr val="accent4">
                    <a:lumMod val="75000"/>
                  </a:schemeClr>
                </a:solidFill>
                <a:latin typeface="Lucida Sans Unicode"/>
                <a:cs typeface="Lucida Sans Unicode"/>
              </a:rPr>
              <a:t>the</a:t>
            </a:r>
            <a:r>
              <a:rPr sz="4450" spc="-295" dirty="0">
                <a:solidFill>
                  <a:schemeClr val="accent4">
                    <a:lumMod val="75000"/>
                  </a:schemeClr>
                </a:solidFill>
                <a:latin typeface="Lucida Sans Unicode"/>
                <a:cs typeface="Lucida Sans Unicode"/>
              </a:rPr>
              <a:t> </a:t>
            </a:r>
            <a:r>
              <a:rPr sz="4450" spc="170" dirty="0">
                <a:solidFill>
                  <a:schemeClr val="accent4">
                    <a:lumMod val="75000"/>
                  </a:schemeClr>
                </a:solidFill>
                <a:latin typeface="Lucida Sans Unicode"/>
                <a:cs typeface="Lucida Sans Unicode"/>
              </a:rPr>
              <a:t>principle</a:t>
            </a:r>
            <a:r>
              <a:rPr sz="4450" spc="-300" dirty="0">
                <a:solidFill>
                  <a:schemeClr val="accent4">
                    <a:lumMod val="75000"/>
                  </a:schemeClr>
                </a:solidFill>
                <a:latin typeface="Lucida Sans Unicode"/>
                <a:cs typeface="Lucida Sans Unicode"/>
              </a:rPr>
              <a:t> </a:t>
            </a:r>
            <a:r>
              <a:rPr sz="4450" spc="220" dirty="0">
                <a:solidFill>
                  <a:schemeClr val="accent4">
                    <a:lumMod val="75000"/>
                  </a:schemeClr>
                </a:solidFill>
                <a:latin typeface="Lucida Sans Unicode"/>
                <a:cs typeface="Lucida Sans Unicode"/>
              </a:rPr>
              <a:t>of</a:t>
            </a:r>
            <a:r>
              <a:rPr sz="4450" spc="-295" dirty="0">
                <a:solidFill>
                  <a:schemeClr val="accent4">
                    <a:lumMod val="75000"/>
                  </a:schemeClr>
                </a:solidFill>
                <a:latin typeface="Lucida Sans Unicode"/>
                <a:cs typeface="Lucida Sans Unicode"/>
              </a:rPr>
              <a:t> </a:t>
            </a:r>
            <a:r>
              <a:rPr sz="4450" spc="250" dirty="0">
                <a:solidFill>
                  <a:schemeClr val="accent4">
                    <a:lumMod val="75000"/>
                  </a:schemeClr>
                </a:solidFill>
                <a:latin typeface="Lucida Sans Unicode"/>
                <a:cs typeface="Lucida Sans Unicode"/>
              </a:rPr>
              <a:t>decomposing </a:t>
            </a:r>
            <a:r>
              <a:rPr sz="4450" spc="-1395" dirty="0">
                <a:solidFill>
                  <a:schemeClr val="accent4">
                    <a:lumMod val="75000"/>
                  </a:schemeClr>
                </a:solidFill>
                <a:latin typeface="Lucida Sans Unicode"/>
                <a:cs typeface="Lucida Sans Unicode"/>
              </a:rPr>
              <a:t> </a:t>
            </a:r>
            <a:r>
              <a:rPr sz="4450" spc="285" dirty="0">
                <a:solidFill>
                  <a:schemeClr val="accent4">
                    <a:lumMod val="75000"/>
                  </a:schemeClr>
                </a:solidFill>
                <a:latin typeface="Lucida Sans Unicode"/>
                <a:cs typeface="Lucida Sans Unicode"/>
              </a:rPr>
              <a:t>the </a:t>
            </a:r>
            <a:r>
              <a:rPr sz="4450" spc="254" dirty="0">
                <a:solidFill>
                  <a:schemeClr val="accent4">
                    <a:lumMod val="75000"/>
                  </a:schemeClr>
                </a:solidFill>
                <a:latin typeface="Lucida Sans Unicode"/>
                <a:cs typeface="Lucida Sans Unicode"/>
              </a:rPr>
              <a:t>computation </a:t>
            </a:r>
            <a:r>
              <a:rPr sz="4450" spc="220" dirty="0">
                <a:solidFill>
                  <a:schemeClr val="accent4">
                    <a:lumMod val="75000"/>
                  </a:schemeClr>
                </a:solidFill>
                <a:latin typeface="Lucida Sans Unicode"/>
                <a:cs typeface="Lucida Sans Unicode"/>
              </a:rPr>
              <a:t>of </a:t>
            </a:r>
            <a:r>
              <a:rPr sz="4450" spc="210" dirty="0">
                <a:solidFill>
                  <a:schemeClr val="accent4">
                    <a:lumMod val="75000"/>
                  </a:schemeClr>
                </a:solidFill>
                <a:latin typeface="Lucida Sans Unicode"/>
                <a:cs typeface="Lucida Sans Unicode"/>
              </a:rPr>
              <a:t>DFT(Discrete </a:t>
            </a:r>
            <a:r>
              <a:rPr sz="4450" spc="140" dirty="0">
                <a:solidFill>
                  <a:schemeClr val="accent4">
                    <a:lumMod val="75000"/>
                  </a:schemeClr>
                </a:solidFill>
                <a:latin typeface="Lucida Sans Unicode"/>
                <a:cs typeface="Lucida Sans Unicode"/>
              </a:rPr>
              <a:t>Fourier </a:t>
            </a:r>
            <a:r>
              <a:rPr sz="4450" spc="145" dirty="0">
                <a:solidFill>
                  <a:schemeClr val="accent4">
                    <a:lumMod val="75000"/>
                  </a:schemeClr>
                </a:solidFill>
                <a:latin typeface="Lucida Sans Unicode"/>
                <a:cs typeface="Lucida Sans Unicode"/>
              </a:rPr>
              <a:t> </a:t>
            </a:r>
            <a:r>
              <a:rPr sz="4450" spc="215" dirty="0">
                <a:solidFill>
                  <a:schemeClr val="accent4">
                    <a:lumMod val="75000"/>
                  </a:schemeClr>
                </a:solidFill>
                <a:latin typeface="Lucida Sans Unicode"/>
                <a:cs typeface="Lucida Sans Unicode"/>
              </a:rPr>
              <a:t>Transform) </a:t>
            </a:r>
            <a:r>
              <a:rPr sz="4450" spc="220" dirty="0">
                <a:solidFill>
                  <a:schemeClr val="accent4">
                    <a:lumMod val="75000"/>
                  </a:schemeClr>
                </a:solidFill>
                <a:latin typeface="Lucida Sans Unicode"/>
                <a:cs typeface="Lucida Sans Unicode"/>
              </a:rPr>
              <a:t>of </a:t>
            </a:r>
            <a:r>
              <a:rPr sz="4450" spc="315" dirty="0">
                <a:solidFill>
                  <a:schemeClr val="accent4">
                    <a:lumMod val="75000"/>
                  </a:schemeClr>
                </a:solidFill>
                <a:latin typeface="Lucida Sans Unicode"/>
                <a:cs typeface="Lucida Sans Unicode"/>
              </a:rPr>
              <a:t>a </a:t>
            </a:r>
            <a:r>
              <a:rPr sz="4450" spc="305" dirty="0">
                <a:solidFill>
                  <a:schemeClr val="accent4">
                    <a:lumMod val="75000"/>
                  </a:schemeClr>
                </a:solidFill>
                <a:latin typeface="Lucida Sans Unicode"/>
                <a:cs typeface="Lucida Sans Unicode"/>
              </a:rPr>
              <a:t>sequence </a:t>
            </a:r>
            <a:r>
              <a:rPr sz="4450" spc="220" dirty="0">
                <a:solidFill>
                  <a:schemeClr val="accent4">
                    <a:lumMod val="75000"/>
                  </a:schemeClr>
                </a:solidFill>
                <a:latin typeface="Lucida Sans Unicode"/>
                <a:cs typeface="Lucida Sans Unicode"/>
              </a:rPr>
              <a:t>of </a:t>
            </a:r>
            <a:r>
              <a:rPr sz="4450" spc="195" dirty="0">
                <a:solidFill>
                  <a:schemeClr val="accent4">
                    <a:lumMod val="75000"/>
                  </a:schemeClr>
                </a:solidFill>
                <a:latin typeface="Lucida Sans Unicode"/>
                <a:cs typeface="Lucida Sans Unicode"/>
              </a:rPr>
              <a:t>length </a:t>
            </a:r>
            <a:r>
              <a:rPr sz="4450" spc="-85" dirty="0">
                <a:solidFill>
                  <a:schemeClr val="accent4">
                    <a:lumMod val="75000"/>
                  </a:schemeClr>
                </a:solidFill>
                <a:latin typeface="Lucida Sans Unicode"/>
                <a:cs typeface="Lucida Sans Unicode"/>
              </a:rPr>
              <a:t>‘N’ </a:t>
            </a:r>
            <a:r>
              <a:rPr sz="4450" spc="45" dirty="0">
                <a:solidFill>
                  <a:schemeClr val="accent4">
                    <a:lumMod val="75000"/>
                  </a:schemeClr>
                </a:solidFill>
                <a:latin typeface="Lucida Sans Unicode"/>
                <a:cs typeface="Lucida Sans Unicode"/>
              </a:rPr>
              <a:t>is </a:t>
            </a:r>
            <a:r>
              <a:rPr sz="4450" spc="254" dirty="0">
                <a:solidFill>
                  <a:schemeClr val="accent4">
                    <a:lumMod val="75000"/>
                  </a:schemeClr>
                </a:solidFill>
                <a:latin typeface="Lucida Sans Unicode"/>
                <a:cs typeface="Lucida Sans Unicode"/>
              </a:rPr>
              <a:t>to </a:t>
            </a:r>
            <a:r>
              <a:rPr sz="4450" spc="260" dirty="0">
                <a:solidFill>
                  <a:schemeClr val="accent4">
                    <a:lumMod val="75000"/>
                  </a:schemeClr>
                </a:solidFill>
                <a:latin typeface="Lucida Sans Unicode"/>
                <a:cs typeface="Lucida Sans Unicode"/>
              </a:rPr>
              <a:t> </a:t>
            </a:r>
            <a:r>
              <a:rPr sz="4450" spc="170" dirty="0">
                <a:solidFill>
                  <a:schemeClr val="accent4">
                    <a:lumMod val="75000"/>
                  </a:schemeClr>
                </a:solidFill>
                <a:latin typeface="Lucida Sans Unicode"/>
                <a:cs typeface="Lucida Sans Unicode"/>
              </a:rPr>
              <a:t>smaller </a:t>
            </a:r>
            <a:r>
              <a:rPr sz="4450" spc="225" dirty="0">
                <a:solidFill>
                  <a:schemeClr val="accent4">
                    <a:lumMod val="75000"/>
                  </a:schemeClr>
                </a:solidFill>
                <a:latin typeface="Lucida Sans Unicode"/>
                <a:cs typeface="Lucida Sans Unicode"/>
              </a:rPr>
              <a:t>transform </a:t>
            </a:r>
            <a:r>
              <a:rPr sz="4450" spc="260" dirty="0">
                <a:solidFill>
                  <a:schemeClr val="accent4">
                    <a:lumMod val="75000"/>
                  </a:schemeClr>
                </a:solidFill>
                <a:latin typeface="Lucida Sans Unicode"/>
                <a:cs typeface="Lucida Sans Unicode"/>
              </a:rPr>
              <a:t>and </a:t>
            </a:r>
            <a:r>
              <a:rPr sz="4450" spc="204" dirty="0">
                <a:solidFill>
                  <a:schemeClr val="accent4">
                    <a:lumMod val="75000"/>
                  </a:schemeClr>
                </a:solidFill>
                <a:latin typeface="Lucida Sans Unicode"/>
                <a:cs typeface="Lucida Sans Unicode"/>
              </a:rPr>
              <a:t>combining </a:t>
            </a:r>
            <a:r>
              <a:rPr sz="4450" spc="305" dirty="0">
                <a:solidFill>
                  <a:schemeClr val="accent4">
                    <a:lumMod val="75000"/>
                  </a:schemeClr>
                </a:solidFill>
                <a:latin typeface="Lucida Sans Unicode"/>
                <a:cs typeface="Lucida Sans Unicode"/>
              </a:rPr>
              <a:t>them </a:t>
            </a:r>
            <a:r>
              <a:rPr sz="4450" spc="254" dirty="0">
                <a:solidFill>
                  <a:schemeClr val="accent4">
                    <a:lumMod val="75000"/>
                  </a:schemeClr>
                </a:solidFill>
                <a:latin typeface="Lucida Sans Unicode"/>
                <a:cs typeface="Lucida Sans Unicode"/>
              </a:rPr>
              <a:t>to </a:t>
            </a:r>
            <a:r>
              <a:rPr sz="4450" spc="305" dirty="0">
                <a:solidFill>
                  <a:schemeClr val="accent4">
                    <a:lumMod val="75000"/>
                  </a:schemeClr>
                </a:solidFill>
                <a:latin typeface="Lucida Sans Unicode"/>
                <a:cs typeface="Lucida Sans Unicode"/>
              </a:rPr>
              <a:t>get </a:t>
            </a:r>
            <a:r>
              <a:rPr sz="4450" spc="-1395" dirty="0">
                <a:solidFill>
                  <a:schemeClr val="accent4">
                    <a:lumMod val="75000"/>
                  </a:schemeClr>
                </a:solidFill>
                <a:latin typeface="Lucida Sans Unicode"/>
                <a:cs typeface="Lucida Sans Unicode"/>
              </a:rPr>
              <a:t> </a:t>
            </a:r>
            <a:r>
              <a:rPr sz="4450" spc="285" dirty="0">
                <a:solidFill>
                  <a:schemeClr val="accent4">
                    <a:lumMod val="75000"/>
                  </a:schemeClr>
                </a:solidFill>
                <a:latin typeface="Lucida Sans Unicode"/>
                <a:cs typeface="Lucida Sans Unicode"/>
              </a:rPr>
              <a:t>the</a:t>
            </a:r>
            <a:r>
              <a:rPr sz="4450" spc="-305" dirty="0">
                <a:solidFill>
                  <a:schemeClr val="accent4">
                    <a:lumMod val="75000"/>
                  </a:schemeClr>
                </a:solidFill>
                <a:latin typeface="Lucida Sans Unicode"/>
                <a:cs typeface="Lucida Sans Unicode"/>
              </a:rPr>
              <a:t> </a:t>
            </a:r>
            <a:r>
              <a:rPr sz="4450" spc="150" dirty="0">
                <a:solidFill>
                  <a:schemeClr val="accent4">
                    <a:lumMod val="75000"/>
                  </a:schemeClr>
                </a:solidFill>
                <a:latin typeface="Lucida Sans Unicode"/>
                <a:cs typeface="Lucida Sans Unicode"/>
              </a:rPr>
              <a:t>overall</a:t>
            </a:r>
            <a:r>
              <a:rPr sz="4450" spc="-300" dirty="0">
                <a:solidFill>
                  <a:schemeClr val="accent4">
                    <a:lumMod val="75000"/>
                  </a:schemeClr>
                </a:solidFill>
                <a:latin typeface="Lucida Sans Unicode"/>
                <a:cs typeface="Lucida Sans Unicode"/>
              </a:rPr>
              <a:t> </a:t>
            </a:r>
            <a:r>
              <a:rPr sz="4450" spc="225" dirty="0">
                <a:solidFill>
                  <a:schemeClr val="accent4">
                    <a:lumMod val="75000"/>
                  </a:schemeClr>
                </a:solidFill>
                <a:latin typeface="Lucida Sans Unicode"/>
                <a:cs typeface="Lucida Sans Unicode"/>
              </a:rPr>
              <a:t>transform</a:t>
            </a:r>
            <a:r>
              <a:rPr sz="4450" spc="-300" dirty="0">
                <a:solidFill>
                  <a:schemeClr val="accent4">
                    <a:lumMod val="75000"/>
                  </a:schemeClr>
                </a:solidFill>
                <a:latin typeface="Lucida Sans Unicode"/>
                <a:cs typeface="Lucida Sans Unicode"/>
              </a:rPr>
              <a:t> </a:t>
            </a:r>
            <a:r>
              <a:rPr sz="4450" spc="-260" dirty="0">
                <a:solidFill>
                  <a:schemeClr val="accent4">
                    <a:lumMod val="75000"/>
                  </a:schemeClr>
                </a:solidFill>
                <a:latin typeface="Lucida Sans Unicode"/>
                <a:cs typeface="Lucida Sans Unicode"/>
              </a:rPr>
              <a:t>.</a:t>
            </a:r>
            <a:endParaRPr sz="4450" dirty="0">
              <a:solidFill>
                <a:schemeClr val="accent4">
                  <a:lumMod val="75000"/>
                </a:schemeClr>
              </a:solidFill>
              <a:latin typeface="Lucida Sans Unicode"/>
              <a:cs typeface="Lucida Sans Unicode"/>
            </a:endParaRPr>
          </a:p>
        </p:txBody>
      </p:sp>
    </p:spTree>
    <p:extLst>
      <p:ext uri="{BB962C8B-B14F-4D97-AF65-F5344CB8AC3E}">
        <p14:creationId xmlns:p14="http://schemas.microsoft.com/office/powerpoint/2010/main" val="20582574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01F06B7-3D37-A790-391F-B8B30517B796}"/>
              </a:ext>
            </a:extLst>
          </p:cNvPr>
          <p:cNvSpPr txBox="1"/>
          <p:nvPr/>
        </p:nvSpPr>
        <p:spPr>
          <a:xfrm>
            <a:off x="2318994" y="5698503"/>
            <a:ext cx="4751109" cy="507831"/>
          </a:xfrm>
          <a:prstGeom prst="rect">
            <a:avLst/>
          </a:prstGeom>
          <a:noFill/>
        </p:spPr>
        <p:txBody>
          <a:bodyPr wrap="square" rtlCol="0">
            <a:spAutoFit/>
          </a:bodyPr>
          <a:lstStyle/>
          <a:p>
            <a:endParaRPr lang="en-US" sz="2700" dirty="0"/>
          </a:p>
        </p:txBody>
      </p:sp>
      <p:sp>
        <p:nvSpPr>
          <p:cNvPr id="5" name="Rectangle 4">
            <a:extLst>
              <a:ext uri="{FF2B5EF4-FFF2-40B4-BE49-F238E27FC236}">
                <a16:creationId xmlns:a16="http://schemas.microsoft.com/office/drawing/2014/main" id="{60BB6BE9-B181-A4A0-55B6-66F7255981BD}"/>
              </a:ext>
            </a:extLst>
          </p:cNvPr>
          <p:cNvSpPr/>
          <p:nvPr/>
        </p:nvSpPr>
        <p:spPr>
          <a:xfrm>
            <a:off x="4282471" y="2704069"/>
            <a:ext cx="8795208" cy="388723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sz="2700" dirty="0"/>
          </a:p>
          <a:p>
            <a:pPr algn="ctr"/>
            <a:endParaRPr lang="en-US" sz="2700" dirty="0"/>
          </a:p>
          <a:p>
            <a:pPr algn="ctr"/>
            <a:endParaRPr lang="en-US" sz="2700" dirty="0"/>
          </a:p>
          <a:p>
            <a:pPr algn="ctr"/>
            <a:endParaRPr lang="en-US" sz="2700" dirty="0"/>
          </a:p>
          <a:p>
            <a:pPr algn="ctr"/>
            <a:endParaRPr lang="en-US" sz="2700" dirty="0"/>
          </a:p>
          <a:p>
            <a:pPr algn="ctr"/>
            <a:endParaRPr lang="en-US" sz="2700" dirty="0"/>
          </a:p>
          <a:p>
            <a:pPr algn="ctr"/>
            <a:endParaRPr lang="en-US" sz="2700" dirty="0"/>
          </a:p>
          <a:p>
            <a:pPr algn="ctr"/>
            <a:endParaRPr lang="en-US" sz="2700" dirty="0"/>
          </a:p>
          <a:p>
            <a:pPr algn="ctr"/>
            <a:endParaRPr lang="en-US" sz="2700" dirty="0"/>
          </a:p>
          <a:p>
            <a:pPr algn="ctr"/>
            <a:endParaRPr lang="en-US" sz="2700" dirty="0"/>
          </a:p>
          <a:p>
            <a:pPr algn="ctr"/>
            <a:endParaRPr lang="en-US" sz="2700" dirty="0"/>
          </a:p>
          <a:p>
            <a:pPr algn="ctr"/>
            <a:endParaRPr lang="en-US" sz="2700" dirty="0"/>
          </a:p>
          <a:p>
            <a:pPr algn="ctr"/>
            <a:endParaRPr lang="en-US" sz="2700" dirty="0"/>
          </a:p>
        </p:txBody>
      </p:sp>
      <p:sp>
        <p:nvSpPr>
          <p:cNvPr id="6" name="TextBox 5">
            <a:extLst>
              <a:ext uri="{FF2B5EF4-FFF2-40B4-BE49-F238E27FC236}">
                <a16:creationId xmlns:a16="http://schemas.microsoft.com/office/drawing/2014/main" id="{09FFD59D-D97F-F798-12CD-A7AC127138CC}"/>
              </a:ext>
            </a:extLst>
          </p:cNvPr>
          <p:cNvSpPr txBox="1"/>
          <p:nvPr/>
        </p:nvSpPr>
        <p:spPr>
          <a:xfrm>
            <a:off x="5029200" y="3162300"/>
            <a:ext cx="7103097" cy="1754326"/>
          </a:xfrm>
          <a:prstGeom prst="rect">
            <a:avLst/>
          </a:prstGeom>
          <a:noFill/>
        </p:spPr>
        <p:txBody>
          <a:bodyPr wrap="square" rtlCol="0">
            <a:spAutoFit/>
          </a:bodyPr>
          <a:lstStyle/>
          <a:p>
            <a:r>
              <a:rPr lang="en-US" sz="2700" dirty="0"/>
              <a:t>An DFT algorithm which decrease the number of computation (thereby decreasing the computation time) is called the Fast Fourier Transform (FFT). </a:t>
            </a:r>
          </a:p>
        </p:txBody>
      </p:sp>
      <p:sp>
        <p:nvSpPr>
          <p:cNvPr id="8" name="TextBox 7">
            <a:extLst>
              <a:ext uri="{FF2B5EF4-FFF2-40B4-BE49-F238E27FC236}">
                <a16:creationId xmlns:a16="http://schemas.microsoft.com/office/drawing/2014/main" id="{85626185-4DA7-CF3F-70E9-41A0835367B5}"/>
              </a:ext>
            </a:extLst>
          </p:cNvPr>
          <p:cNvSpPr txBox="1"/>
          <p:nvPr/>
        </p:nvSpPr>
        <p:spPr>
          <a:xfrm>
            <a:off x="4108075" y="1227221"/>
            <a:ext cx="9144000" cy="769441"/>
          </a:xfrm>
          <a:prstGeom prst="rect">
            <a:avLst/>
          </a:prstGeom>
          <a:noFill/>
        </p:spPr>
        <p:txBody>
          <a:bodyPr wrap="square">
            <a:spAutoFit/>
          </a:bodyPr>
          <a:lstStyle/>
          <a:p>
            <a:pPr algn="ctr"/>
            <a:r>
              <a:rPr lang="en-US" sz="4400" u="sng" dirty="0">
                <a:solidFill>
                  <a:schemeClr val="accent3">
                    <a:lumMod val="50000"/>
                  </a:schemeClr>
                </a:solidFill>
              </a:rPr>
              <a:t>RELATIONSHIP BETWEEN DFT AND FFT</a:t>
            </a:r>
          </a:p>
        </p:txBody>
      </p:sp>
      <p:grpSp>
        <p:nvGrpSpPr>
          <p:cNvPr id="9" name="object 3">
            <a:extLst>
              <a:ext uri="{FF2B5EF4-FFF2-40B4-BE49-F238E27FC236}">
                <a16:creationId xmlns:a16="http://schemas.microsoft.com/office/drawing/2014/main" id="{0BCB1143-6A5F-EECA-81C8-5279B6F7F8D7}"/>
              </a:ext>
            </a:extLst>
          </p:cNvPr>
          <p:cNvGrpSpPr/>
          <p:nvPr/>
        </p:nvGrpSpPr>
        <p:grpSpPr>
          <a:xfrm>
            <a:off x="-375" y="0"/>
            <a:ext cx="4108450" cy="10287000"/>
            <a:chOff x="-375" y="0"/>
            <a:chExt cx="4108450" cy="10287000"/>
          </a:xfrm>
          <a:solidFill>
            <a:schemeClr val="bg2">
              <a:lumMod val="25000"/>
            </a:schemeClr>
          </a:solidFill>
        </p:grpSpPr>
        <p:sp>
          <p:nvSpPr>
            <p:cNvPr id="10" name="object 4">
              <a:extLst>
                <a:ext uri="{FF2B5EF4-FFF2-40B4-BE49-F238E27FC236}">
                  <a16:creationId xmlns:a16="http://schemas.microsoft.com/office/drawing/2014/main" id="{1962B70B-87C7-597A-3BED-17ADA2C86FB3}"/>
                </a:ext>
              </a:extLst>
            </p:cNvPr>
            <p:cNvSpPr/>
            <p:nvPr/>
          </p:nvSpPr>
          <p:spPr>
            <a:xfrm>
              <a:off x="-375" y="0"/>
              <a:ext cx="3327400" cy="10287000"/>
            </a:xfrm>
            <a:custGeom>
              <a:avLst/>
              <a:gdLst/>
              <a:ahLst/>
              <a:cxnLst/>
              <a:rect l="l" t="t" r="r" b="b"/>
              <a:pathLst>
                <a:path w="3327400" h="10287000">
                  <a:moveTo>
                    <a:pt x="0" y="10287000"/>
                  </a:moveTo>
                  <a:lnTo>
                    <a:pt x="0" y="0"/>
                  </a:lnTo>
                  <a:lnTo>
                    <a:pt x="3327201" y="0"/>
                  </a:lnTo>
                  <a:lnTo>
                    <a:pt x="3327201" y="10287000"/>
                  </a:lnTo>
                  <a:lnTo>
                    <a:pt x="0" y="10287000"/>
                  </a:lnTo>
                  <a:close/>
                </a:path>
              </a:pathLst>
            </a:custGeom>
            <a:grpFill/>
          </p:spPr>
          <p:txBody>
            <a:bodyPr wrap="square" lIns="0" tIns="0" rIns="0" bIns="0" rtlCol="0"/>
            <a:lstStyle/>
            <a:p>
              <a:endParaRPr/>
            </a:p>
          </p:txBody>
        </p:sp>
        <p:sp>
          <p:nvSpPr>
            <p:cNvPr id="11" name="object 5">
              <a:extLst>
                <a:ext uri="{FF2B5EF4-FFF2-40B4-BE49-F238E27FC236}">
                  <a16:creationId xmlns:a16="http://schemas.microsoft.com/office/drawing/2014/main" id="{BA929460-486E-571E-5A07-2184592390B2}"/>
                </a:ext>
              </a:extLst>
            </p:cNvPr>
            <p:cNvSpPr/>
            <p:nvPr/>
          </p:nvSpPr>
          <p:spPr>
            <a:xfrm>
              <a:off x="2545975" y="476250"/>
              <a:ext cx="1562100" cy="1562100"/>
            </a:xfrm>
            <a:custGeom>
              <a:avLst/>
              <a:gdLst/>
              <a:ahLst/>
              <a:cxnLst/>
              <a:rect l="l" t="t" r="r" b="b"/>
              <a:pathLst>
                <a:path w="1562100" h="1562100">
                  <a:moveTo>
                    <a:pt x="780985" y="1562100"/>
                  </a:moveTo>
                  <a:lnTo>
                    <a:pt x="756602" y="1494782"/>
                  </a:lnTo>
                  <a:lnTo>
                    <a:pt x="728330" y="1429003"/>
                  </a:lnTo>
                  <a:lnTo>
                    <a:pt x="696271" y="1364984"/>
                  </a:lnTo>
                  <a:lnTo>
                    <a:pt x="660529" y="1302946"/>
                  </a:lnTo>
                  <a:lnTo>
                    <a:pt x="621231" y="1243097"/>
                  </a:lnTo>
                  <a:lnTo>
                    <a:pt x="578506" y="1185645"/>
                  </a:lnTo>
                  <a:lnTo>
                    <a:pt x="532504" y="1130782"/>
                  </a:lnTo>
                  <a:lnTo>
                    <a:pt x="483377" y="1078698"/>
                  </a:lnTo>
                  <a:lnTo>
                    <a:pt x="431297" y="1029566"/>
                  </a:lnTo>
                  <a:lnTo>
                    <a:pt x="376437" y="983560"/>
                  </a:lnTo>
                  <a:lnTo>
                    <a:pt x="318989" y="940830"/>
                  </a:lnTo>
                  <a:lnTo>
                    <a:pt x="259143" y="901527"/>
                  </a:lnTo>
                  <a:lnTo>
                    <a:pt x="197108" y="865780"/>
                  </a:lnTo>
                  <a:lnTo>
                    <a:pt x="133092" y="833716"/>
                  </a:lnTo>
                  <a:lnTo>
                    <a:pt x="67315" y="805438"/>
                  </a:lnTo>
                  <a:lnTo>
                    <a:pt x="0" y="781050"/>
                  </a:lnTo>
                  <a:lnTo>
                    <a:pt x="33850" y="769341"/>
                  </a:lnTo>
                  <a:lnTo>
                    <a:pt x="100396" y="743008"/>
                  </a:lnTo>
                  <a:lnTo>
                    <a:pt x="165348" y="712812"/>
                  </a:lnTo>
                  <a:lnTo>
                    <a:pt x="228373" y="678906"/>
                  </a:lnTo>
                  <a:lnTo>
                    <a:pt x="289366" y="641349"/>
                  </a:lnTo>
                  <a:lnTo>
                    <a:pt x="348012" y="600333"/>
                  </a:lnTo>
                  <a:lnTo>
                    <a:pt x="404214" y="555926"/>
                  </a:lnTo>
                  <a:lnTo>
                    <a:pt x="457684" y="508358"/>
                  </a:lnTo>
                  <a:lnTo>
                    <a:pt x="508331" y="457707"/>
                  </a:lnTo>
                  <a:lnTo>
                    <a:pt x="555895" y="404233"/>
                  </a:lnTo>
                  <a:lnTo>
                    <a:pt x="600297" y="348027"/>
                  </a:lnTo>
                  <a:lnTo>
                    <a:pt x="641309" y="289377"/>
                  </a:lnTo>
                  <a:lnTo>
                    <a:pt x="678861" y="228382"/>
                  </a:lnTo>
                  <a:lnTo>
                    <a:pt x="712761" y="165353"/>
                  </a:lnTo>
                  <a:lnTo>
                    <a:pt x="742952" y="100399"/>
                  </a:lnTo>
                  <a:lnTo>
                    <a:pt x="769280" y="33851"/>
                  </a:lnTo>
                  <a:lnTo>
                    <a:pt x="780985" y="0"/>
                  </a:lnTo>
                  <a:lnTo>
                    <a:pt x="792690" y="33850"/>
                  </a:lnTo>
                  <a:lnTo>
                    <a:pt x="819017" y="100398"/>
                  </a:lnTo>
                  <a:lnTo>
                    <a:pt x="849207" y="165352"/>
                  </a:lnTo>
                  <a:lnTo>
                    <a:pt x="883106" y="228380"/>
                  </a:lnTo>
                  <a:lnTo>
                    <a:pt x="920657" y="289374"/>
                  </a:lnTo>
                  <a:lnTo>
                    <a:pt x="961668" y="348024"/>
                  </a:lnTo>
                  <a:lnTo>
                    <a:pt x="1006068" y="404230"/>
                  </a:lnTo>
                  <a:lnTo>
                    <a:pt x="1053631" y="457703"/>
                  </a:lnTo>
                  <a:lnTo>
                    <a:pt x="1104276" y="508354"/>
                  </a:lnTo>
                  <a:lnTo>
                    <a:pt x="1157745" y="555923"/>
                  </a:lnTo>
                  <a:lnTo>
                    <a:pt x="1213946" y="600329"/>
                  </a:lnTo>
                  <a:lnTo>
                    <a:pt x="1272591" y="641346"/>
                  </a:lnTo>
                  <a:lnTo>
                    <a:pt x="1333582" y="678904"/>
                  </a:lnTo>
                  <a:lnTo>
                    <a:pt x="1396606" y="712810"/>
                  </a:lnTo>
                  <a:lnTo>
                    <a:pt x="1461557" y="743007"/>
                  </a:lnTo>
                  <a:lnTo>
                    <a:pt x="1528101" y="769341"/>
                  </a:lnTo>
                  <a:lnTo>
                    <a:pt x="1561951" y="781050"/>
                  </a:lnTo>
                  <a:lnTo>
                    <a:pt x="1528101" y="792758"/>
                  </a:lnTo>
                  <a:lnTo>
                    <a:pt x="1461556" y="819092"/>
                  </a:lnTo>
                  <a:lnTo>
                    <a:pt x="1396606" y="849289"/>
                  </a:lnTo>
                  <a:lnTo>
                    <a:pt x="1333582" y="883195"/>
                  </a:lnTo>
                  <a:lnTo>
                    <a:pt x="1272591" y="920753"/>
                  </a:lnTo>
                  <a:lnTo>
                    <a:pt x="1213945" y="961770"/>
                  </a:lnTo>
                  <a:lnTo>
                    <a:pt x="1157745" y="1006176"/>
                  </a:lnTo>
                  <a:lnTo>
                    <a:pt x="1104276" y="1053745"/>
                  </a:lnTo>
                  <a:lnTo>
                    <a:pt x="1053631" y="1104396"/>
                  </a:lnTo>
                  <a:lnTo>
                    <a:pt x="1006068" y="1157870"/>
                  </a:lnTo>
                  <a:lnTo>
                    <a:pt x="961668" y="1214075"/>
                  </a:lnTo>
                  <a:lnTo>
                    <a:pt x="920657" y="1272725"/>
                  </a:lnTo>
                  <a:lnTo>
                    <a:pt x="883106" y="1333720"/>
                  </a:lnTo>
                  <a:lnTo>
                    <a:pt x="849207" y="1396748"/>
                  </a:lnTo>
                  <a:lnTo>
                    <a:pt x="819017" y="1461701"/>
                  </a:lnTo>
                  <a:lnTo>
                    <a:pt x="792690" y="1528249"/>
                  </a:lnTo>
                  <a:lnTo>
                    <a:pt x="780985" y="1562100"/>
                  </a:lnTo>
                  <a:close/>
                </a:path>
              </a:pathLst>
            </a:custGeom>
            <a:solidFill>
              <a:schemeClr val="bg2">
                <a:lumMod val="50000"/>
              </a:schemeClr>
            </a:solidFill>
          </p:spPr>
          <p:txBody>
            <a:bodyPr wrap="square" lIns="0" tIns="0" rIns="0" bIns="0" rtlCol="0"/>
            <a:lstStyle/>
            <a:p>
              <a:endParaRPr dirty="0"/>
            </a:p>
          </p:txBody>
        </p:sp>
      </p:grpSp>
    </p:spTree>
    <p:extLst>
      <p:ext uri="{BB962C8B-B14F-4D97-AF65-F5344CB8AC3E}">
        <p14:creationId xmlns:p14="http://schemas.microsoft.com/office/powerpoint/2010/main" val="3354348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471AC7C3-23F9-5767-40CA-487892D3824A}"/>
              </a:ext>
            </a:extLst>
          </p:cNvPr>
          <p:cNvGraphicFramePr>
            <a:graphicFrameLocks noGrp="1"/>
          </p:cNvGraphicFramePr>
          <p:nvPr>
            <p:extLst>
              <p:ext uri="{D42A27DB-BD31-4B8C-83A1-F6EECF244321}">
                <p14:modId xmlns:p14="http://schemas.microsoft.com/office/powerpoint/2010/main" val="3642153122"/>
              </p:ext>
            </p:extLst>
          </p:nvPr>
        </p:nvGraphicFramePr>
        <p:xfrm>
          <a:off x="10474700" y="2728726"/>
          <a:ext cx="7194175" cy="7054811"/>
        </p:xfrm>
        <a:graphic>
          <a:graphicData uri="http://schemas.openxmlformats.org/drawingml/2006/table">
            <a:tbl>
              <a:tblPr firstRow="1" bandRow="1">
                <a:tableStyleId>{5C22544A-7EE6-4342-B048-85BDC9FD1C3A}</a:tableStyleId>
              </a:tblPr>
              <a:tblGrid>
                <a:gridCol w="7194175">
                  <a:extLst>
                    <a:ext uri="{9D8B030D-6E8A-4147-A177-3AD203B41FA5}">
                      <a16:colId xmlns:a16="http://schemas.microsoft.com/office/drawing/2014/main" val="2442690486"/>
                    </a:ext>
                  </a:extLst>
                </a:gridCol>
              </a:tblGrid>
              <a:tr h="834722">
                <a:tc>
                  <a:txBody>
                    <a:bodyPr/>
                    <a:lstStyle/>
                    <a:p>
                      <a:r>
                        <a:rPr lang="en-US" sz="2700" dirty="0"/>
                        <a:t>DISCRETE FOURIER TRANSFORM</a:t>
                      </a:r>
                    </a:p>
                  </a:txBody>
                  <a:tcPr marL="137160" marR="137160" marT="68580" marB="68580">
                    <a:solidFill>
                      <a:schemeClr val="bg2">
                        <a:lumMod val="75000"/>
                      </a:schemeClr>
                    </a:solidFill>
                  </a:tcPr>
                </a:tc>
                <a:extLst>
                  <a:ext uri="{0D108BD9-81ED-4DB2-BD59-A6C34878D82A}">
                    <a16:rowId xmlns:a16="http://schemas.microsoft.com/office/drawing/2014/main" val="868805157"/>
                  </a:ext>
                </a:extLst>
              </a:tr>
              <a:tr h="1510595">
                <a:tc>
                  <a:txBody>
                    <a:bodyPr/>
                    <a:lstStyle/>
                    <a:p>
                      <a:r>
                        <a:rPr lang="en-US" sz="2700" dirty="0"/>
                        <a:t>IT IS THE ALGORITHM THAT TRANSFORMS THE TIME DOMAIN SIGNALS TO THE FREQUENCY DOMAIN COMPONENTS,SLOW METHOD</a:t>
                      </a:r>
                    </a:p>
                  </a:txBody>
                  <a:tcPr marL="137160" marR="137160" marT="68580" marB="68580">
                    <a:solidFill>
                      <a:schemeClr val="bg2">
                        <a:lumMod val="75000"/>
                      </a:schemeClr>
                    </a:solidFill>
                  </a:tcPr>
                </a:tc>
                <a:extLst>
                  <a:ext uri="{0D108BD9-81ED-4DB2-BD59-A6C34878D82A}">
                    <a16:rowId xmlns:a16="http://schemas.microsoft.com/office/drawing/2014/main" val="1379493210"/>
                  </a:ext>
                </a:extLst>
              </a:tr>
              <a:tr h="1057417">
                <a:tc>
                  <a:txBody>
                    <a:bodyPr/>
                    <a:lstStyle/>
                    <a:p>
                      <a:r>
                        <a:rPr lang="en-US" sz="2700" dirty="0"/>
                        <a:t>IT ESTABLISHES A RELATIONSHIP BETWEEN TIME AND FREQUENCY DOMAIN REPRESENTATION</a:t>
                      </a:r>
                    </a:p>
                  </a:txBody>
                  <a:tcPr marL="137160" marR="137160" marT="68580" marB="68580">
                    <a:solidFill>
                      <a:schemeClr val="bg2">
                        <a:lumMod val="75000"/>
                      </a:schemeClr>
                    </a:solidFill>
                  </a:tcPr>
                </a:tc>
                <a:extLst>
                  <a:ext uri="{0D108BD9-81ED-4DB2-BD59-A6C34878D82A}">
                    <a16:rowId xmlns:a16="http://schemas.microsoft.com/office/drawing/2014/main" val="2730885230"/>
                  </a:ext>
                </a:extLst>
              </a:tr>
              <a:tr h="2870131">
                <a:tc>
                  <a:txBody>
                    <a:bodyPr/>
                    <a:lstStyle/>
                    <a:p>
                      <a:r>
                        <a:rPr lang="en-US" sz="2700" dirty="0"/>
                        <a:t>APPLICATIONS:1.SOLVING PARTIAL DIFFERENTIAL APPLICATIONS.</a:t>
                      </a:r>
                    </a:p>
                    <a:p>
                      <a:r>
                        <a:rPr lang="en-US" sz="2700" dirty="0"/>
                        <a:t>2.DETECTION OF TARGETS FROM RADAR ECHOES</a:t>
                      </a:r>
                    </a:p>
                    <a:p>
                      <a:r>
                        <a:rPr lang="en-US" sz="2700" dirty="0"/>
                        <a:t>3.CORRELATION ANALYSIS.</a:t>
                      </a:r>
                    </a:p>
                    <a:p>
                      <a:r>
                        <a:rPr lang="en-US" sz="2700" dirty="0"/>
                        <a:t>4.COMPUTING POLYNOMIAL MULTIPLICATION</a:t>
                      </a:r>
                    </a:p>
                    <a:p>
                      <a:r>
                        <a:rPr lang="en-US" sz="2700" dirty="0"/>
                        <a:t>5.SPECTRAL ANALYSIS</a:t>
                      </a:r>
                    </a:p>
                  </a:txBody>
                  <a:tcPr marL="137160" marR="137160" marT="68580" marB="68580">
                    <a:solidFill>
                      <a:schemeClr val="bg2">
                        <a:lumMod val="75000"/>
                      </a:schemeClr>
                    </a:solidFill>
                  </a:tcPr>
                </a:tc>
                <a:extLst>
                  <a:ext uri="{0D108BD9-81ED-4DB2-BD59-A6C34878D82A}">
                    <a16:rowId xmlns:a16="http://schemas.microsoft.com/office/drawing/2014/main" val="3724236232"/>
                  </a:ext>
                </a:extLst>
              </a:tr>
              <a:tr h="781946">
                <a:tc>
                  <a:txBody>
                    <a:bodyPr/>
                    <a:lstStyle/>
                    <a:p>
                      <a:r>
                        <a:rPr lang="en-US" sz="2700" dirty="0"/>
                        <a:t>USES MORE MEMORY</a:t>
                      </a:r>
                    </a:p>
                  </a:txBody>
                  <a:tcPr marL="137160" marR="137160" marT="68580" marB="68580">
                    <a:solidFill>
                      <a:schemeClr val="bg2">
                        <a:lumMod val="75000"/>
                      </a:schemeClr>
                    </a:solidFill>
                  </a:tcPr>
                </a:tc>
                <a:extLst>
                  <a:ext uri="{0D108BD9-81ED-4DB2-BD59-A6C34878D82A}">
                    <a16:rowId xmlns:a16="http://schemas.microsoft.com/office/drawing/2014/main" val="3958503958"/>
                  </a:ext>
                </a:extLst>
              </a:tr>
            </a:tbl>
          </a:graphicData>
        </a:graphic>
      </p:graphicFrame>
      <p:sp>
        <p:nvSpPr>
          <p:cNvPr id="4" name="TextBox 3">
            <a:extLst>
              <a:ext uri="{FF2B5EF4-FFF2-40B4-BE49-F238E27FC236}">
                <a16:creationId xmlns:a16="http://schemas.microsoft.com/office/drawing/2014/main" id="{8A74EA09-3813-B228-CA6B-0A2DE09ED00A}"/>
              </a:ext>
            </a:extLst>
          </p:cNvPr>
          <p:cNvSpPr txBox="1"/>
          <p:nvPr/>
        </p:nvSpPr>
        <p:spPr>
          <a:xfrm>
            <a:off x="14401800" y="1885622"/>
            <a:ext cx="1362075" cy="707886"/>
          </a:xfrm>
          <a:prstGeom prst="rect">
            <a:avLst/>
          </a:prstGeom>
          <a:noFill/>
        </p:spPr>
        <p:txBody>
          <a:bodyPr wrap="square">
            <a:spAutoFit/>
          </a:bodyPr>
          <a:lstStyle/>
          <a:p>
            <a:r>
              <a:rPr lang="en-US" sz="4000" u="sng" dirty="0"/>
              <a:t>DFT:</a:t>
            </a:r>
            <a:r>
              <a:rPr lang="en-US" sz="4000" dirty="0"/>
              <a:t> </a:t>
            </a:r>
          </a:p>
        </p:txBody>
      </p:sp>
      <p:graphicFrame>
        <p:nvGraphicFramePr>
          <p:cNvPr id="5" name="Table 4">
            <a:extLst>
              <a:ext uri="{FF2B5EF4-FFF2-40B4-BE49-F238E27FC236}">
                <a16:creationId xmlns:a16="http://schemas.microsoft.com/office/drawing/2014/main" id="{C59AE03E-C145-C4AA-EC09-A0B1F35A881D}"/>
              </a:ext>
            </a:extLst>
          </p:cNvPr>
          <p:cNvGraphicFramePr>
            <a:graphicFrameLocks noGrp="1"/>
          </p:cNvGraphicFramePr>
          <p:nvPr>
            <p:extLst>
              <p:ext uri="{D42A27DB-BD31-4B8C-83A1-F6EECF244321}">
                <p14:modId xmlns:p14="http://schemas.microsoft.com/office/powerpoint/2010/main" val="2294003661"/>
              </p:ext>
            </p:extLst>
          </p:nvPr>
        </p:nvGraphicFramePr>
        <p:xfrm>
          <a:off x="3429000" y="2649538"/>
          <a:ext cx="6553200" cy="7133998"/>
        </p:xfrm>
        <a:graphic>
          <a:graphicData uri="http://schemas.openxmlformats.org/drawingml/2006/table">
            <a:tbl>
              <a:tblPr firstRow="1" bandRow="1">
                <a:tableStyleId>{5C22544A-7EE6-4342-B048-85BDC9FD1C3A}</a:tableStyleId>
              </a:tblPr>
              <a:tblGrid>
                <a:gridCol w="6553200">
                  <a:extLst>
                    <a:ext uri="{9D8B030D-6E8A-4147-A177-3AD203B41FA5}">
                      <a16:colId xmlns:a16="http://schemas.microsoft.com/office/drawing/2014/main" val="2990448993"/>
                    </a:ext>
                  </a:extLst>
                </a:gridCol>
              </a:tblGrid>
              <a:tr h="726246">
                <a:tc>
                  <a:txBody>
                    <a:bodyPr/>
                    <a:lstStyle/>
                    <a:p>
                      <a:r>
                        <a:rPr lang="en-US" sz="2700" dirty="0"/>
                        <a:t>FAST FOURIER TRANSFORM</a:t>
                      </a:r>
                    </a:p>
                  </a:txBody>
                  <a:tcPr marL="137160" marR="137160" marT="68580" marB="68580">
                    <a:solidFill>
                      <a:schemeClr val="accent3">
                        <a:lumMod val="40000"/>
                        <a:lumOff val="60000"/>
                      </a:schemeClr>
                    </a:solidFill>
                  </a:tcPr>
                </a:tc>
                <a:extLst>
                  <a:ext uri="{0D108BD9-81ED-4DB2-BD59-A6C34878D82A}">
                    <a16:rowId xmlns:a16="http://schemas.microsoft.com/office/drawing/2014/main" val="1563703529"/>
                  </a:ext>
                </a:extLst>
              </a:tr>
              <a:tr h="1186132">
                <a:tc>
                  <a:txBody>
                    <a:bodyPr/>
                    <a:lstStyle/>
                    <a:p>
                      <a:r>
                        <a:rPr lang="en-US" sz="2700" dirty="0"/>
                        <a:t>VARIOUS FAST DFT COMPUTATION TECHNIQUES ARE KNOWN AS FFT ALGORITHM</a:t>
                      </a:r>
                    </a:p>
                  </a:txBody>
                  <a:tcPr marL="137160" marR="137160" marT="68580" marB="68580">
                    <a:solidFill>
                      <a:schemeClr val="accent3">
                        <a:lumMod val="40000"/>
                        <a:lumOff val="60000"/>
                      </a:schemeClr>
                    </a:solidFill>
                  </a:tcPr>
                </a:tc>
                <a:extLst>
                  <a:ext uri="{0D108BD9-81ED-4DB2-BD59-A6C34878D82A}">
                    <a16:rowId xmlns:a16="http://schemas.microsoft.com/office/drawing/2014/main" val="760865314"/>
                  </a:ext>
                </a:extLst>
              </a:tr>
              <a:tr h="688227">
                <a:tc>
                  <a:txBody>
                    <a:bodyPr/>
                    <a:lstStyle/>
                    <a:p>
                      <a:r>
                        <a:rPr lang="en-US" sz="2700" dirty="0"/>
                        <a:t>IT IS AN IMPLEMENTATIONS OF DFT</a:t>
                      </a:r>
                    </a:p>
                  </a:txBody>
                  <a:tcPr marL="137160" marR="137160" marT="68580" marB="68580">
                    <a:solidFill>
                      <a:schemeClr val="accent3">
                        <a:lumMod val="40000"/>
                        <a:lumOff val="60000"/>
                      </a:schemeClr>
                    </a:solidFill>
                  </a:tcPr>
                </a:tc>
                <a:extLst>
                  <a:ext uri="{0D108BD9-81ED-4DB2-BD59-A6C34878D82A}">
                    <a16:rowId xmlns:a16="http://schemas.microsoft.com/office/drawing/2014/main" val="3232803828"/>
                  </a:ext>
                </a:extLst>
              </a:tr>
              <a:tr h="2965330">
                <a:tc>
                  <a:txBody>
                    <a:bodyPr/>
                    <a:lstStyle/>
                    <a:p>
                      <a:r>
                        <a:rPr lang="en-US" sz="2700" dirty="0"/>
                        <a:t>APPLICATIONS:</a:t>
                      </a:r>
                    </a:p>
                    <a:p>
                      <a:r>
                        <a:rPr lang="en-US" sz="2700" dirty="0"/>
                        <a:t>1.INTEGER AND POLYNOMIAL MULTIPLICATIONS</a:t>
                      </a:r>
                    </a:p>
                    <a:p>
                      <a:r>
                        <a:rPr lang="en-US" sz="2700" dirty="0"/>
                        <a:t>2.FILTERING ALGORITHJMS.</a:t>
                      </a:r>
                    </a:p>
                    <a:p>
                      <a:r>
                        <a:rPr lang="en-US" sz="2700" dirty="0"/>
                        <a:t>3.COMPUTING ISOTROPIC DISTRIBUTIONS.</a:t>
                      </a:r>
                    </a:p>
                    <a:p>
                      <a:r>
                        <a:rPr lang="en-US" sz="2700" dirty="0"/>
                        <a:t>4.COMPUTIONG FOURIER SERIES CO EFFICIENT.</a:t>
                      </a:r>
                    </a:p>
                    <a:p>
                      <a:endParaRPr lang="en-US" sz="2700" dirty="0"/>
                    </a:p>
                  </a:txBody>
                  <a:tcPr marL="137160" marR="137160" marT="68580" marB="68580">
                    <a:solidFill>
                      <a:schemeClr val="accent3">
                        <a:lumMod val="40000"/>
                        <a:lumOff val="60000"/>
                      </a:schemeClr>
                    </a:solidFill>
                  </a:tcPr>
                </a:tc>
                <a:extLst>
                  <a:ext uri="{0D108BD9-81ED-4DB2-BD59-A6C34878D82A}">
                    <a16:rowId xmlns:a16="http://schemas.microsoft.com/office/drawing/2014/main" val="2508776576"/>
                  </a:ext>
                </a:extLst>
              </a:tr>
              <a:tr h="918925">
                <a:tc>
                  <a:txBody>
                    <a:bodyPr/>
                    <a:lstStyle/>
                    <a:p>
                      <a:r>
                        <a:rPr lang="en-US" sz="2700" dirty="0"/>
                        <a:t>TAKES UP LESS MEMORY</a:t>
                      </a:r>
                    </a:p>
                  </a:txBody>
                  <a:tcPr marL="137160" marR="137160" marT="68580" marB="68580">
                    <a:solidFill>
                      <a:schemeClr val="accent3">
                        <a:lumMod val="40000"/>
                        <a:lumOff val="60000"/>
                      </a:schemeClr>
                    </a:solidFill>
                  </a:tcPr>
                </a:tc>
                <a:extLst>
                  <a:ext uri="{0D108BD9-81ED-4DB2-BD59-A6C34878D82A}">
                    <a16:rowId xmlns:a16="http://schemas.microsoft.com/office/drawing/2014/main" val="822058172"/>
                  </a:ext>
                </a:extLst>
              </a:tr>
            </a:tbl>
          </a:graphicData>
        </a:graphic>
      </p:graphicFrame>
      <p:sp>
        <p:nvSpPr>
          <p:cNvPr id="7" name="TextBox 6">
            <a:extLst>
              <a:ext uri="{FF2B5EF4-FFF2-40B4-BE49-F238E27FC236}">
                <a16:creationId xmlns:a16="http://schemas.microsoft.com/office/drawing/2014/main" id="{5A2C563E-02B0-FEAD-F2D5-92CA2625702C}"/>
              </a:ext>
            </a:extLst>
          </p:cNvPr>
          <p:cNvSpPr txBox="1"/>
          <p:nvPr/>
        </p:nvSpPr>
        <p:spPr>
          <a:xfrm>
            <a:off x="5407106" y="1907563"/>
            <a:ext cx="1362075" cy="707886"/>
          </a:xfrm>
          <a:prstGeom prst="rect">
            <a:avLst/>
          </a:prstGeom>
          <a:noFill/>
        </p:spPr>
        <p:txBody>
          <a:bodyPr wrap="square">
            <a:spAutoFit/>
          </a:bodyPr>
          <a:lstStyle/>
          <a:p>
            <a:r>
              <a:rPr lang="en-US" sz="4000" u="sng" dirty="0"/>
              <a:t>FFT:</a:t>
            </a:r>
          </a:p>
        </p:txBody>
      </p:sp>
      <p:sp>
        <p:nvSpPr>
          <p:cNvPr id="9" name="TextBox 8">
            <a:extLst>
              <a:ext uri="{FF2B5EF4-FFF2-40B4-BE49-F238E27FC236}">
                <a16:creationId xmlns:a16="http://schemas.microsoft.com/office/drawing/2014/main" id="{FC3A62BA-39B8-B5D4-E864-BC810A324156}"/>
              </a:ext>
            </a:extLst>
          </p:cNvPr>
          <p:cNvSpPr txBox="1"/>
          <p:nvPr/>
        </p:nvSpPr>
        <p:spPr>
          <a:xfrm>
            <a:off x="1600200" y="114301"/>
            <a:ext cx="15697200" cy="1015663"/>
          </a:xfrm>
          <a:prstGeom prst="rect">
            <a:avLst/>
          </a:prstGeom>
          <a:noFill/>
        </p:spPr>
        <p:txBody>
          <a:bodyPr wrap="square">
            <a:spAutoFit/>
          </a:bodyPr>
          <a:lstStyle/>
          <a:p>
            <a:pPr algn="ctr"/>
            <a:r>
              <a:rPr lang="en-US" sz="6000" u="sng" dirty="0">
                <a:ln w="0"/>
                <a:solidFill>
                  <a:schemeClr val="bg2">
                    <a:lumMod val="50000"/>
                  </a:schemeClr>
                </a:solidFill>
                <a:effectLst>
                  <a:reflection blurRad="6350" stA="53000" endA="300" endPos="35500" dir="5400000" sy="-90000" algn="bl" rotWithShape="0"/>
                </a:effectLst>
              </a:rPr>
              <a:t>DIFFERENCE BETWEEN DFT AND FFT</a:t>
            </a:r>
            <a:endParaRPr lang="en-US" sz="6000" u="sng" dirty="0">
              <a:solidFill>
                <a:schemeClr val="bg2">
                  <a:lumMod val="50000"/>
                </a:schemeClr>
              </a:solidFill>
            </a:endParaRPr>
          </a:p>
        </p:txBody>
      </p:sp>
      <p:grpSp>
        <p:nvGrpSpPr>
          <p:cNvPr id="3" name="object 3">
            <a:extLst>
              <a:ext uri="{FF2B5EF4-FFF2-40B4-BE49-F238E27FC236}">
                <a16:creationId xmlns:a16="http://schemas.microsoft.com/office/drawing/2014/main" id="{F708F777-4B94-C4D3-3BCE-3C28BC000747}"/>
              </a:ext>
            </a:extLst>
          </p:cNvPr>
          <p:cNvGrpSpPr/>
          <p:nvPr/>
        </p:nvGrpSpPr>
        <p:grpSpPr>
          <a:xfrm>
            <a:off x="-29308" y="38100"/>
            <a:ext cx="4108450" cy="10287000"/>
            <a:chOff x="-375" y="0"/>
            <a:chExt cx="4108450" cy="10287000"/>
          </a:xfrm>
          <a:solidFill>
            <a:schemeClr val="tx1">
              <a:lumMod val="75000"/>
              <a:lumOff val="25000"/>
            </a:schemeClr>
          </a:solidFill>
        </p:grpSpPr>
        <p:sp>
          <p:nvSpPr>
            <p:cNvPr id="6" name="object 4">
              <a:extLst>
                <a:ext uri="{FF2B5EF4-FFF2-40B4-BE49-F238E27FC236}">
                  <a16:creationId xmlns:a16="http://schemas.microsoft.com/office/drawing/2014/main" id="{C0935163-2AEE-DFD6-0723-3752A31E8074}"/>
                </a:ext>
              </a:extLst>
            </p:cNvPr>
            <p:cNvSpPr/>
            <p:nvPr/>
          </p:nvSpPr>
          <p:spPr>
            <a:xfrm>
              <a:off x="-375" y="0"/>
              <a:ext cx="3327400" cy="10287000"/>
            </a:xfrm>
            <a:custGeom>
              <a:avLst/>
              <a:gdLst/>
              <a:ahLst/>
              <a:cxnLst/>
              <a:rect l="l" t="t" r="r" b="b"/>
              <a:pathLst>
                <a:path w="3327400" h="10287000">
                  <a:moveTo>
                    <a:pt x="0" y="10287000"/>
                  </a:moveTo>
                  <a:lnTo>
                    <a:pt x="0" y="0"/>
                  </a:lnTo>
                  <a:lnTo>
                    <a:pt x="3327201" y="0"/>
                  </a:lnTo>
                  <a:lnTo>
                    <a:pt x="3327201" y="10287000"/>
                  </a:lnTo>
                  <a:lnTo>
                    <a:pt x="0" y="10287000"/>
                  </a:lnTo>
                  <a:close/>
                </a:path>
              </a:pathLst>
            </a:custGeom>
            <a:solidFill>
              <a:schemeClr val="accent3">
                <a:lumMod val="20000"/>
                <a:lumOff val="80000"/>
              </a:schemeClr>
            </a:solidFill>
          </p:spPr>
          <p:txBody>
            <a:bodyPr wrap="square" lIns="0" tIns="0" rIns="0" bIns="0" rtlCol="0"/>
            <a:lstStyle/>
            <a:p>
              <a:endParaRPr/>
            </a:p>
          </p:txBody>
        </p:sp>
        <p:sp>
          <p:nvSpPr>
            <p:cNvPr id="8" name="object 5">
              <a:extLst>
                <a:ext uri="{FF2B5EF4-FFF2-40B4-BE49-F238E27FC236}">
                  <a16:creationId xmlns:a16="http://schemas.microsoft.com/office/drawing/2014/main" id="{ADCE5BDE-DA56-00AC-8898-86CD0B303BE6}"/>
                </a:ext>
              </a:extLst>
            </p:cNvPr>
            <p:cNvSpPr/>
            <p:nvPr/>
          </p:nvSpPr>
          <p:spPr>
            <a:xfrm>
              <a:off x="2545975" y="476250"/>
              <a:ext cx="1562100" cy="1562100"/>
            </a:xfrm>
            <a:custGeom>
              <a:avLst/>
              <a:gdLst/>
              <a:ahLst/>
              <a:cxnLst/>
              <a:rect l="l" t="t" r="r" b="b"/>
              <a:pathLst>
                <a:path w="1562100" h="1562100">
                  <a:moveTo>
                    <a:pt x="780985" y="1562100"/>
                  </a:moveTo>
                  <a:lnTo>
                    <a:pt x="756602" y="1494782"/>
                  </a:lnTo>
                  <a:lnTo>
                    <a:pt x="728330" y="1429003"/>
                  </a:lnTo>
                  <a:lnTo>
                    <a:pt x="696271" y="1364984"/>
                  </a:lnTo>
                  <a:lnTo>
                    <a:pt x="660529" y="1302946"/>
                  </a:lnTo>
                  <a:lnTo>
                    <a:pt x="621231" y="1243097"/>
                  </a:lnTo>
                  <a:lnTo>
                    <a:pt x="578506" y="1185645"/>
                  </a:lnTo>
                  <a:lnTo>
                    <a:pt x="532504" y="1130782"/>
                  </a:lnTo>
                  <a:lnTo>
                    <a:pt x="483377" y="1078698"/>
                  </a:lnTo>
                  <a:lnTo>
                    <a:pt x="431297" y="1029566"/>
                  </a:lnTo>
                  <a:lnTo>
                    <a:pt x="376437" y="983560"/>
                  </a:lnTo>
                  <a:lnTo>
                    <a:pt x="318989" y="940830"/>
                  </a:lnTo>
                  <a:lnTo>
                    <a:pt x="259143" y="901527"/>
                  </a:lnTo>
                  <a:lnTo>
                    <a:pt x="197108" y="865780"/>
                  </a:lnTo>
                  <a:lnTo>
                    <a:pt x="133092" y="833716"/>
                  </a:lnTo>
                  <a:lnTo>
                    <a:pt x="67315" y="805438"/>
                  </a:lnTo>
                  <a:lnTo>
                    <a:pt x="0" y="781050"/>
                  </a:lnTo>
                  <a:lnTo>
                    <a:pt x="33850" y="769341"/>
                  </a:lnTo>
                  <a:lnTo>
                    <a:pt x="100396" y="743008"/>
                  </a:lnTo>
                  <a:lnTo>
                    <a:pt x="165348" y="712812"/>
                  </a:lnTo>
                  <a:lnTo>
                    <a:pt x="228373" y="678906"/>
                  </a:lnTo>
                  <a:lnTo>
                    <a:pt x="289366" y="641349"/>
                  </a:lnTo>
                  <a:lnTo>
                    <a:pt x="348012" y="600333"/>
                  </a:lnTo>
                  <a:lnTo>
                    <a:pt x="404214" y="555926"/>
                  </a:lnTo>
                  <a:lnTo>
                    <a:pt x="457684" y="508358"/>
                  </a:lnTo>
                  <a:lnTo>
                    <a:pt x="508331" y="457707"/>
                  </a:lnTo>
                  <a:lnTo>
                    <a:pt x="555895" y="404233"/>
                  </a:lnTo>
                  <a:lnTo>
                    <a:pt x="600297" y="348027"/>
                  </a:lnTo>
                  <a:lnTo>
                    <a:pt x="641309" y="289377"/>
                  </a:lnTo>
                  <a:lnTo>
                    <a:pt x="678861" y="228382"/>
                  </a:lnTo>
                  <a:lnTo>
                    <a:pt x="712761" y="165353"/>
                  </a:lnTo>
                  <a:lnTo>
                    <a:pt x="742952" y="100399"/>
                  </a:lnTo>
                  <a:lnTo>
                    <a:pt x="769280" y="33851"/>
                  </a:lnTo>
                  <a:lnTo>
                    <a:pt x="780985" y="0"/>
                  </a:lnTo>
                  <a:lnTo>
                    <a:pt x="792690" y="33850"/>
                  </a:lnTo>
                  <a:lnTo>
                    <a:pt x="819017" y="100398"/>
                  </a:lnTo>
                  <a:lnTo>
                    <a:pt x="849207" y="165352"/>
                  </a:lnTo>
                  <a:lnTo>
                    <a:pt x="883106" y="228380"/>
                  </a:lnTo>
                  <a:lnTo>
                    <a:pt x="920657" y="289374"/>
                  </a:lnTo>
                  <a:lnTo>
                    <a:pt x="961668" y="348024"/>
                  </a:lnTo>
                  <a:lnTo>
                    <a:pt x="1006068" y="404230"/>
                  </a:lnTo>
                  <a:lnTo>
                    <a:pt x="1053631" y="457703"/>
                  </a:lnTo>
                  <a:lnTo>
                    <a:pt x="1104276" y="508354"/>
                  </a:lnTo>
                  <a:lnTo>
                    <a:pt x="1157745" y="555923"/>
                  </a:lnTo>
                  <a:lnTo>
                    <a:pt x="1213946" y="600329"/>
                  </a:lnTo>
                  <a:lnTo>
                    <a:pt x="1272591" y="641346"/>
                  </a:lnTo>
                  <a:lnTo>
                    <a:pt x="1333582" y="678904"/>
                  </a:lnTo>
                  <a:lnTo>
                    <a:pt x="1396606" y="712810"/>
                  </a:lnTo>
                  <a:lnTo>
                    <a:pt x="1461557" y="743007"/>
                  </a:lnTo>
                  <a:lnTo>
                    <a:pt x="1528101" y="769341"/>
                  </a:lnTo>
                  <a:lnTo>
                    <a:pt x="1561951" y="781050"/>
                  </a:lnTo>
                  <a:lnTo>
                    <a:pt x="1528101" y="792758"/>
                  </a:lnTo>
                  <a:lnTo>
                    <a:pt x="1461556" y="819092"/>
                  </a:lnTo>
                  <a:lnTo>
                    <a:pt x="1396606" y="849289"/>
                  </a:lnTo>
                  <a:lnTo>
                    <a:pt x="1333582" y="883195"/>
                  </a:lnTo>
                  <a:lnTo>
                    <a:pt x="1272591" y="920753"/>
                  </a:lnTo>
                  <a:lnTo>
                    <a:pt x="1213945" y="961770"/>
                  </a:lnTo>
                  <a:lnTo>
                    <a:pt x="1157745" y="1006176"/>
                  </a:lnTo>
                  <a:lnTo>
                    <a:pt x="1104276" y="1053745"/>
                  </a:lnTo>
                  <a:lnTo>
                    <a:pt x="1053631" y="1104396"/>
                  </a:lnTo>
                  <a:lnTo>
                    <a:pt x="1006068" y="1157870"/>
                  </a:lnTo>
                  <a:lnTo>
                    <a:pt x="961668" y="1214075"/>
                  </a:lnTo>
                  <a:lnTo>
                    <a:pt x="920657" y="1272725"/>
                  </a:lnTo>
                  <a:lnTo>
                    <a:pt x="883106" y="1333720"/>
                  </a:lnTo>
                  <a:lnTo>
                    <a:pt x="849207" y="1396748"/>
                  </a:lnTo>
                  <a:lnTo>
                    <a:pt x="819017" y="1461701"/>
                  </a:lnTo>
                  <a:lnTo>
                    <a:pt x="792690" y="1528249"/>
                  </a:lnTo>
                  <a:lnTo>
                    <a:pt x="780985" y="1562100"/>
                  </a:lnTo>
                  <a:close/>
                </a:path>
              </a:pathLst>
            </a:custGeom>
            <a:solidFill>
              <a:schemeClr val="bg2">
                <a:lumMod val="75000"/>
              </a:schemeClr>
            </a:solidFill>
          </p:spPr>
          <p:txBody>
            <a:bodyPr wrap="square" lIns="0" tIns="0" rIns="0" bIns="0" rtlCol="0"/>
            <a:lstStyle/>
            <a:p>
              <a:endParaRPr dirty="0"/>
            </a:p>
          </p:txBody>
        </p:sp>
      </p:grpSp>
      <p:sp>
        <p:nvSpPr>
          <p:cNvPr id="10" name="Rectangle 9">
            <a:extLst>
              <a:ext uri="{FF2B5EF4-FFF2-40B4-BE49-F238E27FC236}">
                <a16:creationId xmlns:a16="http://schemas.microsoft.com/office/drawing/2014/main" id="{ACD6E636-3FA8-85B1-49C8-A5101638D5B9}"/>
              </a:ext>
            </a:extLst>
          </p:cNvPr>
          <p:cNvSpPr/>
          <p:nvPr/>
        </p:nvSpPr>
        <p:spPr>
          <a:xfrm>
            <a:off x="5407106" y="9800861"/>
            <a:ext cx="9332940" cy="400110"/>
          </a:xfrm>
          <a:prstGeom prst="rect">
            <a:avLst/>
          </a:prstGeom>
          <a:noFill/>
        </p:spPr>
        <p:txBody>
          <a:bodyPr wrap="none" lIns="91440" tIns="45720" rIns="91440" bIns="45720">
            <a:spAutoFit/>
          </a:bodyPr>
          <a:lstStyle/>
          <a:p>
            <a:pPr algn="ctr"/>
            <a:r>
              <a:rPr lang="en-US" sz="2000" dirty="0">
                <a:ln w="0"/>
                <a:effectLst>
                  <a:outerShdw blurRad="38100" dist="19050" dir="2700000" algn="tl" rotWithShape="0">
                    <a:schemeClr val="dk1">
                      <a:alpha val="40000"/>
                    </a:schemeClr>
                  </a:outerShdw>
                </a:effectLst>
              </a:rPr>
              <a:t>Source: http://www.differencebetween.net/technology/difference-between-fft-and-dft/</a:t>
            </a:r>
            <a:endParaRPr lang="en-US" sz="20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0904354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6D39391-CC6C-4964-77FC-BE62EB6B62B6}"/>
              </a:ext>
            </a:extLst>
          </p:cNvPr>
          <p:cNvSpPr txBox="1"/>
          <p:nvPr/>
        </p:nvSpPr>
        <p:spPr>
          <a:xfrm>
            <a:off x="3910263" y="2705100"/>
            <a:ext cx="7467600" cy="7971413"/>
          </a:xfrm>
          <a:prstGeom prst="rect">
            <a:avLst/>
          </a:prstGeom>
          <a:noFill/>
        </p:spPr>
        <p:txBody>
          <a:bodyPr wrap="square" rtlCol="0">
            <a:spAutoFit/>
          </a:bodyPr>
          <a:lstStyle/>
          <a:p>
            <a:r>
              <a:rPr lang="en-US" sz="1400" dirty="0"/>
              <a:t>% Number of samples in the signal</a:t>
            </a:r>
          </a:p>
          <a:p>
            <a:r>
              <a:rPr lang="en-US" sz="1400" dirty="0"/>
              <a:t>N = 64; % Increase this value for larger signals</a:t>
            </a:r>
          </a:p>
          <a:p>
            <a:endParaRPr lang="en-US" sz="1400" dirty="0"/>
          </a:p>
          <a:p>
            <a:r>
              <a:rPr lang="en-US" sz="1400" dirty="0"/>
              <a:t>% Generate a random signal</a:t>
            </a:r>
          </a:p>
          <a:p>
            <a:r>
              <a:rPr lang="en-US" sz="1400" dirty="0"/>
              <a:t>signal = rand(1, N);</a:t>
            </a:r>
          </a:p>
          <a:p>
            <a:endParaRPr lang="en-US" sz="1400" dirty="0"/>
          </a:p>
          <a:p>
            <a:r>
              <a:rPr lang="en-US" sz="1400" dirty="0"/>
              <a:t>% Compute the DFT</a:t>
            </a:r>
          </a:p>
          <a:p>
            <a:r>
              <a:rPr lang="en-US" sz="1400" dirty="0"/>
              <a:t>tic;</a:t>
            </a:r>
          </a:p>
          <a:p>
            <a:r>
              <a:rPr lang="en-US" sz="1400" dirty="0" err="1"/>
              <a:t>dft_result</a:t>
            </a:r>
            <a:r>
              <a:rPr lang="en-US" sz="1400" dirty="0"/>
              <a:t> = </a:t>
            </a:r>
            <a:r>
              <a:rPr lang="en-US" sz="1400" dirty="0" err="1"/>
              <a:t>simple_dft</a:t>
            </a:r>
            <a:r>
              <a:rPr lang="en-US" sz="1400" dirty="0"/>
              <a:t>(signal);</a:t>
            </a:r>
          </a:p>
          <a:p>
            <a:r>
              <a:rPr lang="en-US" sz="1400" dirty="0" err="1"/>
              <a:t>dft_time</a:t>
            </a:r>
            <a:r>
              <a:rPr lang="en-US" sz="1400" dirty="0"/>
              <a:t> = toc;</a:t>
            </a:r>
          </a:p>
          <a:p>
            <a:endParaRPr lang="en-US" sz="1400" dirty="0"/>
          </a:p>
          <a:p>
            <a:r>
              <a:rPr lang="en-US" sz="1400" dirty="0"/>
              <a:t>% Compute the FFT</a:t>
            </a:r>
          </a:p>
          <a:p>
            <a:r>
              <a:rPr lang="en-US" sz="1400" dirty="0"/>
              <a:t>tic;</a:t>
            </a:r>
          </a:p>
          <a:p>
            <a:r>
              <a:rPr lang="en-US" sz="1400" dirty="0" err="1"/>
              <a:t>fft_result</a:t>
            </a:r>
            <a:r>
              <a:rPr lang="en-US" sz="1400" dirty="0"/>
              <a:t> = </a:t>
            </a:r>
            <a:r>
              <a:rPr lang="en-US" sz="1400" dirty="0" err="1"/>
              <a:t>fft</a:t>
            </a:r>
            <a:r>
              <a:rPr lang="en-US" sz="1400" dirty="0"/>
              <a:t>(signal);</a:t>
            </a:r>
          </a:p>
          <a:p>
            <a:r>
              <a:rPr lang="en-US" sz="1400" dirty="0" err="1"/>
              <a:t>fft_time</a:t>
            </a:r>
            <a:r>
              <a:rPr lang="en-US" sz="1400" dirty="0"/>
              <a:t> = toc;</a:t>
            </a:r>
          </a:p>
          <a:p>
            <a:endParaRPr lang="en-US" sz="1400" dirty="0"/>
          </a:p>
          <a:p>
            <a:r>
              <a:rPr lang="en-US" sz="1400" dirty="0"/>
              <a:t>% Plotting</a:t>
            </a:r>
          </a:p>
          <a:p>
            <a:r>
              <a:rPr lang="en-US" sz="1400" dirty="0"/>
              <a:t>figure;</a:t>
            </a:r>
          </a:p>
          <a:p>
            <a:endParaRPr lang="en-US" sz="1400" dirty="0"/>
          </a:p>
          <a:p>
            <a:r>
              <a:rPr lang="en-US" sz="1400" dirty="0"/>
              <a:t>% Plot magnitude of DFT</a:t>
            </a:r>
          </a:p>
          <a:p>
            <a:r>
              <a:rPr lang="en-US" sz="1400" dirty="0"/>
              <a:t>subplot(2, 1, 1);</a:t>
            </a:r>
          </a:p>
          <a:p>
            <a:r>
              <a:rPr lang="en-US" sz="1400" dirty="0"/>
              <a:t>stem(0:N-1, abs(</a:t>
            </a:r>
            <a:r>
              <a:rPr lang="en-US" sz="1400" dirty="0" err="1"/>
              <a:t>dft_result</a:t>
            </a:r>
            <a:r>
              <a:rPr lang="en-US" sz="1400" dirty="0"/>
              <a:t>), 'b', 'filled');</a:t>
            </a:r>
          </a:p>
          <a:p>
            <a:r>
              <a:rPr lang="en-US" sz="1400" dirty="0"/>
              <a:t>title('Magnitude of DFT');</a:t>
            </a:r>
          </a:p>
          <a:p>
            <a:r>
              <a:rPr lang="en-US" sz="1400" dirty="0" err="1"/>
              <a:t>xlabel</a:t>
            </a:r>
            <a:r>
              <a:rPr lang="en-US" sz="1400" dirty="0"/>
              <a:t>('Frequency (k)');</a:t>
            </a:r>
          </a:p>
          <a:p>
            <a:r>
              <a:rPr lang="en-US" sz="1400" dirty="0" err="1"/>
              <a:t>ylabel</a:t>
            </a:r>
            <a:r>
              <a:rPr lang="en-US" sz="1400" dirty="0"/>
              <a:t>('Magnitude');</a:t>
            </a:r>
          </a:p>
          <a:p>
            <a:r>
              <a:rPr lang="en-US" sz="1400" dirty="0" err="1"/>
              <a:t>xlim</a:t>
            </a:r>
            <a:r>
              <a:rPr lang="en-US" sz="1400" dirty="0"/>
              <a:t>([0 N/10]); % Limiting the plot to show only a portion of the DFT</a:t>
            </a:r>
          </a:p>
          <a:p>
            <a:endParaRPr lang="en-US" sz="1400" dirty="0"/>
          </a:p>
          <a:p>
            <a:r>
              <a:rPr lang="en-US" sz="1400" dirty="0"/>
              <a:t>% Plot magnitude of FFT</a:t>
            </a:r>
          </a:p>
          <a:p>
            <a:r>
              <a:rPr lang="en-US" sz="1400" dirty="0"/>
              <a:t>subplot(2, 1, 2);</a:t>
            </a:r>
          </a:p>
          <a:p>
            <a:r>
              <a:rPr lang="en-US" sz="1400" dirty="0"/>
              <a:t>stem(0:N-1, abs(</a:t>
            </a:r>
            <a:r>
              <a:rPr lang="en-US" sz="1400" dirty="0" err="1"/>
              <a:t>fft_result</a:t>
            </a:r>
            <a:r>
              <a:rPr lang="en-US" sz="1400" dirty="0"/>
              <a:t>), 'r', 'filled');</a:t>
            </a:r>
          </a:p>
          <a:p>
            <a:r>
              <a:rPr lang="en-US" sz="1400" dirty="0"/>
              <a:t>title('Magnitude of FFT');</a:t>
            </a:r>
          </a:p>
          <a:p>
            <a:r>
              <a:rPr lang="en-US" sz="1400" dirty="0" err="1"/>
              <a:t>xlabel</a:t>
            </a:r>
            <a:r>
              <a:rPr lang="en-US" sz="1400" dirty="0"/>
              <a:t>('Frequency (k)');</a:t>
            </a:r>
          </a:p>
          <a:p>
            <a:r>
              <a:rPr lang="en-US" sz="1400" dirty="0" err="1"/>
              <a:t>ylabel</a:t>
            </a:r>
            <a:r>
              <a:rPr lang="en-US" sz="1400" dirty="0"/>
              <a:t>('Magnitude');</a:t>
            </a:r>
          </a:p>
          <a:p>
            <a:r>
              <a:rPr lang="en-US" sz="1400" dirty="0" err="1"/>
              <a:t>xlim</a:t>
            </a:r>
            <a:r>
              <a:rPr lang="en-US" sz="1400" dirty="0"/>
              <a:t>([0 N/10]); % Limiting the plot to show only a portion of the FFT</a:t>
            </a:r>
          </a:p>
          <a:p>
            <a:endParaRPr lang="en-US" dirty="0"/>
          </a:p>
          <a:p>
            <a:endParaRPr lang="en-US" dirty="0"/>
          </a:p>
        </p:txBody>
      </p:sp>
      <p:sp>
        <p:nvSpPr>
          <p:cNvPr id="5" name="TextBox 4">
            <a:extLst>
              <a:ext uri="{FF2B5EF4-FFF2-40B4-BE49-F238E27FC236}">
                <a16:creationId xmlns:a16="http://schemas.microsoft.com/office/drawing/2014/main" id="{DE166EA3-4CAF-DDFE-97A6-FBC379614239}"/>
              </a:ext>
            </a:extLst>
          </p:cNvPr>
          <p:cNvSpPr txBox="1"/>
          <p:nvPr/>
        </p:nvSpPr>
        <p:spPr>
          <a:xfrm>
            <a:off x="10439400" y="2735179"/>
            <a:ext cx="6629400" cy="5078313"/>
          </a:xfrm>
          <a:prstGeom prst="rect">
            <a:avLst/>
          </a:prstGeom>
          <a:noFill/>
        </p:spPr>
        <p:txBody>
          <a:bodyPr wrap="square" rtlCol="0">
            <a:spAutoFit/>
          </a:bodyPr>
          <a:lstStyle/>
          <a:p>
            <a:r>
              <a:rPr lang="en-US" sz="1200" dirty="0"/>
              <a:t>% Display computation times</a:t>
            </a:r>
          </a:p>
          <a:p>
            <a:r>
              <a:rPr lang="en-US" sz="1200" dirty="0" err="1"/>
              <a:t>disp</a:t>
            </a:r>
            <a:r>
              <a:rPr lang="en-US" sz="1200" dirty="0"/>
              <a:t>(['Computation time for DFT: ' num2str(</a:t>
            </a:r>
            <a:r>
              <a:rPr lang="en-US" sz="1200" dirty="0" err="1"/>
              <a:t>dft_time</a:t>
            </a:r>
            <a:r>
              <a:rPr lang="en-US" sz="1200" dirty="0"/>
              <a:t>) ' seconds']);</a:t>
            </a:r>
          </a:p>
          <a:p>
            <a:r>
              <a:rPr lang="en-US" sz="1200" dirty="0" err="1"/>
              <a:t>disp</a:t>
            </a:r>
            <a:r>
              <a:rPr lang="en-US" sz="1200" dirty="0"/>
              <a:t>(['Computation time for FFT: ' num2str(</a:t>
            </a:r>
            <a:r>
              <a:rPr lang="en-US" sz="1200" dirty="0" err="1"/>
              <a:t>fft_time</a:t>
            </a:r>
            <a:r>
              <a:rPr lang="en-US" sz="1200" dirty="0"/>
              <a:t>) ' seconds']);</a:t>
            </a:r>
          </a:p>
          <a:p>
            <a:endParaRPr lang="en-US" sz="1200" dirty="0"/>
          </a:p>
          <a:p>
            <a:r>
              <a:rPr lang="en-US" sz="1200" dirty="0"/>
              <a:t>% Function to compute DFT</a:t>
            </a:r>
          </a:p>
          <a:p>
            <a:r>
              <a:rPr lang="en-US" sz="1200" dirty="0"/>
              <a:t>function res = </a:t>
            </a:r>
            <a:r>
              <a:rPr lang="en-US" sz="1200" dirty="0" err="1"/>
              <a:t>simple_dft</a:t>
            </a:r>
            <a:r>
              <a:rPr lang="en-US" sz="1200" dirty="0"/>
              <a:t>(signal)</a:t>
            </a:r>
          </a:p>
          <a:p>
            <a:r>
              <a:rPr lang="en-US" sz="1200" dirty="0"/>
              <a:t>    % Get the number of samples in the signal</a:t>
            </a:r>
          </a:p>
          <a:p>
            <a:r>
              <a:rPr lang="en-US" sz="1200" dirty="0"/>
              <a:t>    N = length(signal);</a:t>
            </a:r>
          </a:p>
          <a:p>
            <a:endParaRPr lang="en-US" sz="1200" dirty="0"/>
          </a:p>
          <a:p>
            <a:r>
              <a:rPr lang="en-US" sz="1200" dirty="0"/>
              <a:t>    % Initialize an empty array to store the results (DFT coefficients)</a:t>
            </a:r>
          </a:p>
          <a:p>
            <a:r>
              <a:rPr lang="en-US" sz="1200" dirty="0"/>
              <a:t>    res = zeros(1, N);</a:t>
            </a:r>
          </a:p>
          <a:p>
            <a:endParaRPr lang="en-US" sz="1200" dirty="0"/>
          </a:p>
          <a:p>
            <a:r>
              <a:rPr lang="en-US" sz="1200" dirty="0"/>
              <a:t>    % Iterate over each frequency bin (k)</a:t>
            </a:r>
          </a:p>
          <a:p>
            <a:r>
              <a:rPr lang="en-US" sz="1200" dirty="0"/>
              <a:t>    for k = 0:N-1</a:t>
            </a:r>
          </a:p>
          <a:p>
            <a:r>
              <a:rPr lang="en-US" sz="1200" dirty="0"/>
              <a:t>        % Initialize the current DFT coefficient for the given frequency bin</a:t>
            </a:r>
          </a:p>
          <a:p>
            <a:r>
              <a:rPr lang="en-US" sz="1200" dirty="0"/>
              <a:t>        </a:t>
            </a:r>
            <a:r>
              <a:rPr lang="en-US" sz="1200" dirty="0" err="1"/>
              <a:t>cur_value</a:t>
            </a:r>
            <a:r>
              <a:rPr lang="en-US" sz="1200" dirty="0"/>
              <a:t> = 0;</a:t>
            </a:r>
          </a:p>
          <a:p>
            <a:endParaRPr lang="en-US" sz="1200" dirty="0"/>
          </a:p>
          <a:p>
            <a:r>
              <a:rPr lang="en-US" sz="1200" dirty="0"/>
              <a:t>        % Iterate over each sample in the signal (n)</a:t>
            </a:r>
          </a:p>
          <a:p>
            <a:r>
              <a:rPr lang="en-US" sz="1200" dirty="0"/>
              <a:t>        for n = 0:N-1</a:t>
            </a:r>
          </a:p>
          <a:p>
            <a:r>
              <a:rPr lang="en-US" sz="1200" dirty="0"/>
              <a:t>            % Compute the DFT coefficient</a:t>
            </a:r>
          </a:p>
          <a:p>
            <a:r>
              <a:rPr lang="en-US" sz="1200" dirty="0"/>
              <a:t>            </a:t>
            </a:r>
            <a:r>
              <a:rPr lang="en-US" sz="1200" dirty="0" err="1"/>
              <a:t>cur_value</a:t>
            </a:r>
            <a:r>
              <a:rPr lang="en-US" sz="1200" dirty="0"/>
              <a:t> = </a:t>
            </a:r>
            <a:r>
              <a:rPr lang="en-US" sz="1200" dirty="0" err="1"/>
              <a:t>cur_value</a:t>
            </a:r>
            <a:r>
              <a:rPr lang="en-US" sz="1200" dirty="0"/>
              <a:t> + signal(n+1) * exp(-2i * pi * n * k / N);</a:t>
            </a:r>
          </a:p>
          <a:p>
            <a:r>
              <a:rPr lang="en-US" sz="1200" dirty="0"/>
              <a:t>        end</a:t>
            </a:r>
          </a:p>
          <a:p>
            <a:endParaRPr lang="en-US" sz="1200" dirty="0"/>
          </a:p>
          <a:p>
            <a:r>
              <a:rPr lang="en-US" sz="1200" dirty="0"/>
              <a:t>        % Store the computed DFT coefficient</a:t>
            </a:r>
          </a:p>
          <a:p>
            <a:r>
              <a:rPr lang="en-US" sz="1200" dirty="0"/>
              <a:t>        res(k+1) = </a:t>
            </a:r>
            <a:r>
              <a:rPr lang="en-US" sz="1200" dirty="0" err="1"/>
              <a:t>cur_value</a:t>
            </a:r>
            <a:r>
              <a:rPr lang="en-US" sz="1200" dirty="0"/>
              <a:t>;</a:t>
            </a:r>
          </a:p>
          <a:p>
            <a:r>
              <a:rPr lang="en-US" sz="1200" dirty="0"/>
              <a:t>    end</a:t>
            </a:r>
          </a:p>
          <a:p>
            <a:r>
              <a:rPr lang="en-US" sz="1200" dirty="0"/>
              <a:t>end</a:t>
            </a:r>
          </a:p>
        </p:txBody>
      </p:sp>
      <p:sp>
        <p:nvSpPr>
          <p:cNvPr id="6" name="Rectangle 5">
            <a:extLst>
              <a:ext uri="{FF2B5EF4-FFF2-40B4-BE49-F238E27FC236}">
                <a16:creationId xmlns:a16="http://schemas.microsoft.com/office/drawing/2014/main" id="{8B8785FB-1BB0-06CD-7991-2BC80BCEA6A9}"/>
              </a:ext>
            </a:extLst>
          </p:cNvPr>
          <p:cNvSpPr/>
          <p:nvPr/>
        </p:nvSpPr>
        <p:spPr>
          <a:xfrm>
            <a:off x="4876800" y="266700"/>
            <a:ext cx="9296400" cy="952500"/>
          </a:xfrm>
          <a:prstGeom prst="rect">
            <a:avLst/>
          </a:prstGeom>
          <a:solidFill>
            <a:srgbClr val="73997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t>Difference between DFT and FFT working time:</a:t>
            </a:r>
          </a:p>
        </p:txBody>
      </p:sp>
      <p:sp>
        <p:nvSpPr>
          <p:cNvPr id="4" name="object 5">
            <a:extLst>
              <a:ext uri="{FF2B5EF4-FFF2-40B4-BE49-F238E27FC236}">
                <a16:creationId xmlns:a16="http://schemas.microsoft.com/office/drawing/2014/main" id="{F3EB639C-500C-AD1A-BEBC-E9B61F62E2A5}"/>
              </a:ext>
            </a:extLst>
          </p:cNvPr>
          <p:cNvSpPr/>
          <p:nvPr/>
        </p:nvSpPr>
        <p:spPr>
          <a:xfrm>
            <a:off x="2545975" y="476250"/>
            <a:ext cx="1562100" cy="1562100"/>
          </a:xfrm>
          <a:custGeom>
            <a:avLst/>
            <a:gdLst/>
            <a:ahLst/>
            <a:cxnLst/>
            <a:rect l="l" t="t" r="r" b="b"/>
            <a:pathLst>
              <a:path w="1562100" h="1562100">
                <a:moveTo>
                  <a:pt x="780985" y="1562100"/>
                </a:moveTo>
                <a:lnTo>
                  <a:pt x="756602" y="1494782"/>
                </a:lnTo>
                <a:lnTo>
                  <a:pt x="728330" y="1429003"/>
                </a:lnTo>
                <a:lnTo>
                  <a:pt x="696271" y="1364984"/>
                </a:lnTo>
                <a:lnTo>
                  <a:pt x="660529" y="1302946"/>
                </a:lnTo>
                <a:lnTo>
                  <a:pt x="621231" y="1243097"/>
                </a:lnTo>
                <a:lnTo>
                  <a:pt x="578506" y="1185645"/>
                </a:lnTo>
                <a:lnTo>
                  <a:pt x="532504" y="1130782"/>
                </a:lnTo>
                <a:lnTo>
                  <a:pt x="483377" y="1078698"/>
                </a:lnTo>
                <a:lnTo>
                  <a:pt x="431297" y="1029566"/>
                </a:lnTo>
                <a:lnTo>
                  <a:pt x="376437" y="983560"/>
                </a:lnTo>
                <a:lnTo>
                  <a:pt x="318989" y="940830"/>
                </a:lnTo>
                <a:lnTo>
                  <a:pt x="259143" y="901527"/>
                </a:lnTo>
                <a:lnTo>
                  <a:pt x="197108" y="865780"/>
                </a:lnTo>
                <a:lnTo>
                  <a:pt x="133092" y="833716"/>
                </a:lnTo>
                <a:lnTo>
                  <a:pt x="67315" y="805438"/>
                </a:lnTo>
                <a:lnTo>
                  <a:pt x="0" y="781050"/>
                </a:lnTo>
                <a:lnTo>
                  <a:pt x="33850" y="769341"/>
                </a:lnTo>
                <a:lnTo>
                  <a:pt x="100396" y="743008"/>
                </a:lnTo>
                <a:lnTo>
                  <a:pt x="165348" y="712812"/>
                </a:lnTo>
                <a:lnTo>
                  <a:pt x="228373" y="678906"/>
                </a:lnTo>
                <a:lnTo>
                  <a:pt x="289366" y="641349"/>
                </a:lnTo>
                <a:lnTo>
                  <a:pt x="348012" y="600333"/>
                </a:lnTo>
                <a:lnTo>
                  <a:pt x="404214" y="555926"/>
                </a:lnTo>
                <a:lnTo>
                  <a:pt x="457684" y="508358"/>
                </a:lnTo>
                <a:lnTo>
                  <a:pt x="508331" y="457707"/>
                </a:lnTo>
                <a:lnTo>
                  <a:pt x="555895" y="404233"/>
                </a:lnTo>
                <a:lnTo>
                  <a:pt x="600297" y="348027"/>
                </a:lnTo>
                <a:lnTo>
                  <a:pt x="641309" y="289377"/>
                </a:lnTo>
                <a:lnTo>
                  <a:pt x="678861" y="228382"/>
                </a:lnTo>
                <a:lnTo>
                  <a:pt x="712761" y="165353"/>
                </a:lnTo>
                <a:lnTo>
                  <a:pt x="742952" y="100399"/>
                </a:lnTo>
                <a:lnTo>
                  <a:pt x="769280" y="33851"/>
                </a:lnTo>
                <a:lnTo>
                  <a:pt x="780985" y="0"/>
                </a:lnTo>
                <a:lnTo>
                  <a:pt x="792690" y="33850"/>
                </a:lnTo>
                <a:lnTo>
                  <a:pt x="819017" y="100398"/>
                </a:lnTo>
                <a:lnTo>
                  <a:pt x="849207" y="165352"/>
                </a:lnTo>
                <a:lnTo>
                  <a:pt x="883106" y="228380"/>
                </a:lnTo>
                <a:lnTo>
                  <a:pt x="920657" y="289374"/>
                </a:lnTo>
                <a:lnTo>
                  <a:pt x="961668" y="348024"/>
                </a:lnTo>
                <a:lnTo>
                  <a:pt x="1006068" y="404230"/>
                </a:lnTo>
                <a:lnTo>
                  <a:pt x="1053631" y="457703"/>
                </a:lnTo>
                <a:lnTo>
                  <a:pt x="1104276" y="508354"/>
                </a:lnTo>
                <a:lnTo>
                  <a:pt x="1157745" y="555923"/>
                </a:lnTo>
                <a:lnTo>
                  <a:pt x="1213946" y="600329"/>
                </a:lnTo>
                <a:lnTo>
                  <a:pt x="1272591" y="641346"/>
                </a:lnTo>
                <a:lnTo>
                  <a:pt x="1333582" y="678904"/>
                </a:lnTo>
                <a:lnTo>
                  <a:pt x="1396606" y="712810"/>
                </a:lnTo>
                <a:lnTo>
                  <a:pt x="1461557" y="743007"/>
                </a:lnTo>
                <a:lnTo>
                  <a:pt x="1528101" y="769341"/>
                </a:lnTo>
                <a:lnTo>
                  <a:pt x="1561951" y="781050"/>
                </a:lnTo>
                <a:lnTo>
                  <a:pt x="1528101" y="792758"/>
                </a:lnTo>
                <a:lnTo>
                  <a:pt x="1461556" y="819092"/>
                </a:lnTo>
                <a:lnTo>
                  <a:pt x="1396606" y="849289"/>
                </a:lnTo>
                <a:lnTo>
                  <a:pt x="1333582" y="883195"/>
                </a:lnTo>
                <a:lnTo>
                  <a:pt x="1272591" y="920753"/>
                </a:lnTo>
                <a:lnTo>
                  <a:pt x="1213945" y="961770"/>
                </a:lnTo>
                <a:lnTo>
                  <a:pt x="1157745" y="1006176"/>
                </a:lnTo>
                <a:lnTo>
                  <a:pt x="1104276" y="1053745"/>
                </a:lnTo>
                <a:lnTo>
                  <a:pt x="1053631" y="1104396"/>
                </a:lnTo>
                <a:lnTo>
                  <a:pt x="1006068" y="1157870"/>
                </a:lnTo>
                <a:lnTo>
                  <a:pt x="961668" y="1214075"/>
                </a:lnTo>
                <a:lnTo>
                  <a:pt x="920657" y="1272725"/>
                </a:lnTo>
                <a:lnTo>
                  <a:pt x="883106" y="1333720"/>
                </a:lnTo>
                <a:lnTo>
                  <a:pt x="849207" y="1396748"/>
                </a:lnTo>
                <a:lnTo>
                  <a:pt x="819017" y="1461701"/>
                </a:lnTo>
                <a:lnTo>
                  <a:pt x="792690" y="1528249"/>
                </a:lnTo>
                <a:lnTo>
                  <a:pt x="780985" y="1562100"/>
                </a:lnTo>
                <a:close/>
              </a:path>
            </a:pathLst>
          </a:custGeom>
          <a:solidFill>
            <a:schemeClr val="accent3">
              <a:lumMod val="50000"/>
            </a:schemeClr>
          </a:solidFill>
        </p:spPr>
        <p:txBody>
          <a:bodyPr wrap="square" lIns="0" tIns="0" rIns="0" bIns="0" rtlCol="0"/>
          <a:lstStyle/>
          <a:p>
            <a:endParaRPr dirty="0"/>
          </a:p>
        </p:txBody>
      </p:sp>
      <p:grpSp>
        <p:nvGrpSpPr>
          <p:cNvPr id="10" name="object 3">
            <a:extLst>
              <a:ext uri="{FF2B5EF4-FFF2-40B4-BE49-F238E27FC236}">
                <a16:creationId xmlns:a16="http://schemas.microsoft.com/office/drawing/2014/main" id="{4C41B1C5-510E-EE98-4EE1-5E7CB945E485}"/>
              </a:ext>
            </a:extLst>
          </p:cNvPr>
          <p:cNvGrpSpPr/>
          <p:nvPr/>
        </p:nvGrpSpPr>
        <p:grpSpPr>
          <a:xfrm>
            <a:off x="-29308" y="0"/>
            <a:ext cx="4296508" cy="10325100"/>
            <a:chOff x="-375" y="0"/>
            <a:chExt cx="4108450" cy="10287000"/>
          </a:xfrm>
          <a:solidFill>
            <a:schemeClr val="tx1">
              <a:lumMod val="75000"/>
              <a:lumOff val="25000"/>
            </a:schemeClr>
          </a:solidFill>
        </p:grpSpPr>
        <p:sp>
          <p:nvSpPr>
            <p:cNvPr id="11" name="object 4">
              <a:extLst>
                <a:ext uri="{FF2B5EF4-FFF2-40B4-BE49-F238E27FC236}">
                  <a16:creationId xmlns:a16="http://schemas.microsoft.com/office/drawing/2014/main" id="{2E88F5AC-C23C-FFB5-64E5-C98086F39718}"/>
                </a:ext>
              </a:extLst>
            </p:cNvPr>
            <p:cNvSpPr/>
            <p:nvPr/>
          </p:nvSpPr>
          <p:spPr>
            <a:xfrm>
              <a:off x="-375" y="0"/>
              <a:ext cx="3327400" cy="10287000"/>
            </a:xfrm>
            <a:custGeom>
              <a:avLst/>
              <a:gdLst/>
              <a:ahLst/>
              <a:cxnLst/>
              <a:rect l="l" t="t" r="r" b="b"/>
              <a:pathLst>
                <a:path w="3327400" h="10287000">
                  <a:moveTo>
                    <a:pt x="0" y="10287000"/>
                  </a:moveTo>
                  <a:lnTo>
                    <a:pt x="0" y="0"/>
                  </a:lnTo>
                  <a:lnTo>
                    <a:pt x="3327201" y="0"/>
                  </a:lnTo>
                  <a:lnTo>
                    <a:pt x="3327201" y="10287000"/>
                  </a:lnTo>
                  <a:lnTo>
                    <a:pt x="0" y="10287000"/>
                  </a:lnTo>
                  <a:close/>
                </a:path>
              </a:pathLst>
            </a:custGeom>
            <a:solidFill>
              <a:schemeClr val="accent3">
                <a:lumMod val="60000"/>
                <a:lumOff val="40000"/>
              </a:schemeClr>
            </a:solidFill>
          </p:spPr>
          <p:txBody>
            <a:bodyPr wrap="square" lIns="0" tIns="0" rIns="0" bIns="0" rtlCol="0"/>
            <a:lstStyle/>
            <a:p>
              <a:endParaRPr/>
            </a:p>
          </p:txBody>
        </p:sp>
        <p:sp>
          <p:nvSpPr>
            <p:cNvPr id="12" name="object 5">
              <a:extLst>
                <a:ext uri="{FF2B5EF4-FFF2-40B4-BE49-F238E27FC236}">
                  <a16:creationId xmlns:a16="http://schemas.microsoft.com/office/drawing/2014/main" id="{D1AB9FF3-A6AF-D989-F344-98AE873DD686}"/>
                </a:ext>
              </a:extLst>
            </p:cNvPr>
            <p:cNvSpPr/>
            <p:nvPr/>
          </p:nvSpPr>
          <p:spPr>
            <a:xfrm>
              <a:off x="2545975" y="476250"/>
              <a:ext cx="1562100" cy="1562100"/>
            </a:xfrm>
            <a:custGeom>
              <a:avLst/>
              <a:gdLst/>
              <a:ahLst/>
              <a:cxnLst/>
              <a:rect l="l" t="t" r="r" b="b"/>
              <a:pathLst>
                <a:path w="1562100" h="1562100">
                  <a:moveTo>
                    <a:pt x="780985" y="1562100"/>
                  </a:moveTo>
                  <a:lnTo>
                    <a:pt x="756602" y="1494782"/>
                  </a:lnTo>
                  <a:lnTo>
                    <a:pt x="728330" y="1429003"/>
                  </a:lnTo>
                  <a:lnTo>
                    <a:pt x="696271" y="1364984"/>
                  </a:lnTo>
                  <a:lnTo>
                    <a:pt x="660529" y="1302946"/>
                  </a:lnTo>
                  <a:lnTo>
                    <a:pt x="621231" y="1243097"/>
                  </a:lnTo>
                  <a:lnTo>
                    <a:pt x="578506" y="1185645"/>
                  </a:lnTo>
                  <a:lnTo>
                    <a:pt x="532504" y="1130782"/>
                  </a:lnTo>
                  <a:lnTo>
                    <a:pt x="483377" y="1078698"/>
                  </a:lnTo>
                  <a:lnTo>
                    <a:pt x="431297" y="1029566"/>
                  </a:lnTo>
                  <a:lnTo>
                    <a:pt x="376437" y="983560"/>
                  </a:lnTo>
                  <a:lnTo>
                    <a:pt x="318989" y="940830"/>
                  </a:lnTo>
                  <a:lnTo>
                    <a:pt x="259143" y="901527"/>
                  </a:lnTo>
                  <a:lnTo>
                    <a:pt x="197108" y="865780"/>
                  </a:lnTo>
                  <a:lnTo>
                    <a:pt x="133092" y="833716"/>
                  </a:lnTo>
                  <a:lnTo>
                    <a:pt x="67315" y="805438"/>
                  </a:lnTo>
                  <a:lnTo>
                    <a:pt x="0" y="781050"/>
                  </a:lnTo>
                  <a:lnTo>
                    <a:pt x="33850" y="769341"/>
                  </a:lnTo>
                  <a:lnTo>
                    <a:pt x="100396" y="743008"/>
                  </a:lnTo>
                  <a:lnTo>
                    <a:pt x="165348" y="712812"/>
                  </a:lnTo>
                  <a:lnTo>
                    <a:pt x="228373" y="678906"/>
                  </a:lnTo>
                  <a:lnTo>
                    <a:pt x="289366" y="641349"/>
                  </a:lnTo>
                  <a:lnTo>
                    <a:pt x="348012" y="600333"/>
                  </a:lnTo>
                  <a:lnTo>
                    <a:pt x="404214" y="555926"/>
                  </a:lnTo>
                  <a:lnTo>
                    <a:pt x="457684" y="508358"/>
                  </a:lnTo>
                  <a:lnTo>
                    <a:pt x="508331" y="457707"/>
                  </a:lnTo>
                  <a:lnTo>
                    <a:pt x="555895" y="404233"/>
                  </a:lnTo>
                  <a:lnTo>
                    <a:pt x="600297" y="348027"/>
                  </a:lnTo>
                  <a:lnTo>
                    <a:pt x="641309" y="289377"/>
                  </a:lnTo>
                  <a:lnTo>
                    <a:pt x="678861" y="228382"/>
                  </a:lnTo>
                  <a:lnTo>
                    <a:pt x="712761" y="165353"/>
                  </a:lnTo>
                  <a:lnTo>
                    <a:pt x="742952" y="100399"/>
                  </a:lnTo>
                  <a:lnTo>
                    <a:pt x="769280" y="33851"/>
                  </a:lnTo>
                  <a:lnTo>
                    <a:pt x="780985" y="0"/>
                  </a:lnTo>
                  <a:lnTo>
                    <a:pt x="792690" y="33850"/>
                  </a:lnTo>
                  <a:lnTo>
                    <a:pt x="819017" y="100398"/>
                  </a:lnTo>
                  <a:lnTo>
                    <a:pt x="849207" y="165352"/>
                  </a:lnTo>
                  <a:lnTo>
                    <a:pt x="883106" y="228380"/>
                  </a:lnTo>
                  <a:lnTo>
                    <a:pt x="920657" y="289374"/>
                  </a:lnTo>
                  <a:lnTo>
                    <a:pt x="961668" y="348024"/>
                  </a:lnTo>
                  <a:lnTo>
                    <a:pt x="1006068" y="404230"/>
                  </a:lnTo>
                  <a:lnTo>
                    <a:pt x="1053631" y="457703"/>
                  </a:lnTo>
                  <a:lnTo>
                    <a:pt x="1104276" y="508354"/>
                  </a:lnTo>
                  <a:lnTo>
                    <a:pt x="1157745" y="555923"/>
                  </a:lnTo>
                  <a:lnTo>
                    <a:pt x="1213946" y="600329"/>
                  </a:lnTo>
                  <a:lnTo>
                    <a:pt x="1272591" y="641346"/>
                  </a:lnTo>
                  <a:lnTo>
                    <a:pt x="1333582" y="678904"/>
                  </a:lnTo>
                  <a:lnTo>
                    <a:pt x="1396606" y="712810"/>
                  </a:lnTo>
                  <a:lnTo>
                    <a:pt x="1461557" y="743007"/>
                  </a:lnTo>
                  <a:lnTo>
                    <a:pt x="1528101" y="769341"/>
                  </a:lnTo>
                  <a:lnTo>
                    <a:pt x="1561951" y="781050"/>
                  </a:lnTo>
                  <a:lnTo>
                    <a:pt x="1528101" y="792758"/>
                  </a:lnTo>
                  <a:lnTo>
                    <a:pt x="1461556" y="819092"/>
                  </a:lnTo>
                  <a:lnTo>
                    <a:pt x="1396606" y="849289"/>
                  </a:lnTo>
                  <a:lnTo>
                    <a:pt x="1333582" y="883195"/>
                  </a:lnTo>
                  <a:lnTo>
                    <a:pt x="1272591" y="920753"/>
                  </a:lnTo>
                  <a:lnTo>
                    <a:pt x="1213945" y="961770"/>
                  </a:lnTo>
                  <a:lnTo>
                    <a:pt x="1157745" y="1006176"/>
                  </a:lnTo>
                  <a:lnTo>
                    <a:pt x="1104276" y="1053745"/>
                  </a:lnTo>
                  <a:lnTo>
                    <a:pt x="1053631" y="1104396"/>
                  </a:lnTo>
                  <a:lnTo>
                    <a:pt x="1006068" y="1157870"/>
                  </a:lnTo>
                  <a:lnTo>
                    <a:pt x="961668" y="1214075"/>
                  </a:lnTo>
                  <a:lnTo>
                    <a:pt x="920657" y="1272725"/>
                  </a:lnTo>
                  <a:lnTo>
                    <a:pt x="883106" y="1333720"/>
                  </a:lnTo>
                  <a:lnTo>
                    <a:pt x="849207" y="1396748"/>
                  </a:lnTo>
                  <a:lnTo>
                    <a:pt x="819017" y="1461701"/>
                  </a:lnTo>
                  <a:lnTo>
                    <a:pt x="792690" y="1528249"/>
                  </a:lnTo>
                  <a:lnTo>
                    <a:pt x="780985" y="1562100"/>
                  </a:lnTo>
                  <a:close/>
                </a:path>
              </a:pathLst>
            </a:custGeom>
            <a:solidFill>
              <a:schemeClr val="bg2">
                <a:lumMod val="75000"/>
              </a:schemeClr>
            </a:solidFill>
          </p:spPr>
          <p:txBody>
            <a:bodyPr wrap="square" lIns="0" tIns="0" rIns="0" bIns="0" rtlCol="0"/>
            <a:lstStyle/>
            <a:p>
              <a:endParaRPr dirty="0"/>
            </a:p>
          </p:txBody>
        </p:sp>
      </p:grpSp>
      <p:sp>
        <p:nvSpPr>
          <p:cNvPr id="13" name="Rectangle 12">
            <a:extLst>
              <a:ext uri="{FF2B5EF4-FFF2-40B4-BE49-F238E27FC236}">
                <a16:creationId xmlns:a16="http://schemas.microsoft.com/office/drawing/2014/main" id="{8F6AC7F7-47C6-56F3-3A77-0835C8DB85FA}"/>
              </a:ext>
            </a:extLst>
          </p:cNvPr>
          <p:cNvSpPr/>
          <p:nvPr/>
        </p:nvSpPr>
        <p:spPr>
          <a:xfrm>
            <a:off x="4230866" y="1555234"/>
            <a:ext cx="8531182" cy="646331"/>
          </a:xfrm>
          <a:prstGeom prst="rect">
            <a:avLst/>
          </a:prstGeom>
          <a:noFill/>
        </p:spPr>
        <p:txBody>
          <a:bodyPr wrap="none" lIns="91440" tIns="45720" rIns="91440" bIns="45720">
            <a:spAutoFit/>
          </a:bodyPr>
          <a:lstStyle/>
          <a:p>
            <a:pPr algn="ctr"/>
            <a:r>
              <a:rPr lang="en-US" sz="3600" b="0" cap="none" spc="0" dirty="0">
                <a:ln w="0"/>
                <a:solidFill>
                  <a:schemeClr val="accent3"/>
                </a:solidFill>
                <a:effectLst>
                  <a:outerShdw blurRad="38100" dist="19050" dir="2700000" algn="tl" rotWithShape="0">
                    <a:schemeClr val="dk1">
                      <a:alpha val="40000"/>
                    </a:schemeClr>
                  </a:outerShdw>
                </a:effectLst>
              </a:rPr>
              <a:t>A random signal is generated and compared:</a:t>
            </a:r>
          </a:p>
        </p:txBody>
      </p:sp>
    </p:spTree>
    <p:extLst>
      <p:ext uri="{BB962C8B-B14F-4D97-AF65-F5344CB8AC3E}">
        <p14:creationId xmlns:p14="http://schemas.microsoft.com/office/powerpoint/2010/main" val="6312892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87799DA-E3ED-691D-E030-19B169C271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88261" y="1738386"/>
            <a:ext cx="6496682" cy="3405114"/>
          </a:xfrm>
          <a:prstGeom prst="rect">
            <a:avLst/>
          </a:prstGeom>
        </p:spPr>
      </p:pic>
      <p:pic>
        <p:nvPicPr>
          <p:cNvPr id="5" name="Picture 4">
            <a:extLst>
              <a:ext uri="{FF2B5EF4-FFF2-40B4-BE49-F238E27FC236}">
                <a16:creationId xmlns:a16="http://schemas.microsoft.com/office/drawing/2014/main" id="{286A00BB-2DDB-11F9-EAB7-386ACC0FB3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95419" y="1485900"/>
            <a:ext cx="6676190" cy="4980952"/>
          </a:xfrm>
          <a:prstGeom prst="rect">
            <a:avLst/>
          </a:prstGeom>
        </p:spPr>
      </p:pic>
      <p:sp>
        <p:nvSpPr>
          <p:cNvPr id="2" name="object 5">
            <a:extLst>
              <a:ext uri="{FF2B5EF4-FFF2-40B4-BE49-F238E27FC236}">
                <a16:creationId xmlns:a16="http://schemas.microsoft.com/office/drawing/2014/main" id="{B47D115C-6AB0-2B1D-0D30-72308C89147F}"/>
              </a:ext>
            </a:extLst>
          </p:cNvPr>
          <p:cNvSpPr/>
          <p:nvPr/>
        </p:nvSpPr>
        <p:spPr>
          <a:xfrm>
            <a:off x="2545975" y="476250"/>
            <a:ext cx="1562100" cy="1562100"/>
          </a:xfrm>
          <a:custGeom>
            <a:avLst/>
            <a:gdLst/>
            <a:ahLst/>
            <a:cxnLst/>
            <a:rect l="l" t="t" r="r" b="b"/>
            <a:pathLst>
              <a:path w="1562100" h="1562100">
                <a:moveTo>
                  <a:pt x="780985" y="1562100"/>
                </a:moveTo>
                <a:lnTo>
                  <a:pt x="756602" y="1494782"/>
                </a:lnTo>
                <a:lnTo>
                  <a:pt x="728330" y="1429003"/>
                </a:lnTo>
                <a:lnTo>
                  <a:pt x="696271" y="1364984"/>
                </a:lnTo>
                <a:lnTo>
                  <a:pt x="660529" y="1302946"/>
                </a:lnTo>
                <a:lnTo>
                  <a:pt x="621231" y="1243097"/>
                </a:lnTo>
                <a:lnTo>
                  <a:pt x="578506" y="1185645"/>
                </a:lnTo>
                <a:lnTo>
                  <a:pt x="532504" y="1130782"/>
                </a:lnTo>
                <a:lnTo>
                  <a:pt x="483377" y="1078698"/>
                </a:lnTo>
                <a:lnTo>
                  <a:pt x="431297" y="1029566"/>
                </a:lnTo>
                <a:lnTo>
                  <a:pt x="376437" y="983560"/>
                </a:lnTo>
                <a:lnTo>
                  <a:pt x="318989" y="940830"/>
                </a:lnTo>
                <a:lnTo>
                  <a:pt x="259143" y="901527"/>
                </a:lnTo>
                <a:lnTo>
                  <a:pt x="197108" y="865780"/>
                </a:lnTo>
                <a:lnTo>
                  <a:pt x="133092" y="833716"/>
                </a:lnTo>
                <a:lnTo>
                  <a:pt x="67315" y="805438"/>
                </a:lnTo>
                <a:lnTo>
                  <a:pt x="0" y="781050"/>
                </a:lnTo>
                <a:lnTo>
                  <a:pt x="33850" y="769341"/>
                </a:lnTo>
                <a:lnTo>
                  <a:pt x="100396" y="743008"/>
                </a:lnTo>
                <a:lnTo>
                  <a:pt x="165348" y="712812"/>
                </a:lnTo>
                <a:lnTo>
                  <a:pt x="228373" y="678906"/>
                </a:lnTo>
                <a:lnTo>
                  <a:pt x="289366" y="641349"/>
                </a:lnTo>
                <a:lnTo>
                  <a:pt x="348012" y="600333"/>
                </a:lnTo>
                <a:lnTo>
                  <a:pt x="404214" y="555926"/>
                </a:lnTo>
                <a:lnTo>
                  <a:pt x="457684" y="508358"/>
                </a:lnTo>
                <a:lnTo>
                  <a:pt x="508331" y="457707"/>
                </a:lnTo>
                <a:lnTo>
                  <a:pt x="555895" y="404233"/>
                </a:lnTo>
                <a:lnTo>
                  <a:pt x="600297" y="348027"/>
                </a:lnTo>
                <a:lnTo>
                  <a:pt x="641309" y="289377"/>
                </a:lnTo>
                <a:lnTo>
                  <a:pt x="678861" y="228382"/>
                </a:lnTo>
                <a:lnTo>
                  <a:pt x="712761" y="165353"/>
                </a:lnTo>
                <a:lnTo>
                  <a:pt x="742952" y="100399"/>
                </a:lnTo>
                <a:lnTo>
                  <a:pt x="769280" y="33851"/>
                </a:lnTo>
                <a:lnTo>
                  <a:pt x="780985" y="0"/>
                </a:lnTo>
                <a:lnTo>
                  <a:pt x="792690" y="33850"/>
                </a:lnTo>
                <a:lnTo>
                  <a:pt x="819017" y="100398"/>
                </a:lnTo>
                <a:lnTo>
                  <a:pt x="849207" y="165352"/>
                </a:lnTo>
                <a:lnTo>
                  <a:pt x="883106" y="228380"/>
                </a:lnTo>
                <a:lnTo>
                  <a:pt x="920657" y="289374"/>
                </a:lnTo>
                <a:lnTo>
                  <a:pt x="961668" y="348024"/>
                </a:lnTo>
                <a:lnTo>
                  <a:pt x="1006068" y="404230"/>
                </a:lnTo>
                <a:lnTo>
                  <a:pt x="1053631" y="457703"/>
                </a:lnTo>
                <a:lnTo>
                  <a:pt x="1104276" y="508354"/>
                </a:lnTo>
                <a:lnTo>
                  <a:pt x="1157745" y="555923"/>
                </a:lnTo>
                <a:lnTo>
                  <a:pt x="1213946" y="600329"/>
                </a:lnTo>
                <a:lnTo>
                  <a:pt x="1272591" y="641346"/>
                </a:lnTo>
                <a:lnTo>
                  <a:pt x="1333582" y="678904"/>
                </a:lnTo>
                <a:lnTo>
                  <a:pt x="1396606" y="712810"/>
                </a:lnTo>
                <a:lnTo>
                  <a:pt x="1461557" y="743007"/>
                </a:lnTo>
                <a:lnTo>
                  <a:pt x="1528101" y="769341"/>
                </a:lnTo>
                <a:lnTo>
                  <a:pt x="1561951" y="781050"/>
                </a:lnTo>
                <a:lnTo>
                  <a:pt x="1528101" y="792758"/>
                </a:lnTo>
                <a:lnTo>
                  <a:pt x="1461556" y="819092"/>
                </a:lnTo>
                <a:lnTo>
                  <a:pt x="1396606" y="849289"/>
                </a:lnTo>
                <a:lnTo>
                  <a:pt x="1333582" y="883195"/>
                </a:lnTo>
                <a:lnTo>
                  <a:pt x="1272591" y="920753"/>
                </a:lnTo>
                <a:lnTo>
                  <a:pt x="1213945" y="961770"/>
                </a:lnTo>
                <a:lnTo>
                  <a:pt x="1157745" y="1006176"/>
                </a:lnTo>
                <a:lnTo>
                  <a:pt x="1104276" y="1053745"/>
                </a:lnTo>
                <a:lnTo>
                  <a:pt x="1053631" y="1104396"/>
                </a:lnTo>
                <a:lnTo>
                  <a:pt x="1006068" y="1157870"/>
                </a:lnTo>
                <a:lnTo>
                  <a:pt x="961668" y="1214075"/>
                </a:lnTo>
                <a:lnTo>
                  <a:pt x="920657" y="1272725"/>
                </a:lnTo>
                <a:lnTo>
                  <a:pt x="883106" y="1333720"/>
                </a:lnTo>
                <a:lnTo>
                  <a:pt x="849207" y="1396748"/>
                </a:lnTo>
                <a:lnTo>
                  <a:pt x="819017" y="1461701"/>
                </a:lnTo>
                <a:lnTo>
                  <a:pt x="792690" y="1528249"/>
                </a:lnTo>
                <a:lnTo>
                  <a:pt x="780985" y="1562100"/>
                </a:lnTo>
                <a:close/>
              </a:path>
            </a:pathLst>
          </a:custGeom>
          <a:solidFill>
            <a:schemeClr val="accent3">
              <a:lumMod val="50000"/>
            </a:schemeClr>
          </a:solidFill>
        </p:spPr>
        <p:txBody>
          <a:bodyPr wrap="square" lIns="0" tIns="0" rIns="0" bIns="0" rtlCol="0"/>
          <a:lstStyle/>
          <a:p>
            <a:endParaRPr dirty="0"/>
          </a:p>
        </p:txBody>
      </p:sp>
      <p:sp>
        <p:nvSpPr>
          <p:cNvPr id="6" name="Rectangle 5">
            <a:extLst>
              <a:ext uri="{FF2B5EF4-FFF2-40B4-BE49-F238E27FC236}">
                <a16:creationId xmlns:a16="http://schemas.microsoft.com/office/drawing/2014/main" id="{0AEB40C8-5D73-DE58-F6CD-FCC629FCE46E}"/>
              </a:ext>
            </a:extLst>
          </p:cNvPr>
          <p:cNvSpPr/>
          <p:nvPr/>
        </p:nvSpPr>
        <p:spPr>
          <a:xfrm>
            <a:off x="4191000" y="7505700"/>
            <a:ext cx="13646525" cy="584775"/>
          </a:xfrm>
          <a:prstGeom prst="rect">
            <a:avLst/>
          </a:prstGeom>
          <a:noFill/>
        </p:spPr>
        <p:txBody>
          <a:bodyPr wrap="square" lIns="91440" tIns="45720" rIns="91440" bIns="45720">
            <a:spAutoFit/>
          </a:bodyPr>
          <a:lstStyle/>
          <a:p>
            <a:r>
              <a:rPr lang="en-US" sz="3200" dirty="0">
                <a:ln w="0"/>
                <a:effectLst>
                  <a:outerShdw blurRad="38100" dist="19050" dir="2700000" algn="tl" rotWithShape="0">
                    <a:schemeClr val="dk1">
                      <a:alpha val="40000"/>
                    </a:schemeClr>
                  </a:outerShdw>
                </a:effectLst>
              </a:rPr>
              <a:t>The time reduces by a good margin using FFT when dealing with a larger signal.</a:t>
            </a:r>
            <a:endParaRPr lang="en-US" sz="32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3611903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FAD5F79-67E2-EF0C-AE4D-CB2668E7172A}"/>
              </a:ext>
            </a:extLst>
          </p:cNvPr>
          <p:cNvSpPr txBox="1"/>
          <p:nvPr/>
        </p:nvSpPr>
        <p:spPr>
          <a:xfrm>
            <a:off x="4570823" y="4870036"/>
            <a:ext cx="9141642" cy="507831"/>
          </a:xfrm>
          <a:prstGeom prst="rect">
            <a:avLst/>
          </a:prstGeom>
          <a:noFill/>
        </p:spPr>
        <p:txBody>
          <a:bodyPr wrap="square">
            <a:spAutoFit/>
          </a:bodyPr>
          <a:lstStyle/>
          <a:p>
            <a:endParaRPr lang="en-US" sz="2700" dirty="0"/>
          </a:p>
        </p:txBody>
      </p:sp>
      <p:pic>
        <p:nvPicPr>
          <p:cNvPr id="2" name="Picture 1">
            <a:extLst>
              <a:ext uri="{FF2B5EF4-FFF2-40B4-BE49-F238E27FC236}">
                <a16:creationId xmlns:a16="http://schemas.microsoft.com/office/drawing/2014/main" id="{8DC6CE2E-EB27-C1DD-E9FC-479DFB5862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7024" y="16764"/>
            <a:ext cx="14960975" cy="10287000"/>
          </a:xfrm>
          <a:prstGeom prst="rect">
            <a:avLst/>
          </a:prstGeom>
        </p:spPr>
      </p:pic>
      <p:grpSp>
        <p:nvGrpSpPr>
          <p:cNvPr id="4" name="object 3">
            <a:extLst>
              <a:ext uri="{FF2B5EF4-FFF2-40B4-BE49-F238E27FC236}">
                <a16:creationId xmlns:a16="http://schemas.microsoft.com/office/drawing/2014/main" id="{E2437564-98C5-AD69-CBA2-2C9D073117C4}"/>
              </a:ext>
            </a:extLst>
          </p:cNvPr>
          <p:cNvGrpSpPr/>
          <p:nvPr/>
        </p:nvGrpSpPr>
        <p:grpSpPr>
          <a:xfrm>
            <a:off x="-375" y="0"/>
            <a:ext cx="4108450" cy="10287000"/>
            <a:chOff x="-375" y="0"/>
            <a:chExt cx="4108450" cy="10287000"/>
          </a:xfrm>
          <a:solidFill>
            <a:schemeClr val="accent4">
              <a:lumMod val="75000"/>
            </a:schemeClr>
          </a:solidFill>
        </p:grpSpPr>
        <p:sp>
          <p:nvSpPr>
            <p:cNvPr id="5" name="object 4">
              <a:extLst>
                <a:ext uri="{FF2B5EF4-FFF2-40B4-BE49-F238E27FC236}">
                  <a16:creationId xmlns:a16="http://schemas.microsoft.com/office/drawing/2014/main" id="{654BAF9C-FE35-2CBE-8D3E-3ADF130AF44A}"/>
                </a:ext>
              </a:extLst>
            </p:cNvPr>
            <p:cNvSpPr/>
            <p:nvPr/>
          </p:nvSpPr>
          <p:spPr>
            <a:xfrm>
              <a:off x="-375" y="0"/>
              <a:ext cx="3327400" cy="10287000"/>
            </a:xfrm>
            <a:custGeom>
              <a:avLst/>
              <a:gdLst/>
              <a:ahLst/>
              <a:cxnLst/>
              <a:rect l="l" t="t" r="r" b="b"/>
              <a:pathLst>
                <a:path w="3327400" h="10287000">
                  <a:moveTo>
                    <a:pt x="0" y="10287000"/>
                  </a:moveTo>
                  <a:lnTo>
                    <a:pt x="0" y="0"/>
                  </a:lnTo>
                  <a:lnTo>
                    <a:pt x="3327201" y="0"/>
                  </a:lnTo>
                  <a:lnTo>
                    <a:pt x="3327201" y="10287000"/>
                  </a:lnTo>
                  <a:lnTo>
                    <a:pt x="0" y="10287000"/>
                  </a:lnTo>
                  <a:close/>
                </a:path>
              </a:pathLst>
            </a:custGeom>
            <a:grpFill/>
          </p:spPr>
          <p:txBody>
            <a:bodyPr wrap="square" lIns="0" tIns="0" rIns="0" bIns="0" rtlCol="0"/>
            <a:lstStyle/>
            <a:p>
              <a:endParaRPr/>
            </a:p>
          </p:txBody>
        </p:sp>
        <p:sp>
          <p:nvSpPr>
            <p:cNvPr id="6" name="object 5">
              <a:extLst>
                <a:ext uri="{FF2B5EF4-FFF2-40B4-BE49-F238E27FC236}">
                  <a16:creationId xmlns:a16="http://schemas.microsoft.com/office/drawing/2014/main" id="{DE00BF5A-B03D-2C7B-E152-DAA8A679BF9A}"/>
                </a:ext>
              </a:extLst>
            </p:cNvPr>
            <p:cNvSpPr/>
            <p:nvPr/>
          </p:nvSpPr>
          <p:spPr>
            <a:xfrm>
              <a:off x="2545975" y="476250"/>
              <a:ext cx="1562100" cy="1562100"/>
            </a:xfrm>
            <a:custGeom>
              <a:avLst/>
              <a:gdLst/>
              <a:ahLst/>
              <a:cxnLst/>
              <a:rect l="l" t="t" r="r" b="b"/>
              <a:pathLst>
                <a:path w="1562100" h="1562100">
                  <a:moveTo>
                    <a:pt x="780985" y="1562100"/>
                  </a:moveTo>
                  <a:lnTo>
                    <a:pt x="756602" y="1494782"/>
                  </a:lnTo>
                  <a:lnTo>
                    <a:pt x="728330" y="1429003"/>
                  </a:lnTo>
                  <a:lnTo>
                    <a:pt x="696271" y="1364984"/>
                  </a:lnTo>
                  <a:lnTo>
                    <a:pt x="660529" y="1302946"/>
                  </a:lnTo>
                  <a:lnTo>
                    <a:pt x="621231" y="1243097"/>
                  </a:lnTo>
                  <a:lnTo>
                    <a:pt x="578506" y="1185645"/>
                  </a:lnTo>
                  <a:lnTo>
                    <a:pt x="532504" y="1130782"/>
                  </a:lnTo>
                  <a:lnTo>
                    <a:pt x="483377" y="1078698"/>
                  </a:lnTo>
                  <a:lnTo>
                    <a:pt x="431297" y="1029566"/>
                  </a:lnTo>
                  <a:lnTo>
                    <a:pt x="376437" y="983560"/>
                  </a:lnTo>
                  <a:lnTo>
                    <a:pt x="318989" y="940830"/>
                  </a:lnTo>
                  <a:lnTo>
                    <a:pt x="259143" y="901527"/>
                  </a:lnTo>
                  <a:lnTo>
                    <a:pt x="197108" y="865780"/>
                  </a:lnTo>
                  <a:lnTo>
                    <a:pt x="133092" y="833716"/>
                  </a:lnTo>
                  <a:lnTo>
                    <a:pt x="67315" y="805438"/>
                  </a:lnTo>
                  <a:lnTo>
                    <a:pt x="0" y="781050"/>
                  </a:lnTo>
                  <a:lnTo>
                    <a:pt x="33850" y="769341"/>
                  </a:lnTo>
                  <a:lnTo>
                    <a:pt x="100396" y="743008"/>
                  </a:lnTo>
                  <a:lnTo>
                    <a:pt x="165348" y="712812"/>
                  </a:lnTo>
                  <a:lnTo>
                    <a:pt x="228373" y="678906"/>
                  </a:lnTo>
                  <a:lnTo>
                    <a:pt x="289366" y="641349"/>
                  </a:lnTo>
                  <a:lnTo>
                    <a:pt x="348012" y="600333"/>
                  </a:lnTo>
                  <a:lnTo>
                    <a:pt x="404214" y="555926"/>
                  </a:lnTo>
                  <a:lnTo>
                    <a:pt x="457684" y="508358"/>
                  </a:lnTo>
                  <a:lnTo>
                    <a:pt x="508331" y="457707"/>
                  </a:lnTo>
                  <a:lnTo>
                    <a:pt x="555895" y="404233"/>
                  </a:lnTo>
                  <a:lnTo>
                    <a:pt x="600297" y="348027"/>
                  </a:lnTo>
                  <a:lnTo>
                    <a:pt x="641309" y="289377"/>
                  </a:lnTo>
                  <a:lnTo>
                    <a:pt x="678861" y="228382"/>
                  </a:lnTo>
                  <a:lnTo>
                    <a:pt x="712761" y="165353"/>
                  </a:lnTo>
                  <a:lnTo>
                    <a:pt x="742952" y="100399"/>
                  </a:lnTo>
                  <a:lnTo>
                    <a:pt x="769280" y="33851"/>
                  </a:lnTo>
                  <a:lnTo>
                    <a:pt x="780985" y="0"/>
                  </a:lnTo>
                  <a:lnTo>
                    <a:pt x="792690" y="33850"/>
                  </a:lnTo>
                  <a:lnTo>
                    <a:pt x="819017" y="100398"/>
                  </a:lnTo>
                  <a:lnTo>
                    <a:pt x="849207" y="165352"/>
                  </a:lnTo>
                  <a:lnTo>
                    <a:pt x="883106" y="228380"/>
                  </a:lnTo>
                  <a:lnTo>
                    <a:pt x="920657" y="289374"/>
                  </a:lnTo>
                  <a:lnTo>
                    <a:pt x="961668" y="348024"/>
                  </a:lnTo>
                  <a:lnTo>
                    <a:pt x="1006068" y="404230"/>
                  </a:lnTo>
                  <a:lnTo>
                    <a:pt x="1053631" y="457703"/>
                  </a:lnTo>
                  <a:lnTo>
                    <a:pt x="1104276" y="508354"/>
                  </a:lnTo>
                  <a:lnTo>
                    <a:pt x="1157745" y="555923"/>
                  </a:lnTo>
                  <a:lnTo>
                    <a:pt x="1213946" y="600329"/>
                  </a:lnTo>
                  <a:lnTo>
                    <a:pt x="1272591" y="641346"/>
                  </a:lnTo>
                  <a:lnTo>
                    <a:pt x="1333582" y="678904"/>
                  </a:lnTo>
                  <a:lnTo>
                    <a:pt x="1396606" y="712810"/>
                  </a:lnTo>
                  <a:lnTo>
                    <a:pt x="1461557" y="743007"/>
                  </a:lnTo>
                  <a:lnTo>
                    <a:pt x="1528101" y="769341"/>
                  </a:lnTo>
                  <a:lnTo>
                    <a:pt x="1561951" y="781050"/>
                  </a:lnTo>
                  <a:lnTo>
                    <a:pt x="1528101" y="792758"/>
                  </a:lnTo>
                  <a:lnTo>
                    <a:pt x="1461556" y="819092"/>
                  </a:lnTo>
                  <a:lnTo>
                    <a:pt x="1396606" y="849289"/>
                  </a:lnTo>
                  <a:lnTo>
                    <a:pt x="1333582" y="883195"/>
                  </a:lnTo>
                  <a:lnTo>
                    <a:pt x="1272591" y="920753"/>
                  </a:lnTo>
                  <a:lnTo>
                    <a:pt x="1213945" y="961770"/>
                  </a:lnTo>
                  <a:lnTo>
                    <a:pt x="1157745" y="1006176"/>
                  </a:lnTo>
                  <a:lnTo>
                    <a:pt x="1104276" y="1053745"/>
                  </a:lnTo>
                  <a:lnTo>
                    <a:pt x="1053631" y="1104396"/>
                  </a:lnTo>
                  <a:lnTo>
                    <a:pt x="1006068" y="1157870"/>
                  </a:lnTo>
                  <a:lnTo>
                    <a:pt x="961668" y="1214075"/>
                  </a:lnTo>
                  <a:lnTo>
                    <a:pt x="920657" y="1272725"/>
                  </a:lnTo>
                  <a:lnTo>
                    <a:pt x="883106" y="1333720"/>
                  </a:lnTo>
                  <a:lnTo>
                    <a:pt x="849207" y="1396748"/>
                  </a:lnTo>
                  <a:lnTo>
                    <a:pt x="819017" y="1461701"/>
                  </a:lnTo>
                  <a:lnTo>
                    <a:pt x="792690" y="1528249"/>
                  </a:lnTo>
                  <a:lnTo>
                    <a:pt x="780985" y="1562100"/>
                  </a:lnTo>
                  <a:close/>
                </a:path>
              </a:pathLst>
            </a:custGeom>
            <a:solidFill>
              <a:schemeClr val="accent4">
                <a:lumMod val="60000"/>
                <a:lumOff val="40000"/>
              </a:schemeClr>
            </a:solidFill>
          </p:spPr>
          <p:txBody>
            <a:bodyPr wrap="square" lIns="0" tIns="0" rIns="0" bIns="0" rtlCol="0"/>
            <a:lstStyle/>
            <a:p>
              <a:endParaRPr dirty="0"/>
            </a:p>
          </p:txBody>
        </p:sp>
      </p:grpSp>
      <p:sp>
        <p:nvSpPr>
          <p:cNvPr id="7" name="Rectangle 6">
            <a:extLst>
              <a:ext uri="{FF2B5EF4-FFF2-40B4-BE49-F238E27FC236}">
                <a16:creationId xmlns:a16="http://schemas.microsoft.com/office/drawing/2014/main" id="{BACA71DA-9BC3-F116-FBB6-2C8095FFB7CC}"/>
              </a:ext>
            </a:extLst>
          </p:cNvPr>
          <p:cNvSpPr/>
          <p:nvPr/>
        </p:nvSpPr>
        <p:spPr>
          <a:xfrm>
            <a:off x="10934700" y="8648700"/>
            <a:ext cx="6632935" cy="1015663"/>
          </a:xfrm>
          <a:prstGeom prst="rect">
            <a:avLst/>
          </a:prstGeom>
          <a:noFill/>
        </p:spPr>
        <p:txBody>
          <a:bodyPr wrap="square" lIns="91440" tIns="45720" rIns="91440" bIns="45720">
            <a:spAutoFit/>
          </a:bodyPr>
          <a:lstStyle/>
          <a:p>
            <a:r>
              <a:rPr lang="en-US" sz="2000" dirty="0">
                <a:ln w="0"/>
                <a:effectLst>
                  <a:outerShdw blurRad="38100" dist="19050" dir="2700000" algn="tl" rotWithShape="0">
                    <a:schemeClr val="dk1">
                      <a:alpha val="40000"/>
                    </a:schemeClr>
                  </a:outerShdw>
                </a:effectLst>
              </a:rPr>
              <a:t>Source: https://www.researchgate.net/figure/Comparison-of-the-computational-complexities-of-DFT-FFT-and-QFT-algorithms_fig2_338980039</a:t>
            </a:r>
            <a:endParaRPr lang="en-US" sz="20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42102447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object 10"/>
          <p:cNvPicPr/>
          <p:nvPr/>
        </p:nvPicPr>
        <p:blipFill>
          <a:blip r:embed="rId2" cstate="print"/>
          <a:stretch>
            <a:fillRect/>
          </a:stretch>
        </p:blipFill>
        <p:spPr>
          <a:xfrm>
            <a:off x="1447523" y="8136058"/>
            <a:ext cx="123825" cy="123824"/>
          </a:xfrm>
          <a:prstGeom prst="rect">
            <a:avLst/>
          </a:prstGeom>
        </p:spPr>
      </p:pic>
      <p:pic>
        <p:nvPicPr>
          <p:cNvPr id="19" name="Picture 19">
            <a:extLst>
              <a:ext uri="{FF2B5EF4-FFF2-40B4-BE49-F238E27FC236}">
                <a16:creationId xmlns:a16="http://schemas.microsoft.com/office/drawing/2014/main" id="{469111AC-383F-3DD1-F70D-616C9860EC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150" y="-64168"/>
            <a:ext cx="18288000" cy="10287000"/>
          </a:xfrm>
          <a:prstGeom prst="rect">
            <a:avLst/>
          </a:prstGeom>
        </p:spPr>
      </p:pic>
      <p:pic>
        <p:nvPicPr>
          <p:cNvPr id="3" name="Picture 2">
            <a:extLst>
              <a:ext uri="{FF2B5EF4-FFF2-40B4-BE49-F238E27FC236}">
                <a16:creationId xmlns:a16="http://schemas.microsoft.com/office/drawing/2014/main" id="{3CEFDDB1-68B2-F6CC-4F74-13CB3CB60682}"/>
              </a:ext>
            </a:extLst>
          </p:cNvPr>
          <p:cNvPicPr>
            <a:picLocks noChangeAspect="1"/>
          </p:cNvPicPr>
          <p:nvPr/>
        </p:nvPicPr>
        <p:blipFill>
          <a:blip r:embed="rId4"/>
          <a:stretch>
            <a:fillRect/>
          </a:stretch>
        </p:blipFill>
        <p:spPr>
          <a:xfrm>
            <a:off x="16916400" y="9458325"/>
            <a:ext cx="1314450" cy="79057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object 3">
            <a:extLst>
              <a:ext uri="{FF2B5EF4-FFF2-40B4-BE49-F238E27FC236}">
                <a16:creationId xmlns:a16="http://schemas.microsoft.com/office/drawing/2014/main" id="{637FEA41-C2AC-1214-3AA5-4893253BF50B}"/>
              </a:ext>
            </a:extLst>
          </p:cNvPr>
          <p:cNvGrpSpPr/>
          <p:nvPr/>
        </p:nvGrpSpPr>
        <p:grpSpPr>
          <a:xfrm>
            <a:off x="-13448" y="0"/>
            <a:ext cx="4814047" cy="10287000"/>
            <a:chOff x="-375" y="0"/>
            <a:chExt cx="4108450" cy="10287000"/>
          </a:xfrm>
          <a:solidFill>
            <a:schemeClr val="bg1">
              <a:lumMod val="65000"/>
            </a:schemeClr>
          </a:solidFill>
        </p:grpSpPr>
        <p:sp>
          <p:nvSpPr>
            <p:cNvPr id="7" name="object 4">
              <a:extLst>
                <a:ext uri="{FF2B5EF4-FFF2-40B4-BE49-F238E27FC236}">
                  <a16:creationId xmlns:a16="http://schemas.microsoft.com/office/drawing/2014/main" id="{52D461BC-6FC5-665B-9FEE-9F0F0EC057D6}"/>
                </a:ext>
              </a:extLst>
            </p:cNvPr>
            <p:cNvSpPr/>
            <p:nvPr/>
          </p:nvSpPr>
          <p:spPr>
            <a:xfrm>
              <a:off x="-375" y="0"/>
              <a:ext cx="3327400" cy="10287000"/>
            </a:xfrm>
            <a:custGeom>
              <a:avLst/>
              <a:gdLst/>
              <a:ahLst/>
              <a:cxnLst/>
              <a:rect l="l" t="t" r="r" b="b"/>
              <a:pathLst>
                <a:path w="3327400" h="10287000">
                  <a:moveTo>
                    <a:pt x="0" y="10287000"/>
                  </a:moveTo>
                  <a:lnTo>
                    <a:pt x="0" y="0"/>
                  </a:lnTo>
                  <a:lnTo>
                    <a:pt x="3327201" y="0"/>
                  </a:lnTo>
                  <a:lnTo>
                    <a:pt x="3327201" y="10287000"/>
                  </a:lnTo>
                  <a:lnTo>
                    <a:pt x="0" y="10287000"/>
                  </a:lnTo>
                  <a:close/>
                </a:path>
              </a:pathLst>
            </a:custGeom>
            <a:grpFill/>
          </p:spPr>
          <p:txBody>
            <a:bodyPr wrap="square" lIns="0" tIns="0" rIns="0" bIns="0" rtlCol="0"/>
            <a:lstStyle/>
            <a:p>
              <a:endParaRPr/>
            </a:p>
          </p:txBody>
        </p:sp>
        <p:sp>
          <p:nvSpPr>
            <p:cNvPr id="8" name="object 5">
              <a:extLst>
                <a:ext uri="{FF2B5EF4-FFF2-40B4-BE49-F238E27FC236}">
                  <a16:creationId xmlns:a16="http://schemas.microsoft.com/office/drawing/2014/main" id="{84C079DE-230E-D1F1-1D0C-666E81404CAB}"/>
                </a:ext>
              </a:extLst>
            </p:cNvPr>
            <p:cNvSpPr/>
            <p:nvPr/>
          </p:nvSpPr>
          <p:spPr>
            <a:xfrm>
              <a:off x="2545975" y="476250"/>
              <a:ext cx="1562100" cy="1562100"/>
            </a:xfrm>
            <a:custGeom>
              <a:avLst/>
              <a:gdLst/>
              <a:ahLst/>
              <a:cxnLst/>
              <a:rect l="l" t="t" r="r" b="b"/>
              <a:pathLst>
                <a:path w="1562100" h="1562100">
                  <a:moveTo>
                    <a:pt x="780985" y="1562100"/>
                  </a:moveTo>
                  <a:lnTo>
                    <a:pt x="756602" y="1494782"/>
                  </a:lnTo>
                  <a:lnTo>
                    <a:pt x="728330" y="1429003"/>
                  </a:lnTo>
                  <a:lnTo>
                    <a:pt x="696271" y="1364984"/>
                  </a:lnTo>
                  <a:lnTo>
                    <a:pt x="660529" y="1302946"/>
                  </a:lnTo>
                  <a:lnTo>
                    <a:pt x="621231" y="1243097"/>
                  </a:lnTo>
                  <a:lnTo>
                    <a:pt x="578506" y="1185645"/>
                  </a:lnTo>
                  <a:lnTo>
                    <a:pt x="532504" y="1130782"/>
                  </a:lnTo>
                  <a:lnTo>
                    <a:pt x="483377" y="1078698"/>
                  </a:lnTo>
                  <a:lnTo>
                    <a:pt x="431297" y="1029566"/>
                  </a:lnTo>
                  <a:lnTo>
                    <a:pt x="376437" y="983560"/>
                  </a:lnTo>
                  <a:lnTo>
                    <a:pt x="318989" y="940830"/>
                  </a:lnTo>
                  <a:lnTo>
                    <a:pt x="259143" y="901527"/>
                  </a:lnTo>
                  <a:lnTo>
                    <a:pt x="197108" y="865780"/>
                  </a:lnTo>
                  <a:lnTo>
                    <a:pt x="133092" y="833716"/>
                  </a:lnTo>
                  <a:lnTo>
                    <a:pt x="67315" y="805438"/>
                  </a:lnTo>
                  <a:lnTo>
                    <a:pt x="0" y="781050"/>
                  </a:lnTo>
                  <a:lnTo>
                    <a:pt x="33850" y="769341"/>
                  </a:lnTo>
                  <a:lnTo>
                    <a:pt x="100396" y="743008"/>
                  </a:lnTo>
                  <a:lnTo>
                    <a:pt x="165348" y="712812"/>
                  </a:lnTo>
                  <a:lnTo>
                    <a:pt x="228373" y="678906"/>
                  </a:lnTo>
                  <a:lnTo>
                    <a:pt x="289366" y="641349"/>
                  </a:lnTo>
                  <a:lnTo>
                    <a:pt x="348012" y="600333"/>
                  </a:lnTo>
                  <a:lnTo>
                    <a:pt x="404214" y="555926"/>
                  </a:lnTo>
                  <a:lnTo>
                    <a:pt x="457684" y="508358"/>
                  </a:lnTo>
                  <a:lnTo>
                    <a:pt x="508331" y="457707"/>
                  </a:lnTo>
                  <a:lnTo>
                    <a:pt x="555895" y="404233"/>
                  </a:lnTo>
                  <a:lnTo>
                    <a:pt x="600297" y="348027"/>
                  </a:lnTo>
                  <a:lnTo>
                    <a:pt x="641309" y="289377"/>
                  </a:lnTo>
                  <a:lnTo>
                    <a:pt x="678861" y="228382"/>
                  </a:lnTo>
                  <a:lnTo>
                    <a:pt x="712761" y="165353"/>
                  </a:lnTo>
                  <a:lnTo>
                    <a:pt x="742952" y="100399"/>
                  </a:lnTo>
                  <a:lnTo>
                    <a:pt x="769280" y="33851"/>
                  </a:lnTo>
                  <a:lnTo>
                    <a:pt x="780985" y="0"/>
                  </a:lnTo>
                  <a:lnTo>
                    <a:pt x="792690" y="33850"/>
                  </a:lnTo>
                  <a:lnTo>
                    <a:pt x="819017" y="100398"/>
                  </a:lnTo>
                  <a:lnTo>
                    <a:pt x="849207" y="165352"/>
                  </a:lnTo>
                  <a:lnTo>
                    <a:pt x="883106" y="228380"/>
                  </a:lnTo>
                  <a:lnTo>
                    <a:pt x="920657" y="289374"/>
                  </a:lnTo>
                  <a:lnTo>
                    <a:pt x="961668" y="348024"/>
                  </a:lnTo>
                  <a:lnTo>
                    <a:pt x="1006068" y="404230"/>
                  </a:lnTo>
                  <a:lnTo>
                    <a:pt x="1053631" y="457703"/>
                  </a:lnTo>
                  <a:lnTo>
                    <a:pt x="1104276" y="508354"/>
                  </a:lnTo>
                  <a:lnTo>
                    <a:pt x="1157745" y="555923"/>
                  </a:lnTo>
                  <a:lnTo>
                    <a:pt x="1213946" y="600329"/>
                  </a:lnTo>
                  <a:lnTo>
                    <a:pt x="1272591" y="641346"/>
                  </a:lnTo>
                  <a:lnTo>
                    <a:pt x="1333582" y="678904"/>
                  </a:lnTo>
                  <a:lnTo>
                    <a:pt x="1396606" y="712810"/>
                  </a:lnTo>
                  <a:lnTo>
                    <a:pt x="1461557" y="743007"/>
                  </a:lnTo>
                  <a:lnTo>
                    <a:pt x="1528101" y="769341"/>
                  </a:lnTo>
                  <a:lnTo>
                    <a:pt x="1561951" y="781050"/>
                  </a:lnTo>
                  <a:lnTo>
                    <a:pt x="1528101" y="792758"/>
                  </a:lnTo>
                  <a:lnTo>
                    <a:pt x="1461556" y="819092"/>
                  </a:lnTo>
                  <a:lnTo>
                    <a:pt x="1396606" y="849289"/>
                  </a:lnTo>
                  <a:lnTo>
                    <a:pt x="1333582" y="883195"/>
                  </a:lnTo>
                  <a:lnTo>
                    <a:pt x="1272591" y="920753"/>
                  </a:lnTo>
                  <a:lnTo>
                    <a:pt x="1213945" y="961770"/>
                  </a:lnTo>
                  <a:lnTo>
                    <a:pt x="1157745" y="1006176"/>
                  </a:lnTo>
                  <a:lnTo>
                    <a:pt x="1104276" y="1053745"/>
                  </a:lnTo>
                  <a:lnTo>
                    <a:pt x="1053631" y="1104396"/>
                  </a:lnTo>
                  <a:lnTo>
                    <a:pt x="1006068" y="1157870"/>
                  </a:lnTo>
                  <a:lnTo>
                    <a:pt x="961668" y="1214075"/>
                  </a:lnTo>
                  <a:lnTo>
                    <a:pt x="920657" y="1272725"/>
                  </a:lnTo>
                  <a:lnTo>
                    <a:pt x="883106" y="1333720"/>
                  </a:lnTo>
                  <a:lnTo>
                    <a:pt x="849207" y="1396748"/>
                  </a:lnTo>
                  <a:lnTo>
                    <a:pt x="819017" y="1461701"/>
                  </a:lnTo>
                  <a:lnTo>
                    <a:pt x="792690" y="1528249"/>
                  </a:lnTo>
                  <a:lnTo>
                    <a:pt x="780985" y="1562100"/>
                  </a:lnTo>
                  <a:close/>
                </a:path>
              </a:pathLst>
            </a:custGeom>
            <a:solidFill>
              <a:schemeClr val="bg1">
                <a:lumMod val="50000"/>
              </a:schemeClr>
            </a:solidFill>
          </p:spPr>
          <p:txBody>
            <a:bodyPr wrap="square" lIns="0" tIns="0" rIns="0" bIns="0" rtlCol="0"/>
            <a:lstStyle/>
            <a:p>
              <a:endParaRPr dirty="0"/>
            </a:p>
          </p:txBody>
        </p:sp>
      </p:grpSp>
      <p:sp>
        <p:nvSpPr>
          <p:cNvPr id="2" name="Rectangle 1">
            <a:extLst>
              <a:ext uri="{FF2B5EF4-FFF2-40B4-BE49-F238E27FC236}">
                <a16:creationId xmlns:a16="http://schemas.microsoft.com/office/drawing/2014/main" id="{2EB70EBF-FD0D-0452-EDF1-9121A75A9254}"/>
              </a:ext>
            </a:extLst>
          </p:cNvPr>
          <p:cNvSpPr/>
          <p:nvPr/>
        </p:nvSpPr>
        <p:spPr>
          <a:xfrm>
            <a:off x="4953000" y="4475111"/>
            <a:ext cx="10544361" cy="646331"/>
          </a:xfrm>
          <a:prstGeom prst="rect">
            <a:avLst/>
          </a:prstGeom>
          <a:noFill/>
        </p:spPr>
        <p:txBody>
          <a:bodyPr wrap="none" lIns="91440" tIns="45720" rIns="91440" bIns="45720">
            <a:spAutoFit/>
          </a:bodyPr>
          <a:lstStyle/>
          <a:p>
            <a:pPr algn="ctr"/>
            <a:r>
              <a:rPr lang="en-US" sz="3600" b="0" cap="none" spc="0" dirty="0">
                <a:ln w="0"/>
                <a:solidFill>
                  <a:schemeClr val="tx1"/>
                </a:solidFill>
              </a:rPr>
              <a:t>Some examples of FFT</a:t>
            </a:r>
            <a:r>
              <a:rPr lang="en-US" sz="3600" dirty="0">
                <a:ln w="0"/>
                <a:solidFill>
                  <a:schemeClr val="tx1"/>
                </a:solidFill>
              </a:rPr>
              <a:t> are given in the following slides: </a:t>
            </a:r>
            <a:endParaRPr lang="en-US" sz="3600" b="0" cap="none" spc="0" dirty="0">
              <a:ln w="0"/>
              <a:solidFill>
                <a:schemeClr val="tx1"/>
              </a:solidFill>
            </a:endParaRPr>
          </a:p>
        </p:txBody>
      </p:sp>
    </p:spTree>
    <p:extLst>
      <p:ext uri="{BB962C8B-B14F-4D97-AF65-F5344CB8AC3E}">
        <p14:creationId xmlns:p14="http://schemas.microsoft.com/office/powerpoint/2010/main" val="13544330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814030" y="419100"/>
            <a:ext cx="14473970" cy="8782049"/>
          </a:xfrm>
          <a:prstGeom prst="rect">
            <a:avLst/>
          </a:prstGeom>
        </p:spPr>
      </p:pic>
      <p:grpSp>
        <p:nvGrpSpPr>
          <p:cNvPr id="7" name="object 3">
            <a:extLst>
              <a:ext uri="{FF2B5EF4-FFF2-40B4-BE49-F238E27FC236}">
                <a16:creationId xmlns:a16="http://schemas.microsoft.com/office/drawing/2014/main" id="{EC95AA8F-0ECA-BC6A-AD68-1F633BB2CB91}"/>
              </a:ext>
            </a:extLst>
          </p:cNvPr>
          <p:cNvGrpSpPr/>
          <p:nvPr/>
        </p:nvGrpSpPr>
        <p:grpSpPr>
          <a:xfrm>
            <a:off x="-375" y="0"/>
            <a:ext cx="4108450" cy="10287000"/>
            <a:chOff x="-375" y="0"/>
            <a:chExt cx="4108450" cy="10287000"/>
          </a:xfrm>
          <a:solidFill>
            <a:schemeClr val="tx1">
              <a:lumMod val="75000"/>
              <a:lumOff val="25000"/>
            </a:schemeClr>
          </a:solidFill>
        </p:grpSpPr>
        <p:sp>
          <p:nvSpPr>
            <p:cNvPr id="8" name="object 4">
              <a:extLst>
                <a:ext uri="{FF2B5EF4-FFF2-40B4-BE49-F238E27FC236}">
                  <a16:creationId xmlns:a16="http://schemas.microsoft.com/office/drawing/2014/main" id="{ED6C7019-9DC3-1713-048C-7F3178D45D79}"/>
                </a:ext>
              </a:extLst>
            </p:cNvPr>
            <p:cNvSpPr/>
            <p:nvPr/>
          </p:nvSpPr>
          <p:spPr>
            <a:xfrm>
              <a:off x="-375" y="0"/>
              <a:ext cx="3327400" cy="10287000"/>
            </a:xfrm>
            <a:custGeom>
              <a:avLst/>
              <a:gdLst/>
              <a:ahLst/>
              <a:cxnLst/>
              <a:rect l="l" t="t" r="r" b="b"/>
              <a:pathLst>
                <a:path w="3327400" h="10287000">
                  <a:moveTo>
                    <a:pt x="0" y="10287000"/>
                  </a:moveTo>
                  <a:lnTo>
                    <a:pt x="0" y="0"/>
                  </a:lnTo>
                  <a:lnTo>
                    <a:pt x="3327201" y="0"/>
                  </a:lnTo>
                  <a:lnTo>
                    <a:pt x="3327201" y="10287000"/>
                  </a:lnTo>
                  <a:lnTo>
                    <a:pt x="0" y="10287000"/>
                  </a:lnTo>
                  <a:close/>
                </a:path>
              </a:pathLst>
            </a:custGeom>
            <a:grpFill/>
          </p:spPr>
          <p:txBody>
            <a:bodyPr wrap="square" lIns="0" tIns="0" rIns="0" bIns="0" rtlCol="0"/>
            <a:lstStyle/>
            <a:p>
              <a:endParaRPr/>
            </a:p>
          </p:txBody>
        </p:sp>
        <p:sp>
          <p:nvSpPr>
            <p:cNvPr id="9" name="object 5">
              <a:extLst>
                <a:ext uri="{FF2B5EF4-FFF2-40B4-BE49-F238E27FC236}">
                  <a16:creationId xmlns:a16="http://schemas.microsoft.com/office/drawing/2014/main" id="{905E9D8D-CB5A-54DF-56CA-330B26DE9024}"/>
                </a:ext>
              </a:extLst>
            </p:cNvPr>
            <p:cNvSpPr/>
            <p:nvPr/>
          </p:nvSpPr>
          <p:spPr>
            <a:xfrm>
              <a:off x="2545975" y="476250"/>
              <a:ext cx="1562100" cy="1562100"/>
            </a:xfrm>
            <a:custGeom>
              <a:avLst/>
              <a:gdLst/>
              <a:ahLst/>
              <a:cxnLst/>
              <a:rect l="l" t="t" r="r" b="b"/>
              <a:pathLst>
                <a:path w="1562100" h="1562100">
                  <a:moveTo>
                    <a:pt x="780985" y="1562100"/>
                  </a:moveTo>
                  <a:lnTo>
                    <a:pt x="756602" y="1494782"/>
                  </a:lnTo>
                  <a:lnTo>
                    <a:pt x="728330" y="1429003"/>
                  </a:lnTo>
                  <a:lnTo>
                    <a:pt x="696271" y="1364984"/>
                  </a:lnTo>
                  <a:lnTo>
                    <a:pt x="660529" y="1302946"/>
                  </a:lnTo>
                  <a:lnTo>
                    <a:pt x="621231" y="1243097"/>
                  </a:lnTo>
                  <a:lnTo>
                    <a:pt x="578506" y="1185645"/>
                  </a:lnTo>
                  <a:lnTo>
                    <a:pt x="532504" y="1130782"/>
                  </a:lnTo>
                  <a:lnTo>
                    <a:pt x="483377" y="1078698"/>
                  </a:lnTo>
                  <a:lnTo>
                    <a:pt x="431297" y="1029566"/>
                  </a:lnTo>
                  <a:lnTo>
                    <a:pt x="376437" y="983560"/>
                  </a:lnTo>
                  <a:lnTo>
                    <a:pt x="318989" y="940830"/>
                  </a:lnTo>
                  <a:lnTo>
                    <a:pt x="259143" y="901527"/>
                  </a:lnTo>
                  <a:lnTo>
                    <a:pt x="197108" y="865780"/>
                  </a:lnTo>
                  <a:lnTo>
                    <a:pt x="133092" y="833716"/>
                  </a:lnTo>
                  <a:lnTo>
                    <a:pt x="67315" y="805438"/>
                  </a:lnTo>
                  <a:lnTo>
                    <a:pt x="0" y="781050"/>
                  </a:lnTo>
                  <a:lnTo>
                    <a:pt x="33850" y="769341"/>
                  </a:lnTo>
                  <a:lnTo>
                    <a:pt x="100396" y="743008"/>
                  </a:lnTo>
                  <a:lnTo>
                    <a:pt x="165348" y="712812"/>
                  </a:lnTo>
                  <a:lnTo>
                    <a:pt x="228373" y="678906"/>
                  </a:lnTo>
                  <a:lnTo>
                    <a:pt x="289366" y="641349"/>
                  </a:lnTo>
                  <a:lnTo>
                    <a:pt x="348012" y="600333"/>
                  </a:lnTo>
                  <a:lnTo>
                    <a:pt x="404214" y="555926"/>
                  </a:lnTo>
                  <a:lnTo>
                    <a:pt x="457684" y="508358"/>
                  </a:lnTo>
                  <a:lnTo>
                    <a:pt x="508331" y="457707"/>
                  </a:lnTo>
                  <a:lnTo>
                    <a:pt x="555895" y="404233"/>
                  </a:lnTo>
                  <a:lnTo>
                    <a:pt x="600297" y="348027"/>
                  </a:lnTo>
                  <a:lnTo>
                    <a:pt x="641309" y="289377"/>
                  </a:lnTo>
                  <a:lnTo>
                    <a:pt x="678861" y="228382"/>
                  </a:lnTo>
                  <a:lnTo>
                    <a:pt x="712761" y="165353"/>
                  </a:lnTo>
                  <a:lnTo>
                    <a:pt x="742952" y="100399"/>
                  </a:lnTo>
                  <a:lnTo>
                    <a:pt x="769280" y="33851"/>
                  </a:lnTo>
                  <a:lnTo>
                    <a:pt x="780985" y="0"/>
                  </a:lnTo>
                  <a:lnTo>
                    <a:pt x="792690" y="33850"/>
                  </a:lnTo>
                  <a:lnTo>
                    <a:pt x="819017" y="100398"/>
                  </a:lnTo>
                  <a:lnTo>
                    <a:pt x="849207" y="165352"/>
                  </a:lnTo>
                  <a:lnTo>
                    <a:pt x="883106" y="228380"/>
                  </a:lnTo>
                  <a:lnTo>
                    <a:pt x="920657" y="289374"/>
                  </a:lnTo>
                  <a:lnTo>
                    <a:pt x="961668" y="348024"/>
                  </a:lnTo>
                  <a:lnTo>
                    <a:pt x="1006068" y="404230"/>
                  </a:lnTo>
                  <a:lnTo>
                    <a:pt x="1053631" y="457703"/>
                  </a:lnTo>
                  <a:lnTo>
                    <a:pt x="1104276" y="508354"/>
                  </a:lnTo>
                  <a:lnTo>
                    <a:pt x="1157745" y="555923"/>
                  </a:lnTo>
                  <a:lnTo>
                    <a:pt x="1213946" y="600329"/>
                  </a:lnTo>
                  <a:lnTo>
                    <a:pt x="1272591" y="641346"/>
                  </a:lnTo>
                  <a:lnTo>
                    <a:pt x="1333582" y="678904"/>
                  </a:lnTo>
                  <a:lnTo>
                    <a:pt x="1396606" y="712810"/>
                  </a:lnTo>
                  <a:lnTo>
                    <a:pt x="1461557" y="743007"/>
                  </a:lnTo>
                  <a:lnTo>
                    <a:pt x="1528101" y="769341"/>
                  </a:lnTo>
                  <a:lnTo>
                    <a:pt x="1561951" y="781050"/>
                  </a:lnTo>
                  <a:lnTo>
                    <a:pt x="1528101" y="792758"/>
                  </a:lnTo>
                  <a:lnTo>
                    <a:pt x="1461556" y="819092"/>
                  </a:lnTo>
                  <a:lnTo>
                    <a:pt x="1396606" y="849289"/>
                  </a:lnTo>
                  <a:lnTo>
                    <a:pt x="1333582" y="883195"/>
                  </a:lnTo>
                  <a:lnTo>
                    <a:pt x="1272591" y="920753"/>
                  </a:lnTo>
                  <a:lnTo>
                    <a:pt x="1213945" y="961770"/>
                  </a:lnTo>
                  <a:lnTo>
                    <a:pt x="1157745" y="1006176"/>
                  </a:lnTo>
                  <a:lnTo>
                    <a:pt x="1104276" y="1053745"/>
                  </a:lnTo>
                  <a:lnTo>
                    <a:pt x="1053631" y="1104396"/>
                  </a:lnTo>
                  <a:lnTo>
                    <a:pt x="1006068" y="1157870"/>
                  </a:lnTo>
                  <a:lnTo>
                    <a:pt x="961668" y="1214075"/>
                  </a:lnTo>
                  <a:lnTo>
                    <a:pt x="920657" y="1272725"/>
                  </a:lnTo>
                  <a:lnTo>
                    <a:pt x="883106" y="1333720"/>
                  </a:lnTo>
                  <a:lnTo>
                    <a:pt x="849207" y="1396748"/>
                  </a:lnTo>
                  <a:lnTo>
                    <a:pt x="819017" y="1461701"/>
                  </a:lnTo>
                  <a:lnTo>
                    <a:pt x="792690" y="1528249"/>
                  </a:lnTo>
                  <a:lnTo>
                    <a:pt x="780985" y="1562100"/>
                  </a:lnTo>
                  <a:close/>
                </a:path>
              </a:pathLst>
            </a:custGeom>
            <a:solidFill>
              <a:schemeClr val="tx1">
                <a:lumMod val="65000"/>
                <a:lumOff val="35000"/>
              </a:schemeClr>
            </a:solidFill>
          </p:spPr>
          <p:txBody>
            <a:bodyPr wrap="square" lIns="0" tIns="0" rIns="0" bIns="0" rtlCol="0"/>
            <a:lstStyle/>
            <a:p>
              <a:endParaRPr dirty="0"/>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843789" y="1257300"/>
            <a:ext cx="12750878" cy="8093286"/>
          </a:xfrm>
          <a:prstGeom prst="rect">
            <a:avLst/>
          </a:prstGeom>
        </p:spPr>
      </p:pic>
      <p:grpSp>
        <p:nvGrpSpPr>
          <p:cNvPr id="3" name="object 3"/>
          <p:cNvGrpSpPr/>
          <p:nvPr/>
        </p:nvGrpSpPr>
        <p:grpSpPr>
          <a:xfrm>
            <a:off x="-375" y="0"/>
            <a:ext cx="4108450" cy="10287000"/>
            <a:chOff x="-375" y="0"/>
            <a:chExt cx="4108450" cy="10287000"/>
          </a:xfrm>
          <a:solidFill>
            <a:schemeClr val="tx1">
              <a:lumMod val="75000"/>
              <a:lumOff val="25000"/>
            </a:schemeClr>
          </a:solidFill>
        </p:grpSpPr>
        <p:sp>
          <p:nvSpPr>
            <p:cNvPr id="4" name="object 4"/>
            <p:cNvSpPr/>
            <p:nvPr/>
          </p:nvSpPr>
          <p:spPr>
            <a:xfrm>
              <a:off x="-375" y="0"/>
              <a:ext cx="3327400" cy="10287000"/>
            </a:xfrm>
            <a:custGeom>
              <a:avLst/>
              <a:gdLst/>
              <a:ahLst/>
              <a:cxnLst/>
              <a:rect l="l" t="t" r="r" b="b"/>
              <a:pathLst>
                <a:path w="3327400" h="10287000">
                  <a:moveTo>
                    <a:pt x="0" y="10287000"/>
                  </a:moveTo>
                  <a:lnTo>
                    <a:pt x="0" y="0"/>
                  </a:lnTo>
                  <a:lnTo>
                    <a:pt x="3327201" y="0"/>
                  </a:lnTo>
                  <a:lnTo>
                    <a:pt x="3327201" y="10287000"/>
                  </a:lnTo>
                  <a:lnTo>
                    <a:pt x="0" y="10287000"/>
                  </a:lnTo>
                  <a:close/>
                </a:path>
              </a:pathLst>
            </a:custGeom>
            <a:grpFill/>
          </p:spPr>
          <p:txBody>
            <a:bodyPr wrap="square" lIns="0" tIns="0" rIns="0" bIns="0" rtlCol="0"/>
            <a:lstStyle/>
            <a:p>
              <a:endParaRPr/>
            </a:p>
          </p:txBody>
        </p:sp>
        <p:sp>
          <p:nvSpPr>
            <p:cNvPr id="5" name="object 5"/>
            <p:cNvSpPr/>
            <p:nvPr/>
          </p:nvSpPr>
          <p:spPr>
            <a:xfrm>
              <a:off x="2545975" y="476250"/>
              <a:ext cx="1562100" cy="1562100"/>
            </a:xfrm>
            <a:custGeom>
              <a:avLst/>
              <a:gdLst/>
              <a:ahLst/>
              <a:cxnLst/>
              <a:rect l="l" t="t" r="r" b="b"/>
              <a:pathLst>
                <a:path w="1562100" h="1562100">
                  <a:moveTo>
                    <a:pt x="780985" y="1562100"/>
                  </a:moveTo>
                  <a:lnTo>
                    <a:pt x="756602" y="1494782"/>
                  </a:lnTo>
                  <a:lnTo>
                    <a:pt x="728330" y="1429003"/>
                  </a:lnTo>
                  <a:lnTo>
                    <a:pt x="696271" y="1364984"/>
                  </a:lnTo>
                  <a:lnTo>
                    <a:pt x="660529" y="1302946"/>
                  </a:lnTo>
                  <a:lnTo>
                    <a:pt x="621231" y="1243097"/>
                  </a:lnTo>
                  <a:lnTo>
                    <a:pt x="578506" y="1185645"/>
                  </a:lnTo>
                  <a:lnTo>
                    <a:pt x="532504" y="1130782"/>
                  </a:lnTo>
                  <a:lnTo>
                    <a:pt x="483377" y="1078698"/>
                  </a:lnTo>
                  <a:lnTo>
                    <a:pt x="431297" y="1029566"/>
                  </a:lnTo>
                  <a:lnTo>
                    <a:pt x="376437" y="983560"/>
                  </a:lnTo>
                  <a:lnTo>
                    <a:pt x="318989" y="940830"/>
                  </a:lnTo>
                  <a:lnTo>
                    <a:pt x="259143" y="901527"/>
                  </a:lnTo>
                  <a:lnTo>
                    <a:pt x="197108" y="865780"/>
                  </a:lnTo>
                  <a:lnTo>
                    <a:pt x="133092" y="833716"/>
                  </a:lnTo>
                  <a:lnTo>
                    <a:pt x="67315" y="805438"/>
                  </a:lnTo>
                  <a:lnTo>
                    <a:pt x="0" y="781050"/>
                  </a:lnTo>
                  <a:lnTo>
                    <a:pt x="33850" y="769341"/>
                  </a:lnTo>
                  <a:lnTo>
                    <a:pt x="100396" y="743008"/>
                  </a:lnTo>
                  <a:lnTo>
                    <a:pt x="165348" y="712812"/>
                  </a:lnTo>
                  <a:lnTo>
                    <a:pt x="228373" y="678906"/>
                  </a:lnTo>
                  <a:lnTo>
                    <a:pt x="289366" y="641349"/>
                  </a:lnTo>
                  <a:lnTo>
                    <a:pt x="348012" y="600333"/>
                  </a:lnTo>
                  <a:lnTo>
                    <a:pt x="404214" y="555926"/>
                  </a:lnTo>
                  <a:lnTo>
                    <a:pt x="457684" y="508358"/>
                  </a:lnTo>
                  <a:lnTo>
                    <a:pt x="508331" y="457707"/>
                  </a:lnTo>
                  <a:lnTo>
                    <a:pt x="555895" y="404233"/>
                  </a:lnTo>
                  <a:lnTo>
                    <a:pt x="600297" y="348027"/>
                  </a:lnTo>
                  <a:lnTo>
                    <a:pt x="641309" y="289377"/>
                  </a:lnTo>
                  <a:lnTo>
                    <a:pt x="678861" y="228382"/>
                  </a:lnTo>
                  <a:lnTo>
                    <a:pt x="712761" y="165353"/>
                  </a:lnTo>
                  <a:lnTo>
                    <a:pt x="742952" y="100399"/>
                  </a:lnTo>
                  <a:lnTo>
                    <a:pt x="769280" y="33851"/>
                  </a:lnTo>
                  <a:lnTo>
                    <a:pt x="780985" y="0"/>
                  </a:lnTo>
                  <a:lnTo>
                    <a:pt x="792690" y="33850"/>
                  </a:lnTo>
                  <a:lnTo>
                    <a:pt x="819017" y="100398"/>
                  </a:lnTo>
                  <a:lnTo>
                    <a:pt x="849207" y="165352"/>
                  </a:lnTo>
                  <a:lnTo>
                    <a:pt x="883106" y="228380"/>
                  </a:lnTo>
                  <a:lnTo>
                    <a:pt x="920657" y="289374"/>
                  </a:lnTo>
                  <a:lnTo>
                    <a:pt x="961668" y="348024"/>
                  </a:lnTo>
                  <a:lnTo>
                    <a:pt x="1006068" y="404230"/>
                  </a:lnTo>
                  <a:lnTo>
                    <a:pt x="1053631" y="457703"/>
                  </a:lnTo>
                  <a:lnTo>
                    <a:pt x="1104276" y="508354"/>
                  </a:lnTo>
                  <a:lnTo>
                    <a:pt x="1157745" y="555923"/>
                  </a:lnTo>
                  <a:lnTo>
                    <a:pt x="1213946" y="600329"/>
                  </a:lnTo>
                  <a:lnTo>
                    <a:pt x="1272591" y="641346"/>
                  </a:lnTo>
                  <a:lnTo>
                    <a:pt x="1333582" y="678904"/>
                  </a:lnTo>
                  <a:lnTo>
                    <a:pt x="1396606" y="712810"/>
                  </a:lnTo>
                  <a:lnTo>
                    <a:pt x="1461557" y="743007"/>
                  </a:lnTo>
                  <a:lnTo>
                    <a:pt x="1528101" y="769341"/>
                  </a:lnTo>
                  <a:lnTo>
                    <a:pt x="1561951" y="781050"/>
                  </a:lnTo>
                  <a:lnTo>
                    <a:pt x="1528101" y="792758"/>
                  </a:lnTo>
                  <a:lnTo>
                    <a:pt x="1461556" y="819092"/>
                  </a:lnTo>
                  <a:lnTo>
                    <a:pt x="1396606" y="849289"/>
                  </a:lnTo>
                  <a:lnTo>
                    <a:pt x="1333582" y="883195"/>
                  </a:lnTo>
                  <a:lnTo>
                    <a:pt x="1272591" y="920753"/>
                  </a:lnTo>
                  <a:lnTo>
                    <a:pt x="1213945" y="961770"/>
                  </a:lnTo>
                  <a:lnTo>
                    <a:pt x="1157745" y="1006176"/>
                  </a:lnTo>
                  <a:lnTo>
                    <a:pt x="1104276" y="1053745"/>
                  </a:lnTo>
                  <a:lnTo>
                    <a:pt x="1053631" y="1104396"/>
                  </a:lnTo>
                  <a:lnTo>
                    <a:pt x="1006068" y="1157870"/>
                  </a:lnTo>
                  <a:lnTo>
                    <a:pt x="961668" y="1214075"/>
                  </a:lnTo>
                  <a:lnTo>
                    <a:pt x="920657" y="1272725"/>
                  </a:lnTo>
                  <a:lnTo>
                    <a:pt x="883106" y="1333720"/>
                  </a:lnTo>
                  <a:lnTo>
                    <a:pt x="849207" y="1396748"/>
                  </a:lnTo>
                  <a:lnTo>
                    <a:pt x="819017" y="1461701"/>
                  </a:lnTo>
                  <a:lnTo>
                    <a:pt x="792690" y="1528249"/>
                  </a:lnTo>
                  <a:lnTo>
                    <a:pt x="780985" y="1562100"/>
                  </a:lnTo>
                  <a:close/>
                </a:path>
              </a:pathLst>
            </a:custGeom>
            <a:solidFill>
              <a:schemeClr val="tx1">
                <a:lumMod val="65000"/>
                <a:lumOff val="35000"/>
              </a:schemeClr>
            </a:solidFill>
          </p:spPr>
          <p:txBody>
            <a:bodyPr wrap="square" lIns="0" tIns="0" rIns="0" bIns="0" rtlCol="0"/>
            <a:lstStyle/>
            <a:p>
              <a:endParaRPr dirty="0"/>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5249720" y="1170919"/>
            <a:ext cx="12490868" cy="7873062"/>
          </a:xfrm>
          <a:prstGeom prst="rect">
            <a:avLst/>
          </a:prstGeom>
        </p:spPr>
      </p:pic>
      <p:grpSp>
        <p:nvGrpSpPr>
          <p:cNvPr id="7" name="object 3">
            <a:extLst>
              <a:ext uri="{FF2B5EF4-FFF2-40B4-BE49-F238E27FC236}">
                <a16:creationId xmlns:a16="http://schemas.microsoft.com/office/drawing/2014/main" id="{AA7F3DBE-7E40-727B-B7AC-6E5494579F4D}"/>
              </a:ext>
            </a:extLst>
          </p:cNvPr>
          <p:cNvGrpSpPr/>
          <p:nvPr/>
        </p:nvGrpSpPr>
        <p:grpSpPr>
          <a:xfrm>
            <a:off x="-375" y="0"/>
            <a:ext cx="4108450" cy="10287000"/>
            <a:chOff x="-375" y="0"/>
            <a:chExt cx="4108450" cy="10287000"/>
          </a:xfrm>
          <a:solidFill>
            <a:schemeClr val="tx1">
              <a:lumMod val="75000"/>
              <a:lumOff val="25000"/>
            </a:schemeClr>
          </a:solidFill>
        </p:grpSpPr>
        <p:sp>
          <p:nvSpPr>
            <p:cNvPr id="8" name="object 4">
              <a:extLst>
                <a:ext uri="{FF2B5EF4-FFF2-40B4-BE49-F238E27FC236}">
                  <a16:creationId xmlns:a16="http://schemas.microsoft.com/office/drawing/2014/main" id="{9CAEB38B-762B-E5D9-022E-EC5AC417743A}"/>
                </a:ext>
              </a:extLst>
            </p:cNvPr>
            <p:cNvSpPr/>
            <p:nvPr/>
          </p:nvSpPr>
          <p:spPr>
            <a:xfrm>
              <a:off x="-375" y="0"/>
              <a:ext cx="3327400" cy="10287000"/>
            </a:xfrm>
            <a:custGeom>
              <a:avLst/>
              <a:gdLst/>
              <a:ahLst/>
              <a:cxnLst/>
              <a:rect l="l" t="t" r="r" b="b"/>
              <a:pathLst>
                <a:path w="3327400" h="10287000">
                  <a:moveTo>
                    <a:pt x="0" y="10287000"/>
                  </a:moveTo>
                  <a:lnTo>
                    <a:pt x="0" y="0"/>
                  </a:lnTo>
                  <a:lnTo>
                    <a:pt x="3327201" y="0"/>
                  </a:lnTo>
                  <a:lnTo>
                    <a:pt x="3327201" y="10287000"/>
                  </a:lnTo>
                  <a:lnTo>
                    <a:pt x="0" y="10287000"/>
                  </a:lnTo>
                  <a:close/>
                </a:path>
              </a:pathLst>
            </a:custGeom>
            <a:grpFill/>
          </p:spPr>
          <p:txBody>
            <a:bodyPr wrap="square" lIns="0" tIns="0" rIns="0" bIns="0" rtlCol="0"/>
            <a:lstStyle/>
            <a:p>
              <a:endParaRPr/>
            </a:p>
          </p:txBody>
        </p:sp>
        <p:sp>
          <p:nvSpPr>
            <p:cNvPr id="9" name="object 5">
              <a:extLst>
                <a:ext uri="{FF2B5EF4-FFF2-40B4-BE49-F238E27FC236}">
                  <a16:creationId xmlns:a16="http://schemas.microsoft.com/office/drawing/2014/main" id="{300F0C26-FBC7-3F8E-451B-2BA729B20B71}"/>
                </a:ext>
              </a:extLst>
            </p:cNvPr>
            <p:cNvSpPr/>
            <p:nvPr/>
          </p:nvSpPr>
          <p:spPr>
            <a:xfrm>
              <a:off x="2545975" y="476250"/>
              <a:ext cx="1562100" cy="1562100"/>
            </a:xfrm>
            <a:custGeom>
              <a:avLst/>
              <a:gdLst/>
              <a:ahLst/>
              <a:cxnLst/>
              <a:rect l="l" t="t" r="r" b="b"/>
              <a:pathLst>
                <a:path w="1562100" h="1562100">
                  <a:moveTo>
                    <a:pt x="780985" y="1562100"/>
                  </a:moveTo>
                  <a:lnTo>
                    <a:pt x="756602" y="1494782"/>
                  </a:lnTo>
                  <a:lnTo>
                    <a:pt x="728330" y="1429003"/>
                  </a:lnTo>
                  <a:lnTo>
                    <a:pt x="696271" y="1364984"/>
                  </a:lnTo>
                  <a:lnTo>
                    <a:pt x="660529" y="1302946"/>
                  </a:lnTo>
                  <a:lnTo>
                    <a:pt x="621231" y="1243097"/>
                  </a:lnTo>
                  <a:lnTo>
                    <a:pt x="578506" y="1185645"/>
                  </a:lnTo>
                  <a:lnTo>
                    <a:pt x="532504" y="1130782"/>
                  </a:lnTo>
                  <a:lnTo>
                    <a:pt x="483377" y="1078698"/>
                  </a:lnTo>
                  <a:lnTo>
                    <a:pt x="431297" y="1029566"/>
                  </a:lnTo>
                  <a:lnTo>
                    <a:pt x="376437" y="983560"/>
                  </a:lnTo>
                  <a:lnTo>
                    <a:pt x="318989" y="940830"/>
                  </a:lnTo>
                  <a:lnTo>
                    <a:pt x="259143" y="901527"/>
                  </a:lnTo>
                  <a:lnTo>
                    <a:pt x="197108" y="865780"/>
                  </a:lnTo>
                  <a:lnTo>
                    <a:pt x="133092" y="833716"/>
                  </a:lnTo>
                  <a:lnTo>
                    <a:pt x="67315" y="805438"/>
                  </a:lnTo>
                  <a:lnTo>
                    <a:pt x="0" y="781050"/>
                  </a:lnTo>
                  <a:lnTo>
                    <a:pt x="33850" y="769341"/>
                  </a:lnTo>
                  <a:lnTo>
                    <a:pt x="100396" y="743008"/>
                  </a:lnTo>
                  <a:lnTo>
                    <a:pt x="165348" y="712812"/>
                  </a:lnTo>
                  <a:lnTo>
                    <a:pt x="228373" y="678906"/>
                  </a:lnTo>
                  <a:lnTo>
                    <a:pt x="289366" y="641349"/>
                  </a:lnTo>
                  <a:lnTo>
                    <a:pt x="348012" y="600333"/>
                  </a:lnTo>
                  <a:lnTo>
                    <a:pt x="404214" y="555926"/>
                  </a:lnTo>
                  <a:lnTo>
                    <a:pt x="457684" y="508358"/>
                  </a:lnTo>
                  <a:lnTo>
                    <a:pt x="508331" y="457707"/>
                  </a:lnTo>
                  <a:lnTo>
                    <a:pt x="555895" y="404233"/>
                  </a:lnTo>
                  <a:lnTo>
                    <a:pt x="600297" y="348027"/>
                  </a:lnTo>
                  <a:lnTo>
                    <a:pt x="641309" y="289377"/>
                  </a:lnTo>
                  <a:lnTo>
                    <a:pt x="678861" y="228382"/>
                  </a:lnTo>
                  <a:lnTo>
                    <a:pt x="712761" y="165353"/>
                  </a:lnTo>
                  <a:lnTo>
                    <a:pt x="742952" y="100399"/>
                  </a:lnTo>
                  <a:lnTo>
                    <a:pt x="769280" y="33851"/>
                  </a:lnTo>
                  <a:lnTo>
                    <a:pt x="780985" y="0"/>
                  </a:lnTo>
                  <a:lnTo>
                    <a:pt x="792690" y="33850"/>
                  </a:lnTo>
                  <a:lnTo>
                    <a:pt x="819017" y="100398"/>
                  </a:lnTo>
                  <a:lnTo>
                    <a:pt x="849207" y="165352"/>
                  </a:lnTo>
                  <a:lnTo>
                    <a:pt x="883106" y="228380"/>
                  </a:lnTo>
                  <a:lnTo>
                    <a:pt x="920657" y="289374"/>
                  </a:lnTo>
                  <a:lnTo>
                    <a:pt x="961668" y="348024"/>
                  </a:lnTo>
                  <a:lnTo>
                    <a:pt x="1006068" y="404230"/>
                  </a:lnTo>
                  <a:lnTo>
                    <a:pt x="1053631" y="457703"/>
                  </a:lnTo>
                  <a:lnTo>
                    <a:pt x="1104276" y="508354"/>
                  </a:lnTo>
                  <a:lnTo>
                    <a:pt x="1157745" y="555923"/>
                  </a:lnTo>
                  <a:lnTo>
                    <a:pt x="1213946" y="600329"/>
                  </a:lnTo>
                  <a:lnTo>
                    <a:pt x="1272591" y="641346"/>
                  </a:lnTo>
                  <a:lnTo>
                    <a:pt x="1333582" y="678904"/>
                  </a:lnTo>
                  <a:lnTo>
                    <a:pt x="1396606" y="712810"/>
                  </a:lnTo>
                  <a:lnTo>
                    <a:pt x="1461557" y="743007"/>
                  </a:lnTo>
                  <a:lnTo>
                    <a:pt x="1528101" y="769341"/>
                  </a:lnTo>
                  <a:lnTo>
                    <a:pt x="1561951" y="781050"/>
                  </a:lnTo>
                  <a:lnTo>
                    <a:pt x="1528101" y="792758"/>
                  </a:lnTo>
                  <a:lnTo>
                    <a:pt x="1461556" y="819092"/>
                  </a:lnTo>
                  <a:lnTo>
                    <a:pt x="1396606" y="849289"/>
                  </a:lnTo>
                  <a:lnTo>
                    <a:pt x="1333582" y="883195"/>
                  </a:lnTo>
                  <a:lnTo>
                    <a:pt x="1272591" y="920753"/>
                  </a:lnTo>
                  <a:lnTo>
                    <a:pt x="1213945" y="961770"/>
                  </a:lnTo>
                  <a:lnTo>
                    <a:pt x="1157745" y="1006176"/>
                  </a:lnTo>
                  <a:lnTo>
                    <a:pt x="1104276" y="1053745"/>
                  </a:lnTo>
                  <a:lnTo>
                    <a:pt x="1053631" y="1104396"/>
                  </a:lnTo>
                  <a:lnTo>
                    <a:pt x="1006068" y="1157870"/>
                  </a:lnTo>
                  <a:lnTo>
                    <a:pt x="961668" y="1214075"/>
                  </a:lnTo>
                  <a:lnTo>
                    <a:pt x="920657" y="1272725"/>
                  </a:lnTo>
                  <a:lnTo>
                    <a:pt x="883106" y="1333720"/>
                  </a:lnTo>
                  <a:lnTo>
                    <a:pt x="849207" y="1396748"/>
                  </a:lnTo>
                  <a:lnTo>
                    <a:pt x="819017" y="1461701"/>
                  </a:lnTo>
                  <a:lnTo>
                    <a:pt x="792690" y="1528249"/>
                  </a:lnTo>
                  <a:lnTo>
                    <a:pt x="780985" y="1562100"/>
                  </a:lnTo>
                  <a:close/>
                </a:path>
              </a:pathLst>
            </a:custGeom>
            <a:solidFill>
              <a:schemeClr val="tx1">
                <a:lumMod val="65000"/>
                <a:lumOff val="35000"/>
              </a:schemeClr>
            </a:solidFill>
          </p:spPr>
          <p:txBody>
            <a:bodyPr wrap="square" lIns="0" tIns="0" rIns="0" bIns="0" rtlCol="0"/>
            <a:lstStyle/>
            <a:p>
              <a:endParaRPr dirty="0"/>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4943425" y="822886"/>
            <a:ext cx="12378689" cy="8546732"/>
          </a:xfrm>
          <a:prstGeom prst="rect">
            <a:avLst/>
          </a:prstGeom>
        </p:spPr>
      </p:pic>
      <p:grpSp>
        <p:nvGrpSpPr>
          <p:cNvPr id="9" name="object 3">
            <a:extLst>
              <a:ext uri="{FF2B5EF4-FFF2-40B4-BE49-F238E27FC236}">
                <a16:creationId xmlns:a16="http://schemas.microsoft.com/office/drawing/2014/main" id="{7A18C3DC-1180-3B3E-5434-BA7DD11EF992}"/>
              </a:ext>
            </a:extLst>
          </p:cNvPr>
          <p:cNvGrpSpPr/>
          <p:nvPr/>
        </p:nvGrpSpPr>
        <p:grpSpPr>
          <a:xfrm>
            <a:off x="-375" y="0"/>
            <a:ext cx="4108450" cy="10287000"/>
            <a:chOff x="-375" y="0"/>
            <a:chExt cx="4108450" cy="10287000"/>
          </a:xfrm>
          <a:solidFill>
            <a:schemeClr val="tx1">
              <a:lumMod val="75000"/>
              <a:lumOff val="25000"/>
            </a:schemeClr>
          </a:solidFill>
        </p:grpSpPr>
        <p:sp>
          <p:nvSpPr>
            <p:cNvPr id="10" name="object 4">
              <a:extLst>
                <a:ext uri="{FF2B5EF4-FFF2-40B4-BE49-F238E27FC236}">
                  <a16:creationId xmlns:a16="http://schemas.microsoft.com/office/drawing/2014/main" id="{5C576A34-8CF3-162E-1C58-16ED354014A6}"/>
                </a:ext>
              </a:extLst>
            </p:cNvPr>
            <p:cNvSpPr/>
            <p:nvPr/>
          </p:nvSpPr>
          <p:spPr>
            <a:xfrm>
              <a:off x="-375" y="0"/>
              <a:ext cx="3327400" cy="10287000"/>
            </a:xfrm>
            <a:custGeom>
              <a:avLst/>
              <a:gdLst/>
              <a:ahLst/>
              <a:cxnLst/>
              <a:rect l="l" t="t" r="r" b="b"/>
              <a:pathLst>
                <a:path w="3327400" h="10287000">
                  <a:moveTo>
                    <a:pt x="0" y="10287000"/>
                  </a:moveTo>
                  <a:lnTo>
                    <a:pt x="0" y="0"/>
                  </a:lnTo>
                  <a:lnTo>
                    <a:pt x="3327201" y="0"/>
                  </a:lnTo>
                  <a:lnTo>
                    <a:pt x="3327201" y="10287000"/>
                  </a:lnTo>
                  <a:lnTo>
                    <a:pt x="0" y="10287000"/>
                  </a:lnTo>
                  <a:close/>
                </a:path>
              </a:pathLst>
            </a:custGeom>
            <a:grpFill/>
          </p:spPr>
          <p:txBody>
            <a:bodyPr wrap="square" lIns="0" tIns="0" rIns="0" bIns="0" rtlCol="0"/>
            <a:lstStyle/>
            <a:p>
              <a:endParaRPr/>
            </a:p>
          </p:txBody>
        </p:sp>
        <p:sp>
          <p:nvSpPr>
            <p:cNvPr id="11" name="object 5">
              <a:extLst>
                <a:ext uri="{FF2B5EF4-FFF2-40B4-BE49-F238E27FC236}">
                  <a16:creationId xmlns:a16="http://schemas.microsoft.com/office/drawing/2014/main" id="{6C154B81-93DF-72B5-14A0-D680C9E998B6}"/>
                </a:ext>
              </a:extLst>
            </p:cNvPr>
            <p:cNvSpPr/>
            <p:nvPr/>
          </p:nvSpPr>
          <p:spPr>
            <a:xfrm>
              <a:off x="2545975" y="476250"/>
              <a:ext cx="1562100" cy="1562100"/>
            </a:xfrm>
            <a:custGeom>
              <a:avLst/>
              <a:gdLst/>
              <a:ahLst/>
              <a:cxnLst/>
              <a:rect l="l" t="t" r="r" b="b"/>
              <a:pathLst>
                <a:path w="1562100" h="1562100">
                  <a:moveTo>
                    <a:pt x="780985" y="1562100"/>
                  </a:moveTo>
                  <a:lnTo>
                    <a:pt x="756602" y="1494782"/>
                  </a:lnTo>
                  <a:lnTo>
                    <a:pt x="728330" y="1429003"/>
                  </a:lnTo>
                  <a:lnTo>
                    <a:pt x="696271" y="1364984"/>
                  </a:lnTo>
                  <a:lnTo>
                    <a:pt x="660529" y="1302946"/>
                  </a:lnTo>
                  <a:lnTo>
                    <a:pt x="621231" y="1243097"/>
                  </a:lnTo>
                  <a:lnTo>
                    <a:pt x="578506" y="1185645"/>
                  </a:lnTo>
                  <a:lnTo>
                    <a:pt x="532504" y="1130782"/>
                  </a:lnTo>
                  <a:lnTo>
                    <a:pt x="483377" y="1078698"/>
                  </a:lnTo>
                  <a:lnTo>
                    <a:pt x="431297" y="1029566"/>
                  </a:lnTo>
                  <a:lnTo>
                    <a:pt x="376437" y="983560"/>
                  </a:lnTo>
                  <a:lnTo>
                    <a:pt x="318989" y="940830"/>
                  </a:lnTo>
                  <a:lnTo>
                    <a:pt x="259143" y="901527"/>
                  </a:lnTo>
                  <a:lnTo>
                    <a:pt x="197108" y="865780"/>
                  </a:lnTo>
                  <a:lnTo>
                    <a:pt x="133092" y="833716"/>
                  </a:lnTo>
                  <a:lnTo>
                    <a:pt x="67315" y="805438"/>
                  </a:lnTo>
                  <a:lnTo>
                    <a:pt x="0" y="781050"/>
                  </a:lnTo>
                  <a:lnTo>
                    <a:pt x="33850" y="769341"/>
                  </a:lnTo>
                  <a:lnTo>
                    <a:pt x="100396" y="743008"/>
                  </a:lnTo>
                  <a:lnTo>
                    <a:pt x="165348" y="712812"/>
                  </a:lnTo>
                  <a:lnTo>
                    <a:pt x="228373" y="678906"/>
                  </a:lnTo>
                  <a:lnTo>
                    <a:pt x="289366" y="641349"/>
                  </a:lnTo>
                  <a:lnTo>
                    <a:pt x="348012" y="600333"/>
                  </a:lnTo>
                  <a:lnTo>
                    <a:pt x="404214" y="555926"/>
                  </a:lnTo>
                  <a:lnTo>
                    <a:pt x="457684" y="508358"/>
                  </a:lnTo>
                  <a:lnTo>
                    <a:pt x="508331" y="457707"/>
                  </a:lnTo>
                  <a:lnTo>
                    <a:pt x="555895" y="404233"/>
                  </a:lnTo>
                  <a:lnTo>
                    <a:pt x="600297" y="348027"/>
                  </a:lnTo>
                  <a:lnTo>
                    <a:pt x="641309" y="289377"/>
                  </a:lnTo>
                  <a:lnTo>
                    <a:pt x="678861" y="228382"/>
                  </a:lnTo>
                  <a:lnTo>
                    <a:pt x="712761" y="165353"/>
                  </a:lnTo>
                  <a:lnTo>
                    <a:pt x="742952" y="100399"/>
                  </a:lnTo>
                  <a:lnTo>
                    <a:pt x="769280" y="33851"/>
                  </a:lnTo>
                  <a:lnTo>
                    <a:pt x="780985" y="0"/>
                  </a:lnTo>
                  <a:lnTo>
                    <a:pt x="792690" y="33850"/>
                  </a:lnTo>
                  <a:lnTo>
                    <a:pt x="819017" y="100398"/>
                  </a:lnTo>
                  <a:lnTo>
                    <a:pt x="849207" y="165352"/>
                  </a:lnTo>
                  <a:lnTo>
                    <a:pt x="883106" y="228380"/>
                  </a:lnTo>
                  <a:lnTo>
                    <a:pt x="920657" y="289374"/>
                  </a:lnTo>
                  <a:lnTo>
                    <a:pt x="961668" y="348024"/>
                  </a:lnTo>
                  <a:lnTo>
                    <a:pt x="1006068" y="404230"/>
                  </a:lnTo>
                  <a:lnTo>
                    <a:pt x="1053631" y="457703"/>
                  </a:lnTo>
                  <a:lnTo>
                    <a:pt x="1104276" y="508354"/>
                  </a:lnTo>
                  <a:lnTo>
                    <a:pt x="1157745" y="555923"/>
                  </a:lnTo>
                  <a:lnTo>
                    <a:pt x="1213946" y="600329"/>
                  </a:lnTo>
                  <a:lnTo>
                    <a:pt x="1272591" y="641346"/>
                  </a:lnTo>
                  <a:lnTo>
                    <a:pt x="1333582" y="678904"/>
                  </a:lnTo>
                  <a:lnTo>
                    <a:pt x="1396606" y="712810"/>
                  </a:lnTo>
                  <a:lnTo>
                    <a:pt x="1461557" y="743007"/>
                  </a:lnTo>
                  <a:lnTo>
                    <a:pt x="1528101" y="769341"/>
                  </a:lnTo>
                  <a:lnTo>
                    <a:pt x="1561951" y="781050"/>
                  </a:lnTo>
                  <a:lnTo>
                    <a:pt x="1528101" y="792758"/>
                  </a:lnTo>
                  <a:lnTo>
                    <a:pt x="1461556" y="819092"/>
                  </a:lnTo>
                  <a:lnTo>
                    <a:pt x="1396606" y="849289"/>
                  </a:lnTo>
                  <a:lnTo>
                    <a:pt x="1333582" y="883195"/>
                  </a:lnTo>
                  <a:lnTo>
                    <a:pt x="1272591" y="920753"/>
                  </a:lnTo>
                  <a:lnTo>
                    <a:pt x="1213945" y="961770"/>
                  </a:lnTo>
                  <a:lnTo>
                    <a:pt x="1157745" y="1006176"/>
                  </a:lnTo>
                  <a:lnTo>
                    <a:pt x="1104276" y="1053745"/>
                  </a:lnTo>
                  <a:lnTo>
                    <a:pt x="1053631" y="1104396"/>
                  </a:lnTo>
                  <a:lnTo>
                    <a:pt x="1006068" y="1157870"/>
                  </a:lnTo>
                  <a:lnTo>
                    <a:pt x="961668" y="1214075"/>
                  </a:lnTo>
                  <a:lnTo>
                    <a:pt x="920657" y="1272725"/>
                  </a:lnTo>
                  <a:lnTo>
                    <a:pt x="883106" y="1333720"/>
                  </a:lnTo>
                  <a:lnTo>
                    <a:pt x="849207" y="1396748"/>
                  </a:lnTo>
                  <a:lnTo>
                    <a:pt x="819017" y="1461701"/>
                  </a:lnTo>
                  <a:lnTo>
                    <a:pt x="792690" y="1528249"/>
                  </a:lnTo>
                  <a:lnTo>
                    <a:pt x="780985" y="1562100"/>
                  </a:lnTo>
                  <a:close/>
                </a:path>
              </a:pathLst>
            </a:custGeom>
            <a:solidFill>
              <a:schemeClr val="tx1">
                <a:lumMod val="65000"/>
                <a:lumOff val="35000"/>
              </a:schemeClr>
            </a:solidFill>
          </p:spPr>
          <p:txBody>
            <a:bodyPr wrap="square" lIns="0" tIns="0" rIns="0" bIns="0" rtlCol="0"/>
            <a:lstStyle/>
            <a:p>
              <a:endParaRPr dirty="0"/>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object 5"/>
          <p:cNvPicPr/>
          <p:nvPr/>
        </p:nvPicPr>
        <p:blipFill>
          <a:blip r:embed="rId2" cstate="print"/>
          <a:stretch>
            <a:fillRect/>
          </a:stretch>
        </p:blipFill>
        <p:spPr>
          <a:xfrm>
            <a:off x="4267200" y="469732"/>
            <a:ext cx="13611075" cy="8039099"/>
          </a:xfrm>
          <a:prstGeom prst="rect">
            <a:avLst/>
          </a:prstGeom>
        </p:spPr>
      </p:pic>
      <p:grpSp>
        <p:nvGrpSpPr>
          <p:cNvPr id="7" name="object 3">
            <a:extLst>
              <a:ext uri="{FF2B5EF4-FFF2-40B4-BE49-F238E27FC236}">
                <a16:creationId xmlns:a16="http://schemas.microsoft.com/office/drawing/2014/main" id="{CF322406-3CEF-4CCF-096C-FC53A6117391}"/>
              </a:ext>
            </a:extLst>
          </p:cNvPr>
          <p:cNvGrpSpPr/>
          <p:nvPr/>
        </p:nvGrpSpPr>
        <p:grpSpPr>
          <a:xfrm>
            <a:off x="-375" y="0"/>
            <a:ext cx="4108450" cy="10287000"/>
            <a:chOff x="-375" y="0"/>
            <a:chExt cx="4108450" cy="10287000"/>
          </a:xfrm>
          <a:solidFill>
            <a:schemeClr val="tx1">
              <a:lumMod val="75000"/>
              <a:lumOff val="25000"/>
            </a:schemeClr>
          </a:solidFill>
        </p:grpSpPr>
        <p:sp>
          <p:nvSpPr>
            <p:cNvPr id="8" name="object 4">
              <a:extLst>
                <a:ext uri="{FF2B5EF4-FFF2-40B4-BE49-F238E27FC236}">
                  <a16:creationId xmlns:a16="http://schemas.microsoft.com/office/drawing/2014/main" id="{1A1AC7E1-CB61-1203-43E9-1255585E41E9}"/>
                </a:ext>
              </a:extLst>
            </p:cNvPr>
            <p:cNvSpPr/>
            <p:nvPr/>
          </p:nvSpPr>
          <p:spPr>
            <a:xfrm>
              <a:off x="-375" y="0"/>
              <a:ext cx="3327400" cy="10287000"/>
            </a:xfrm>
            <a:custGeom>
              <a:avLst/>
              <a:gdLst/>
              <a:ahLst/>
              <a:cxnLst/>
              <a:rect l="l" t="t" r="r" b="b"/>
              <a:pathLst>
                <a:path w="3327400" h="10287000">
                  <a:moveTo>
                    <a:pt x="0" y="10287000"/>
                  </a:moveTo>
                  <a:lnTo>
                    <a:pt x="0" y="0"/>
                  </a:lnTo>
                  <a:lnTo>
                    <a:pt x="3327201" y="0"/>
                  </a:lnTo>
                  <a:lnTo>
                    <a:pt x="3327201" y="10287000"/>
                  </a:lnTo>
                  <a:lnTo>
                    <a:pt x="0" y="10287000"/>
                  </a:lnTo>
                  <a:close/>
                </a:path>
              </a:pathLst>
            </a:custGeom>
            <a:grpFill/>
          </p:spPr>
          <p:txBody>
            <a:bodyPr wrap="square" lIns="0" tIns="0" rIns="0" bIns="0" rtlCol="0"/>
            <a:lstStyle/>
            <a:p>
              <a:endParaRPr/>
            </a:p>
          </p:txBody>
        </p:sp>
        <p:sp>
          <p:nvSpPr>
            <p:cNvPr id="9" name="object 5">
              <a:extLst>
                <a:ext uri="{FF2B5EF4-FFF2-40B4-BE49-F238E27FC236}">
                  <a16:creationId xmlns:a16="http://schemas.microsoft.com/office/drawing/2014/main" id="{D0B8650D-BC95-D0BC-4B27-62DF9867A356}"/>
                </a:ext>
              </a:extLst>
            </p:cNvPr>
            <p:cNvSpPr/>
            <p:nvPr/>
          </p:nvSpPr>
          <p:spPr>
            <a:xfrm>
              <a:off x="2545975" y="476250"/>
              <a:ext cx="1562100" cy="1562100"/>
            </a:xfrm>
            <a:custGeom>
              <a:avLst/>
              <a:gdLst/>
              <a:ahLst/>
              <a:cxnLst/>
              <a:rect l="l" t="t" r="r" b="b"/>
              <a:pathLst>
                <a:path w="1562100" h="1562100">
                  <a:moveTo>
                    <a:pt x="780985" y="1562100"/>
                  </a:moveTo>
                  <a:lnTo>
                    <a:pt x="756602" y="1494782"/>
                  </a:lnTo>
                  <a:lnTo>
                    <a:pt x="728330" y="1429003"/>
                  </a:lnTo>
                  <a:lnTo>
                    <a:pt x="696271" y="1364984"/>
                  </a:lnTo>
                  <a:lnTo>
                    <a:pt x="660529" y="1302946"/>
                  </a:lnTo>
                  <a:lnTo>
                    <a:pt x="621231" y="1243097"/>
                  </a:lnTo>
                  <a:lnTo>
                    <a:pt x="578506" y="1185645"/>
                  </a:lnTo>
                  <a:lnTo>
                    <a:pt x="532504" y="1130782"/>
                  </a:lnTo>
                  <a:lnTo>
                    <a:pt x="483377" y="1078698"/>
                  </a:lnTo>
                  <a:lnTo>
                    <a:pt x="431297" y="1029566"/>
                  </a:lnTo>
                  <a:lnTo>
                    <a:pt x="376437" y="983560"/>
                  </a:lnTo>
                  <a:lnTo>
                    <a:pt x="318989" y="940830"/>
                  </a:lnTo>
                  <a:lnTo>
                    <a:pt x="259143" y="901527"/>
                  </a:lnTo>
                  <a:lnTo>
                    <a:pt x="197108" y="865780"/>
                  </a:lnTo>
                  <a:lnTo>
                    <a:pt x="133092" y="833716"/>
                  </a:lnTo>
                  <a:lnTo>
                    <a:pt x="67315" y="805438"/>
                  </a:lnTo>
                  <a:lnTo>
                    <a:pt x="0" y="781050"/>
                  </a:lnTo>
                  <a:lnTo>
                    <a:pt x="33850" y="769341"/>
                  </a:lnTo>
                  <a:lnTo>
                    <a:pt x="100396" y="743008"/>
                  </a:lnTo>
                  <a:lnTo>
                    <a:pt x="165348" y="712812"/>
                  </a:lnTo>
                  <a:lnTo>
                    <a:pt x="228373" y="678906"/>
                  </a:lnTo>
                  <a:lnTo>
                    <a:pt x="289366" y="641349"/>
                  </a:lnTo>
                  <a:lnTo>
                    <a:pt x="348012" y="600333"/>
                  </a:lnTo>
                  <a:lnTo>
                    <a:pt x="404214" y="555926"/>
                  </a:lnTo>
                  <a:lnTo>
                    <a:pt x="457684" y="508358"/>
                  </a:lnTo>
                  <a:lnTo>
                    <a:pt x="508331" y="457707"/>
                  </a:lnTo>
                  <a:lnTo>
                    <a:pt x="555895" y="404233"/>
                  </a:lnTo>
                  <a:lnTo>
                    <a:pt x="600297" y="348027"/>
                  </a:lnTo>
                  <a:lnTo>
                    <a:pt x="641309" y="289377"/>
                  </a:lnTo>
                  <a:lnTo>
                    <a:pt x="678861" y="228382"/>
                  </a:lnTo>
                  <a:lnTo>
                    <a:pt x="712761" y="165353"/>
                  </a:lnTo>
                  <a:lnTo>
                    <a:pt x="742952" y="100399"/>
                  </a:lnTo>
                  <a:lnTo>
                    <a:pt x="769280" y="33851"/>
                  </a:lnTo>
                  <a:lnTo>
                    <a:pt x="780985" y="0"/>
                  </a:lnTo>
                  <a:lnTo>
                    <a:pt x="792690" y="33850"/>
                  </a:lnTo>
                  <a:lnTo>
                    <a:pt x="819017" y="100398"/>
                  </a:lnTo>
                  <a:lnTo>
                    <a:pt x="849207" y="165352"/>
                  </a:lnTo>
                  <a:lnTo>
                    <a:pt x="883106" y="228380"/>
                  </a:lnTo>
                  <a:lnTo>
                    <a:pt x="920657" y="289374"/>
                  </a:lnTo>
                  <a:lnTo>
                    <a:pt x="961668" y="348024"/>
                  </a:lnTo>
                  <a:lnTo>
                    <a:pt x="1006068" y="404230"/>
                  </a:lnTo>
                  <a:lnTo>
                    <a:pt x="1053631" y="457703"/>
                  </a:lnTo>
                  <a:lnTo>
                    <a:pt x="1104276" y="508354"/>
                  </a:lnTo>
                  <a:lnTo>
                    <a:pt x="1157745" y="555923"/>
                  </a:lnTo>
                  <a:lnTo>
                    <a:pt x="1213946" y="600329"/>
                  </a:lnTo>
                  <a:lnTo>
                    <a:pt x="1272591" y="641346"/>
                  </a:lnTo>
                  <a:lnTo>
                    <a:pt x="1333582" y="678904"/>
                  </a:lnTo>
                  <a:lnTo>
                    <a:pt x="1396606" y="712810"/>
                  </a:lnTo>
                  <a:lnTo>
                    <a:pt x="1461557" y="743007"/>
                  </a:lnTo>
                  <a:lnTo>
                    <a:pt x="1528101" y="769341"/>
                  </a:lnTo>
                  <a:lnTo>
                    <a:pt x="1561951" y="781050"/>
                  </a:lnTo>
                  <a:lnTo>
                    <a:pt x="1528101" y="792758"/>
                  </a:lnTo>
                  <a:lnTo>
                    <a:pt x="1461556" y="819092"/>
                  </a:lnTo>
                  <a:lnTo>
                    <a:pt x="1396606" y="849289"/>
                  </a:lnTo>
                  <a:lnTo>
                    <a:pt x="1333582" y="883195"/>
                  </a:lnTo>
                  <a:lnTo>
                    <a:pt x="1272591" y="920753"/>
                  </a:lnTo>
                  <a:lnTo>
                    <a:pt x="1213945" y="961770"/>
                  </a:lnTo>
                  <a:lnTo>
                    <a:pt x="1157745" y="1006176"/>
                  </a:lnTo>
                  <a:lnTo>
                    <a:pt x="1104276" y="1053745"/>
                  </a:lnTo>
                  <a:lnTo>
                    <a:pt x="1053631" y="1104396"/>
                  </a:lnTo>
                  <a:lnTo>
                    <a:pt x="1006068" y="1157870"/>
                  </a:lnTo>
                  <a:lnTo>
                    <a:pt x="961668" y="1214075"/>
                  </a:lnTo>
                  <a:lnTo>
                    <a:pt x="920657" y="1272725"/>
                  </a:lnTo>
                  <a:lnTo>
                    <a:pt x="883106" y="1333720"/>
                  </a:lnTo>
                  <a:lnTo>
                    <a:pt x="849207" y="1396748"/>
                  </a:lnTo>
                  <a:lnTo>
                    <a:pt x="819017" y="1461701"/>
                  </a:lnTo>
                  <a:lnTo>
                    <a:pt x="792690" y="1528249"/>
                  </a:lnTo>
                  <a:lnTo>
                    <a:pt x="780985" y="1562100"/>
                  </a:lnTo>
                  <a:close/>
                </a:path>
              </a:pathLst>
            </a:custGeom>
            <a:solidFill>
              <a:schemeClr val="tx1">
                <a:lumMod val="65000"/>
                <a:lumOff val="35000"/>
              </a:schemeClr>
            </a:solidFill>
          </p:spPr>
          <p:txBody>
            <a:bodyPr wrap="square" lIns="0" tIns="0" rIns="0" bIns="0" rtlCol="0"/>
            <a:lstStyle/>
            <a:p>
              <a:endParaRPr dirty="0"/>
            </a:p>
          </p:txBody>
        </p:sp>
      </p:grpSp>
      <p:sp>
        <p:nvSpPr>
          <p:cNvPr id="4" name="Rectangle 2">
            <a:extLst>
              <a:ext uri="{FF2B5EF4-FFF2-40B4-BE49-F238E27FC236}">
                <a16:creationId xmlns:a16="http://schemas.microsoft.com/office/drawing/2014/main" id="{61A4D03B-1796-BAD7-2250-63CBD9CE5CDA}"/>
              </a:ext>
            </a:extLst>
          </p:cNvPr>
          <p:cNvSpPr>
            <a:spLocks noChangeArrowheads="1"/>
          </p:cNvSpPr>
          <p:nvPr/>
        </p:nvSpPr>
        <p:spPr bwMode="auto">
          <a:xfrm>
            <a:off x="11963400" y="8616939"/>
            <a:ext cx="480060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Open Sans Condensed"/>
              </a:rPr>
              <a:t>Source: M</a:t>
            </a:r>
            <a:r>
              <a:rPr kumimoji="0" lang="en-US" altLang="en-US" sz="1800" b="1" i="0" u="none" strike="noStrike" cap="none" normalizeH="0" baseline="0" dirty="0">
                <a:ln>
                  <a:noFill/>
                </a:ln>
                <a:solidFill>
                  <a:srgbClr val="000000"/>
                </a:solidFill>
                <a:effectLst/>
                <a:latin typeface="Open Sans Condensed"/>
              </a:rPr>
              <a:t>ATHEMATICS OF THE</a:t>
            </a:r>
            <a:br>
              <a:rPr kumimoji="0" lang="en-US" altLang="en-US" sz="2400" b="1" i="0" u="none" strike="noStrike" cap="none" normalizeH="0" baseline="0" dirty="0">
                <a:ln>
                  <a:noFill/>
                </a:ln>
                <a:solidFill>
                  <a:srgbClr val="000000"/>
                </a:solidFill>
                <a:effectLst/>
                <a:latin typeface="Open Sans Condensed"/>
              </a:rPr>
            </a:br>
            <a:r>
              <a:rPr kumimoji="0" lang="en-US" altLang="en-US" sz="2400" b="1" i="0" u="none" strike="noStrike" cap="none" normalizeH="0" baseline="0" dirty="0">
                <a:ln>
                  <a:noFill/>
                </a:ln>
                <a:solidFill>
                  <a:srgbClr val="000000"/>
                </a:solidFill>
                <a:effectLst/>
                <a:latin typeface="Open Sans Condensed"/>
              </a:rPr>
              <a:t>D</a:t>
            </a:r>
            <a:r>
              <a:rPr kumimoji="0" lang="en-US" altLang="en-US" sz="1800" b="1" i="0" u="none" strike="noStrike" cap="none" normalizeH="0" baseline="0" dirty="0">
                <a:ln>
                  <a:noFill/>
                </a:ln>
                <a:solidFill>
                  <a:srgbClr val="000000"/>
                </a:solidFill>
                <a:effectLst/>
                <a:latin typeface="Open Sans Condensed"/>
              </a:rPr>
              <a:t>ISCRETE </a:t>
            </a:r>
            <a:r>
              <a:rPr kumimoji="0" lang="en-US" altLang="en-US" sz="2400" b="1" i="0" u="none" strike="noStrike" cap="none" normalizeH="0" baseline="0" dirty="0">
                <a:ln>
                  <a:noFill/>
                </a:ln>
                <a:solidFill>
                  <a:srgbClr val="000000"/>
                </a:solidFill>
                <a:effectLst/>
                <a:latin typeface="Open Sans Condensed"/>
              </a:rPr>
              <a:t>F</a:t>
            </a:r>
            <a:r>
              <a:rPr kumimoji="0" lang="en-US" altLang="en-US" sz="1800" b="1" i="0" u="none" strike="noStrike" cap="none" normalizeH="0" baseline="0" dirty="0">
                <a:ln>
                  <a:noFill/>
                </a:ln>
                <a:solidFill>
                  <a:srgbClr val="000000"/>
                </a:solidFill>
                <a:effectLst/>
                <a:latin typeface="Open Sans Condensed"/>
              </a:rPr>
              <a:t>OURIER </a:t>
            </a:r>
            <a:r>
              <a:rPr kumimoji="0" lang="en-US" altLang="en-US" sz="2400" b="1" i="0" u="none" strike="noStrike" cap="none" normalizeH="0" baseline="0" dirty="0">
                <a:ln>
                  <a:noFill/>
                </a:ln>
                <a:solidFill>
                  <a:srgbClr val="000000"/>
                </a:solidFill>
                <a:effectLst/>
                <a:latin typeface="Open Sans Condensed"/>
              </a:rPr>
              <a:t>T</a:t>
            </a:r>
            <a:r>
              <a:rPr kumimoji="0" lang="en-US" altLang="en-US" sz="1800" b="1" i="0" u="none" strike="noStrike" cap="none" normalizeH="0" baseline="0" dirty="0">
                <a:ln>
                  <a:noFill/>
                </a:ln>
                <a:solidFill>
                  <a:srgbClr val="000000"/>
                </a:solidFill>
                <a:effectLst/>
                <a:latin typeface="Open Sans Condensed"/>
              </a:rPr>
              <a:t>RANSFORM </a:t>
            </a:r>
            <a:r>
              <a:rPr kumimoji="0" lang="en-US" altLang="en-US" sz="2400" b="1" i="0" u="none" strike="noStrike" cap="none" normalizeH="0" baseline="0" dirty="0">
                <a:ln>
                  <a:noFill/>
                </a:ln>
                <a:solidFill>
                  <a:srgbClr val="000000"/>
                </a:solidFill>
                <a:effectLst/>
                <a:latin typeface="Open Sans Condensed"/>
              </a:rPr>
              <a:t>(DFT) by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3">
            <a:extLst>
              <a:ext uri="{FF2B5EF4-FFF2-40B4-BE49-F238E27FC236}">
                <a16:creationId xmlns:a16="http://schemas.microsoft.com/office/drawing/2014/main" id="{C00D24ED-F7BB-C754-E11B-2C43EE9ABF42}"/>
              </a:ext>
            </a:extLst>
          </p:cNvPr>
          <p:cNvSpPr>
            <a:spLocks noChangeArrowheads="1"/>
          </p:cNvSpPr>
          <p:nvPr/>
        </p:nvSpPr>
        <p:spPr bwMode="auto">
          <a:xfrm>
            <a:off x="12496800" y="9318369"/>
            <a:ext cx="27432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lumMod val="95000"/>
                    <a:lumOff val="5000"/>
                  </a:schemeClr>
                </a:solidFill>
                <a:effectLst/>
                <a:latin typeface="Roboto" panose="020F0502020204030204" pitchFamily="2" charset="0"/>
                <a:hlinkClick r:id="rId3">
                  <a:extLst>
                    <a:ext uri="{A12FA001-AC4F-418D-AE19-62706E023703}">
                      <ahyp:hlinkClr xmlns:ahyp="http://schemas.microsoft.com/office/drawing/2018/hyperlinkcolor" val="tx"/>
                    </a:ext>
                  </a:extLst>
                </a:hlinkClick>
              </a:rPr>
              <a:t>J</a:t>
            </a:r>
            <a:r>
              <a:rPr kumimoji="0" lang="en-US" altLang="en-US" sz="1600" b="1" i="0" u="none" strike="noStrike" cap="none" normalizeH="0" baseline="0" dirty="0" bmk="">
                <a:ln>
                  <a:noFill/>
                </a:ln>
                <a:solidFill>
                  <a:schemeClr val="tx1">
                    <a:lumMod val="95000"/>
                    <a:lumOff val="5000"/>
                  </a:schemeClr>
                </a:solidFill>
                <a:effectLst/>
                <a:latin typeface="Roboto" panose="020F0502020204030204" pitchFamily="2" charset="0"/>
                <a:hlinkClick r:id="rId3">
                  <a:extLst>
                    <a:ext uri="{A12FA001-AC4F-418D-AE19-62706E023703}">
                      <ahyp:hlinkClr xmlns:ahyp="http://schemas.microsoft.com/office/drawing/2018/hyperlinkcolor" val="tx"/>
                    </a:ext>
                  </a:extLst>
                </a:hlinkClick>
              </a:rPr>
              <a:t>ULIUS </a:t>
            </a:r>
            <a:r>
              <a:rPr kumimoji="0" lang="en-US" altLang="en-US" sz="2400" b="1" i="0" u="none" strike="noStrike" cap="none" normalizeH="0" baseline="0" dirty="0" bmk="">
                <a:ln>
                  <a:noFill/>
                </a:ln>
                <a:solidFill>
                  <a:schemeClr val="tx1">
                    <a:lumMod val="95000"/>
                    <a:lumOff val="5000"/>
                  </a:schemeClr>
                </a:solidFill>
                <a:effectLst/>
                <a:latin typeface="Roboto" panose="020F0502020204030204" pitchFamily="2" charset="0"/>
                <a:hlinkClick r:id="rId3">
                  <a:extLst>
                    <a:ext uri="{A12FA001-AC4F-418D-AE19-62706E023703}">
                      <ahyp:hlinkClr xmlns:ahyp="http://schemas.microsoft.com/office/drawing/2018/hyperlinkcolor" val="tx"/>
                    </a:ext>
                  </a:extLst>
                </a:hlinkClick>
              </a:rPr>
              <a:t>O. S</a:t>
            </a:r>
            <a:r>
              <a:rPr kumimoji="0" lang="en-US" altLang="en-US" sz="1600" b="1" i="0" u="none" strike="noStrike" cap="none" normalizeH="0" baseline="0" dirty="0" bmk="">
                <a:ln>
                  <a:noFill/>
                </a:ln>
                <a:solidFill>
                  <a:schemeClr val="tx1">
                    <a:lumMod val="95000"/>
                    <a:lumOff val="5000"/>
                  </a:schemeClr>
                </a:solidFill>
                <a:effectLst/>
                <a:latin typeface="Roboto" panose="020F0502020204030204" pitchFamily="2" charset="0"/>
                <a:hlinkClick r:id="rId3">
                  <a:extLst>
                    <a:ext uri="{A12FA001-AC4F-418D-AE19-62706E023703}">
                      <ahyp:hlinkClr xmlns:ahyp="http://schemas.microsoft.com/office/drawing/2018/hyperlinkcolor" val="tx"/>
                    </a:ext>
                  </a:extLst>
                </a:hlinkClick>
              </a:rPr>
              <a:t>MITH </a:t>
            </a:r>
            <a:r>
              <a:rPr kumimoji="0" lang="en-US" altLang="en-US" sz="2400" b="1" i="0" u="none" strike="noStrike" cap="none" normalizeH="0" baseline="0" dirty="0" bmk="">
                <a:ln>
                  <a:noFill/>
                </a:ln>
                <a:solidFill>
                  <a:schemeClr val="tx1">
                    <a:lumMod val="95000"/>
                    <a:lumOff val="5000"/>
                  </a:schemeClr>
                </a:solidFill>
                <a:effectLst/>
                <a:latin typeface="Roboto" panose="020F0502020204030204" pitchFamily="2" charset="0"/>
                <a:hlinkClick r:id="rId3">
                  <a:extLst>
                    <a:ext uri="{A12FA001-AC4F-418D-AE19-62706E023703}">
                      <ahyp:hlinkClr xmlns:ahyp="http://schemas.microsoft.com/office/drawing/2018/hyperlinkcolor" val="tx"/>
                    </a:ext>
                  </a:extLst>
                </a:hlinkClick>
              </a:rPr>
              <a:t>III</a:t>
            </a:r>
            <a:r>
              <a:rPr kumimoji="0" lang="en-US" altLang="en-US" sz="2400" b="0" i="0" u="none" strike="noStrike" cap="none" normalizeH="0" baseline="0" dirty="0">
                <a:ln>
                  <a:noFill/>
                </a:ln>
                <a:solidFill>
                  <a:schemeClr val="tx1">
                    <a:lumMod val="95000"/>
                    <a:lumOff val="5000"/>
                  </a:schemeClr>
                </a:solidFill>
                <a:effectLst/>
              </a:rPr>
              <a:t> </a:t>
            </a:r>
            <a:endParaRPr kumimoji="0" lang="en-US" altLang="en-US" sz="3600" b="0" i="0" u="none" strike="noStrike" cap="none" normalizeH="0" baseline="0" dirty="0">
              <a:ln>
                <a:noFill/>
              </a:ln>
              <a:solidFill>
                <a:schemeClr val="tx1">
                  <a:lumMod val="95000"/>
                  <a:lumOff val="5000"/>
                </a:schemeClr>
              </a:solidFill>
              <a:effectLst/>
              <a:latin typeface="Arial" panose="020B0604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4955870" y="1198742"/>
            <a:ext cx="11459976" cy="7056735"/>
          </a:xfrm>
          <a:prstGeom prst="rect">
            <a:avLst/>
          </a:prstGeom>
        </p:spPr>
      </p:pic>
      <p:grpSp>
        <p:nvGrpSpPr>
          <p:cNvPr id="14" name="object 3">
            <a:extLst>
              <a:ext uri="{FF2B5EF4-FFF2-40B4-BE49-F238E27FC236}">
                <a16:creationId xmlns:a16="http://schemas.microsoft.com/office/drawing/2014/main" id="{9EC03174-5F6A-9839-B2A6-FD1E22974BBE}"/>
              </a:ext>
            </a:extLst>
          </p:cNvPr>
          <p:cNvGrpSpPr/>
          <p:nvPr/>
        </p:nvGrpSpPr>
        <p:grpSpPr>
          <a:xfrm>
            <a:off x="-375" y="0"/>
            <a:ext cx="4108450" cy="10287000"/>
            <a:chOff x="-375" y="0"/>
            <a:chExt cx="4108450" cy="10287000"/>
          </a:xfrm>
          <a:solidFill>
            <a:schemeClr val="tx1">
              <a:lumMod val="75000"/>
              <a:lumOff val="25000"/>
            </a:schemeClr>
          </a:solidFill>
        </p:grpSpPr>
        <p:sp>
          <p:nvSpPr>
            <p:cNvPr id="15" name="object 4">
              <a:extLst>
                <a:ext uri="{FF2B5EF4-FFF2-40B4-BE49-F238E27FC236}">
                  <a16:creationId xmlns:a16="http://schemas.microsoft.com/office/drawing/2014/main" id="{39D6AE9D-4BAC-8169-9D66-07DE142C0BF4}"/>
                </a:ext>
              </a:extLst>
            </p:cNvPr>
            <p:cNvSpPr/>
            <p:nvPr/>
          </p:nvSpPr>
          <p:spPr>
            <a:xfrm>
              <a:off x="-375" y="0"/>
              <a:ext cx="3327400" cy="10287000"/>
            </a:xfrm>
            <a:custGeom>
              <a:avLst/>
              <a:gdLst/>
              <a:ahLst/>
              <a:cxnLst/>
              <a:rect l="l" t="t" r="r" b="b"/>
              <a:pathLst>
                <a:path w="3327400" h="10287000">
                  <a:moveTo>
                    <a:pt x="0" y="10287000"/>
                  </a:moveTo>
                  <a:lnTo>
                    <a:pt x="0" y="0"/>
                  </a:lnTo>
                  <a:lnTo>
                    <a:pt x="3327201" y="0"/>
                  </a:lnTo>
                  <a:lnTo>
                    <a:pt x="3327201" y="10287000"/>
                  </a:lnTo>
                  <a:lnTo>
                    <a:pt x="0" y="10287000"/>
                  </a:lnTo>
                  <a:close/>
                </a:path>
              </a:pathLst>
            </a:custGeom>
            <a:grpFill/>
          </p:spPr>
          <p:txBody>
            <a:bodyPr wrap="square" lIns="0" tIns="0" rIns="0" bIns="0" rtlCol="0"/>
            <a:lstStyle/>
            <a:p>
              <a:endParaRPr/>
            </a:p>
          </p:txBody>
        </p:sp>
        <p:sp>
          <p:nvSpPr>
            <p:cNvPr id="16" name="object 5">
              <a:extLst>
                <a:ext uri="{FF2B5EF4-FFF2-40B4-BE49-F238E27FC236}">
                  <a16:creationId xmlns:a16="http://schemas.microsoft.com/office/drawing/2014/main" id="{18FC73A9-1E41-4CD3-6156-6FD53475C0B6}"/>
                </a:ext>
              </a:extLst>
            </p:cNvPr>
            <p:cNvSpPr/>
            <p:nvPr/>
          </p:nvSpPr>
          <p:spPr>
            <a:xfrm>
              <a:off x="2545975" y="476250"/>
              <a:ext cx="1562100" cy="1562100"/>
            </a:xfrm>
            <a:custGeom>
              <a:avLst/>
              <a:gdLst/>
              <a:ahLst/>
              <a:cxnLst/>
              <a:rect l="l" t="t" r="r" b="b"/>
              <a:pathLst>
                <a:path w="1562100" h="1562100">
                  <a:moveTo>
                    <a:pt x="780985" y="1562100"/>
                  </a:moveTo>
                  <a:lnTo>
                    <a:pt x="756602" y="1494782"/>
                  </a:lnTo>
                  <a:lnTo>
                    <a:pt x="728330" y="1429003"/>
                  </a:lnTo>
                  <a:lnTo>
                    <a:pt x="696271" y="1364984"/>
                  </a:lnTo>
                  <a:lnTo>
                    <a:pt x="660529" y="1302946"/>
                  </a:lnTo>
                  <a:lnTo>
                    <a:pt x="621231" y="1243097"/>
                  </a:lnTo>
                  <a:lnTo>
                    <a:pt x="578506" y="1185645"/>
                  </a:lnTo>
                  <a:lnTo>
                    <a:pt x="532504" y="1130782"/>
                  </a:lnTo>
                  <a:lnTo>
                    <a:pt x="483377" y="1078698"/>
                  </a:lnTo>
                  <a:lnTo>
                    <a:pt x="431297" y="1029566"/>
                  </a:lnTo>
                  <a:lnTo>
                    <a:pt x="376437" y="983560"/>
                  </a:lnTo>
                  <a:lnTo>
                    <a:pt x="318989" y="940830"/>
                  </a:lnTo>
                  <a:lnTo>
                    <a:pt x="259143" y="901527"/>
                  </a:lnTo>
                  <a:lnTo>
                    <a:pt x="197108" y="865780"/>
                  </a:lnTo>
                  <a:lnTo>
                    <a:pt x="133092" y="833716"/>
                  </a:lnTo>
                  <a:lnTo>
                    <a:pt x="67315" y="805438"/>
                  </a:lnTo>
                  <a:lnTo>
                    <a:pt x="0" y="781050"/>
                  </a:lnTo>
                  <a:lnTo>
                    <a:pt x="33850" y="769341"/>
                  </a:lnTo>
                  <a:lnTo>
                    <a:pt x="100396" y="743008"/>
                  </a:lnTo>
                  <a:lnTo>
                    <a:pt x="165348" y="712812"/>
                  </a:lnTo>
                  <a:lnTo>
                    <a:pt x="228373" y="678906"/>
                  </a:lnTo>
                  <a:lnTo>
                    <a:pt x="289366" y="641349"/>
                  </a:lnTo>
                  <a:lnTo>
                    <a:pt x="348012" y="600333"/>
                  </a:lnTo>
                  <a:lnTo>
                    <a:pt x="404214" y="555926"/>
                  </a:lnTo>
                  <a:lnTo>
                    <a:pt x="457684" y="508358"/>
                  </a:lnTo>
                  <a:lnTo>
                    <a:pt x="508331" y="457707"/>
                  </a:lnTo>
                  <a:lnTo>
                    <a:pt x="555895" y="404233"/>
                  </a:lnTo>
                  <a:lnTo>
                    <a:pt x="600297" y="348027"/>
                  </a:lnTo>
                  <a:lnTo>
                    <a:pt x="641309" y="289377"/>
                  </a:lnTo>
                  <a:lnTo>
                    <a:pt x="678861" y="228382"/>
                  </a:lnTo>
                  <a:lnTo>
                    <a:pt x="712761" y="165353"/>
                  </a:lnTo>
                  <a:lnTo>
                    <a:pt x="742952" y="100399"/>
                  </a:lnTo>
                  <a:lnTo>
                    <a:pt x="769280" y="33851"/>
                  </a:lnTo>
                  <a:lnTo>
                    <a:pt x="780985" y="0"/>
                  </a:lnTo>
                  <a:lnTo>
                    <a:pt x="792690" y="33850"/>
                  </a:lnTo>
                  <a:lnTo>
                    <a:pt x="819017" y="100398"/>
                  </a:lnTo>
                  <a:lnTo>
                    <a:pt x="849207" y="165352"/>
                  </a:lnTo>
                  <a:lnTo>
                    <a:pt x="883106" y="228380"/>
                  </a:lnTo>
                  <a:lnTo>
                    <a:pt x="920657" y="289374"/>
                  </a:lnTo>
                  <a:lnTo>
                    <a:pt x="961668" y="348024"/>
                  </a:lnTo>
                  <a:lnTo>
                    <a:pt x="1006068" y="404230"/>
                  </a:lnTo>
                  <a:lnTo>
                    <a:pt x="1053631" y="457703"/>
                  </a:lnTo>
                  <a:lnTo>
                    <a:pt x="1104276" y="508354"/>
                  </a:lnTo>
                  <a:lnTo>
                    <a:pt x="1157745" y="555923"/>
                  </a:lnTo>
                  <a:lnTo>
                    <a:pt x="1213946" y="600329"/>
                  </a:lnTo>
                  <a:lnTo>
                    <a:pt x="1272591" y="641346"/>
                  </a:lnTo>
                  <a:lnTo>
                    <a:pt x="1333582" y="678904"/>
                  </a:lnTo>
                  <a:lnTo>
                    <a:pt x="1396606" y="712810"/>
                  </a:lnTo>
                  <a:lnTo>
                    <a:pt x="1461557" y="743007"/>
                  </a:lnTo>
                  <a:lnTo>
                    <a:pt x="1528101" y="769341"/>
                  </a:lnTo>
                  <a:lnTo>
                    <a:pt x="1561951" y="781050"/>
                  </a:lnTo>
                  <a:lnTo>
                    <a:pt x="1528101" y="792758"/>
                  </a:lnTo>
                  <a:lnTo>
                    <a:pt x="1461556" y="819092"/>
                  </a:lnTo>
                  <a:lnTo>
                    <a:pt x="1396606" y="849289"/>
                  </a:lnTo>
                  <a:lnTo>
                    <a:pt x="1333582" y="883195"/>
                  </a:lnTo>
                  <a:lnTo>
                    <a:pt x="1272591" y="920753"/>
                  </a:lnTo>
                  <a:lnTo>
                    <a:pt x="1213945" y="961770"/>
                  </a:lnTo>
                  <a:lnTo>
                    <a:pt x="1157745" y="1006176"/>
                  </a:lnTo>
                  <a:lnTo>
                    <a:pt x="1104276" y="1053745"/>
                  </a:lnTo>
                  <a:lnTo>
                    <a:pt x="1053631" y="1104396"/>
                  </a:lnTo>
                  <a:lnTo>
                    <a:pt x="1006068" y="1157870"/>
                  </a:lnTo>
                  <a:lnTo>
                    <a:pt x="961668" y="1214075"/>
                  </a:lnTo>
                  <a:lnTo>
                    <a:pt x="920657" y="1272725"/>
                  </a:lnTo>
                  <a:lnTo>
                    <a:pt x="883106" y="1333720"/>
                  </a:lnTo>
                  <a:lnTo>
                    <a:pt x="849207" y="1396748"/>
                  </a:lnTo>
                  <a:lnTo>
                    <a:pt x="819017" y="1461701"/>
                  </a:lnTo>
                  <a:lnTo>
                    <a:pt x="792690" y="1528249"/>
                  </a:lnTo>
                  <a:lnTo>
                    <a:pt x="780985" y="1562100"/>
                  </a:lnTo>
                  <a:close/>
                </a:path>
              </a:pathLst>
            </a:custGeom>
            <a:solidFill>
              <a:schemeClr val="tx1">
                <a:lumMod val="65000"/>
                <a:lumOff val="35000"/>
              </a:schemeClr>
            </a:solidFill>
          </p:spPr>
          <p:txBody>
            <a:bodyPr wrap="square" lIns="0" tIns="0" rIns="0" bIns="0" rtlCol="0"/>
            <a:lstStyle/>
            <a:p>
              <a:endParaRPr dirty="0"/>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547467" y="579073"/>
            <a:ext cx="1562100" cy="1562100"/>
          </a:xfrm>
          <a:custGeom>
            <a:avLst/>
            <a:gdLst/>
            <a:ahLst/>
            <a:cxnLst/>
            <a:rect l="l" t="t" r="r" b="b"/>
            <a:pathLst>
              <a:path w="1562100" h="1562100">
                <a:moveTo>
                  <a:pt x="780985" y="1562100"/>
                </a:moveTo>
                <a:lnTo>
                  <a:pt x="756602" y="1494782"/>
                </a:lnTo>
                <a:lnTo>
                  <a:pt x="728330" y="1429003"/>
                </a:lnTo>
                <a:lnTo>
                  <a:pt x="696271" y="1364984"/>
                </a:lnTo>
                <a:lnTo>
                  <a:pt x="660529" y="1302946"/>
                </a:lnTo>
                <a:lnTo>
                  <a:pt x="621231" y="1243097"/>
                </a:lnTo>
                <a:lnTo>
                  <a:pt x="578506" y="1185645"/>
                </a:lnTo>
                <a:lnTo>
                  <a:pt x="532504" y="1130782"/>
                </a:lnTo>
                <a:lnTo>
                  <a:pt x="483377" y="1078698"/>
                </a:lnTo>
                <a:lnTo>
                  <a:pt x="431297" y="1029566"/>
                </a:lnTo>
                <a:lnTo>
                  <a:pt x="376437" y="983560"/>
                </a:lnTo>
                <a:lnTo>
                  <a:pt x="318989" y="940830"/>
                </a:lnTo>
                <a:lnTo>
                  <a:pt x="259143" y="901527"/>
                </a:lnTo>
                <a:lnTo>
                  <a:pt x="197108" y="865780"/>
                </a:lnTo>
                <a:lnTo>
                  <a:pt x="133092" y="833716"/>
                </a:lnTo>
                <a:lnTo>
                  <a:pt x="67315" y="805438"/>
                </a:lnTo>
                <a:lnTo>
                  <a:pt x="0" y="781050"/>
                </a:lnTo>
                <a:lnTo>
                  <a:pt x="33850" y="769341"/>
                </a:lnTo>
                <a:lnTo>
                  <a:pt x="100396" y="743008"/>
                </a:lnTo>
                <a:lnTo>
                  <a:pt x="165348" y="712812"/>
                </a:lnTo>
                <a:lnTo>
                  <a:pt x="228373" y="678906"/>
                </a:lnTo>
                <a:lnTo>
                  <a:pt x="289366" y="641349"/>
                </a:lnTo>
                <a:lnTo>
                  <a:pt x="348012" y="600333"/>
                </a:lnTo>
                <a:lnTo>
                  <a:pt x="404214" y="555926"/>
                </a:lnTo>
                <a:lnTo>
                  <a:pt x="457684" y="508358"/>
                </a:lnTo>
                <a:lnTo>
                  <a:pt x="508331" y="457707"/>
                </a:lnTo>
                <a:lnTo>
                  <a:pt x="555895" y="404233"/>
                </a:lnTo>
                <a:lnTo>
                  <a:pt x="600297" y="348027"/>
                </a:lnTo>
                <a:lnTo>
                  <a:pt x="641309" y="289377"/>
                </a:lnTo>
                <a:lnTo>
                  <a:pt x="678861" y="228382"/>
                </a:lnTo>
                <a:lnTo>
                  <a:pt x="712761" y="165353"/>
                </a:lnTo>
                <a:lnTo>
                  <a:pt x="742952" y="100399"/>
                </a:lnTo>
                <a:lnTo>
                  <a:pt x="769280" y="33851"/>
                </a:lnTo>
                <a:lnTo>
                  <a:pt x="780985" y="0"/>
                </a:lnTo>
                <a:lnTo>
                  <a:pt x="792690" y="33850"/>
                </a:lnTo>
                <a:lnTo>
                  <a:pt x="819017" y="100398"/>
                </a:lnTo>
                <a:lnTo>
                  <a:pt x="849207" y="165352"/>
                </a:lnTo>
                <a:lnTo>
                  <a:pt x="883106" y="228380"/>
                </a:lnTo>
                <a:lnTo>
                  <a:pt x="920657" y="289374"/>
                </a:lnTo>
                <a:lnTo>
                  <a:pt x="961668" y="348024"/>
                </a:lnTo>
                <a:lnTo>
                  <a:pt x="1006068" y="404230"/>
                </a:lnTo>
                <a:lnTo>
                  <a:pt x="1053631" y="457703"/>
                </a:lnTo>
                <a:lnTo>
                  <a:pt x="1104276" y="508354"/>
                </a:lnTo>
                <a:lnTo>
                  <a:pt x="1157745" y="555923"/>
                </a:lnTo>
                <a:lnTo>
                  <a:pt x="1213946" y="600329"/>
                </a:lnTo>
                <a:lnTo>
                  <a:pt x="1272591" y="641346"/>
                </a:lnTo>
                <a:lnTo>
                  <a:pt x="1333582" y="678904"/>
                </a:lnTo>
                <a:lnTo>
                  <a:pt x="1396606" y="712810"/>
                </a:lnTo>
                <a:lnTo>
                  <a:pt x="1461557" y="743007"/>
                </a:lnTo>
                <a:lnTo>
                  <a:pt x="1528101" y="769341"/>
                </a:lnTo>
                <a:lnTo>
                  <a:pt x="1561951" y="781050"/>
                </a:lnTo>
                <a:lnTo>
                  <a:pt x="1528101" y="792758"/>
                </a:lnTo>
                <a:lnTo>
                  <a:pt x="1461556" y="819092"/>
                </a:lnTo>
                <a:lnTo>
                  <a:pt x="1396606" y="849289"/>
                </a:lnTo>
                <a:lnTo>
                  <a:pt x="1333582" y="883195"/>
                </a:lnTo>
                <a:lnTo>
                  <a:pt x="1272591" y="920753"/>
                </a:lnTo>
                <a:lnTo>
                  <a:pt x="1213945" y="961770"/>
                </a:lnTo>
                <a:lnTo>
                  <a:pt x="1157745" y="1006176"/>
                </a:lnTo>
                <a:lnTo>
                  <a:pt x="1104276" y="1053745"/>
                </a:lnTo>
                <a:lnTo>
                  <a:pt x="1053631" y="1104396"/>
                </a:lnTo>
                <a:lnTo>
                  <a:pt x="1006068" y="1157870"/>
                </a:lnTo>
                <a:lnTo>
                  <a:pt x="961668" y="1214075"/>
                </a:lnTo>
                <a:lnTo>
                  <a:pt x="920657" y="1272725"/>
                </a:lnTo>
                <a:lnTo>
                  <a:pt x="883106" y="1333720"/>
                </a:lnTo>
                <a:lnTo>
                  <a:pt x="849207" y="1396748"/>
                </a:lnTo>
                <a:lnTo>
                  <a:pt x="819017" y="1461701"/>
                </a:lnTo>
                <a:lnTo>
                  <a:pt x="792690" y="1528249"/>
                </a:lnTo>
                <a:lnTo>
                  <a:pt x="780985" y="1562100"/>
                </a:lnTo>
                <a:close/>
              </a:path>
            </a:pathLst>
          </a:custGeom>
          <a:solidFill>
            <a:srgbClr val="A5A58C"/>
          </a:solidFill>
        </p:spPr>
        <p:txBody>
          <a:bodyPr wrap="square" lIns="0" tIns="0" rIns="0" bIns="0" rtlCol="0"/>
          <a:lstStyle/>
          <a:p>
            <a:endParaRPr/>
          </a:p>
        </p:txBody>
      </p:sp>
      <p:pic>
        <p:nvPicPr>
          <p:cNvPr id="3" name="object 3"/>
          <p:cNvPicPr/>
          <p:nvPr/>
        </p:nvPicPr>
        <p:blipFill>
          <a:blip r:embed="rId2" cstate="print"/>
          <a:stretch>
            <a:fillRect/>
          </a:stretch>
        </p:blipFill>
        <p:spPr>
          <a:xfrm>
            <a:off x="5829661" y="1028701"/>
            <a:ext cx="9201127" cy="8269489"/>
          </a:xfrm>
          <a:prstGeom prst="rect">
            <a:avLst/>
          </a:prstGeom>
        </p:spPr>
      </p:pic>
      <p:grpSp>
        <p:nvGrpSpPr>
          <p:cNvPr id="9" name="object 3">
            <a:extLst>
              <a:ext uri="{FF2B5EF4-FFF2-40B4-BE49-F238E27FC236}">
                <a16:creationId xmlns:a16="http://schemas.microsoft.com/office/drawing/2014/main" id="{C1628117-BAB7-3042-990C-5550DBE74231}"/>
              </a:ext>
            </a:extLst>
          </p:cNvPr>
          <p:cNvGrpSpPr/>
          <p:nvPr/>
        </p:nvGrpSpPr>
        <p:grpSpPr>
          <a:xfrm>
            <a:off x="0" y="0"/>
            <a:ext cx="4724400" cy="10515600"/>
            <a:chOff x="-375" y="-304800"/>
            <a:chExt cx="4108450" cy="10591800"/>
          </a:xfrm>
          <a:solidFill>
            <a:schemeClr val="tx1">
              <a:lumMod val="75000"/>
              <a:lumOff val="25000"/>
            </a:schemeClr>
          </a:solidFill>
        </p:grpSpPr>
        <p:sp>
          <p:nvSpPr>
            <p:cNvPr id="10" name="object 4">
              <a:extLst>
                <a:ext uri="{FF2B5EF4-FFF2-40B4-BE49-F238E27FC236}">
                  <a16:creationId xmlns:a16="http://schemas.microsoft.com/office/drawing/2014/main" id="{2119D8A5-53EA-B07A-1491-61573F45F9B7}"/>
                </a:ext>
              </a:extLst>
            </p:cNvPr>
            <p:cNvSpPr/>
            <p:nvPr/>
          </p:nvSpPr>
          <p:spPr>
            <a:xfrm>
              <a:off x="-375" y="-304800"/>
              <a:ext cx="3327400" cy="10591800"/>
            </a:xfrm>
            <a:custGeom>
              <a:avLst/>
              <a:gdLst/>
              <a:ahLst/>
              <a:cxnLst/>
              <a:rect l="l" t="t" r="r" b="b"/>
              <a:pathLst>
                <a:path w="3327400" h="10287000">
                  <a:moveTo>
                    <a:pt x="0" y="10287000"/>
                  </a:moveTo>
                  <a:lnTo>
                    <a:pt x="0" y="0"/>
                  </a:lnTo>
                  <a:lnTo>
                    <a:pt x="3327201" y="0"/>
                  </a:lnTo>
                  <a:lnTo>
                    <a:pt x="3327201" y="10287000"/>
                  </a:lnTo>
                  <a:lnTo>
                    <a:pt x="0" y="10287000"/>
                  </a:lnTo>
                  <a:close/>
                </a:path>
              </a:pathLst>
            </a:custGeom>
            <a:grpFill/>
          </p:spPr>
          <p:txBody>
            <a:bodyPr wrap="square" lIns="0" tIns="0" rIns="0" bIns="0" rtlCol="0"/>
            <a:lstStyle/>
            <a:p>
              <a:endParaRPr/>
            </a:p>
          </p:txBody>
        </p:sp>
        <p:sp>
          <p:nvSpPr>
            <p:cNvPr id="11" name="object 5">
              <a:extLst>
                <a:ext uri="{FF2B5EF4-FFF2-40B4-BE49-F238E27FC236}">
                  <a16:creationId xmlns:a16="http://schemas.microsoft.com/office/drawing/2014/main" id="{A024E753-9AF8-83B8-42F7-3CF9037CA63D}"/>
                </a:ext>
              </a:extLst>
            </p:cNvPr>
            <p:cNvSpPr/>
            <p:nvPr/>
          </p:nvSpPr>
          <p:spPr>
            <a:xfrm>
              <a:off x="2545975" y="476250"/>
              <a:ext cx="1562100" cy="1562100"/>
            </a:xfrm>
            <a:custGeom>
              <a:avLst/>
              <a:gdLst/>
              <a:ahLst/>
              <a:cxnLst/>
              <a:rect l="l" t="t" r="r" b="b"/>
              <a:pathLst>
                <a:path w="1562100" h="1562100">
                  <a:moveTo>
                    <a:pt x="780985" y="1562100"/>
                  </a:moveTo>
                  <a:lnTo>
                    <a:pt x="756602" y="1494782"/>
                  </a:lnTo>
                  <a:lnTo>
                    <a:pt x="728330" y="1429003"/>
                  </a:lnTo>
                  <a:lnTo>
                    <a:pt x="696271" y="1364984"/>
                  </a:lnTo>
                  <a:lnTo>
                    <a:pt x="660529" y="1302946"/>
                  </a:lnTo>
                  <a:lnTo>
                    <a:pt x="621231" y="1243097"/>
                  </a:lnTo>
                  <a:lnTo>
                    <a:pt x="578506" y="1185645"/>
                  </a:lnTo>
                  <a:lnTo>
                    <a:pt x="532504" y="1130782"/>
                  </a:lnTo>
                  <a:lnTo>
                    <a:pt x="483377" y="1078698"/>
                  </a:lnTo>
                  <a:lnTo>
                    <a:pt x="431297" y="1029566"/>
                  </a:lnTo>
                  <a:lnTo>
                    <a:pt x="376437" y="983560"/>
                  </a:lnTo>
                  <a:lnTo>
                    <a:pt x="318989" y="940830"/>
                  </a:lnTo>
                  <a:lnTo>
                    <a:pt x="259143" y="901527"/>
                  </a:lnTo>
                  <a:lnTo>
                    <a:pt x="197108" y="865780"/>
                  </a:lnTo>
                  <a:lnTo>
                    <a:pt x="133092" y="833716"/>
                  </a:lnTo>
                  <a:lnTo>
                    <a:pt x="67315" y="805438"/>
                  </a:lnTo>
                  <a:lnTo>
                    <a:pt x="0" y="781050"/>
                  </a:lnTo>
                  <a:lnTo>
                    <a:pt x="33850" y="769341"/>
                  </a:lnTo>
                  <a:lnTo>
                    <a:pt x="100396" y="743008"/>
                  </a:lnTo>
                  <a:lnTo>
                    <a:pt x="165348" y="712812"/>
                  </a:lnTo>
                  <a:lnTo>
                    <a:pt x="228373" y="678906"/>
                  </a:lnTo>
                  <a:lnTo>
                    <a:pt x="289366" y="641349"/>
                  </a:lnTo>
                  <a:lnTo>
                    <a:pt x="348012" y="600333"/>
                  </a:lnTo>
                  <a:lnTo>
                    <a:pt x="404214" y="555926"/>
                  </a:lnTo>
                  <a:lnTo>
                    <a:pt x="457684" y="508358"/>
                  </a:lnTo>
                  <a:lnTo>
                    <a:pt x="508331" y="457707"/>
                  </a:lnTo>
                  <a:lnTo>
                    <a:pt x="555895" y="404233"/>
                  </a:lnTo>
                  <a:lnTo>
                    <a:pt x="600297" y="348027"/>
                  </a:lnTo>
                  <a:lnTo>
                    <a:pt x="641309" y="289377"/>
                  </a:lnTo>
                  <a:lnTo>
                    <a:pt x="678861" y="228382"/>
                  </a:lnTo>
                  <a:lnTo>
                    <a:pt x="712761" y="165353"/>
                  </a:lnTo>
                  <a:lnTo>
                    <a:pt x="742952" y="100399"/>
                  </a:lnTo>
                  <a:lnTo>
                    <a:pt x="769280" y="33851"/>
                  </a:lnTo>
                  <a:lnTo>
                    <a:pt x="780985" y="0"/>
                  </a:lnTo>
                  <a:lnTo>
                    <a:pt x="792690" y="33850"/>
                  </a:lnTo>
                  <a:lnTo>
                    <a:pt x="819017" y="100398"/>
                  </a:lnTo>
                  <a:lnTo>
                    <a:pt x="849207" y="165352"/>
                  </a:lnTo>
                  <a:lnTo>
                    <a:pt x="883106" y="228380"/>
                  </a:lnTo>
                  <a:lnTo>
                    <a:pt x="920657" y="289374"/>
                  </a:lnTo>
                  <a:lnTo>
                    <a:pt x="961668" y="348024"/>
                  </a:lnTo>
                  <a:lnTo>
                    <a:pt x="1006068" y="404230"/>
                  </a:lnTo>
                  <a:lnTo>
                    <a:pt x="1053631" y="457703"/>
                  </a:lnTo>
                  <a:lnTo>
                    <a:pt x="1104276" y="508354"/>
                  </a:lnTo>
                  <a:lnTo>
                    <a:pt x="1157745" y="555923"/>
                  </a:lnTo>
                  <a:lnTo>
                    <a:pt x="1213946" y="600329"/>
                  </a:lnTo>
                  <a:lnTo>
                    <a:pt x="1272591" y="641346"/>
                  </a:lnTo>
                  <a:lnTo>
                    <a:pt x="1333582" y="678904"/>
                  </a:lnTo>
                  <a:lnTo>
                    <a:pt x="1396606" y="712810"/>
                  </a:lnTo>
                  <a:lnTo>
                    <a:pt x="1461557" y="743007"/>
                  </a:lnTo>
                  <a:lnTo>
                    <a:pt x="1528101" y="769341"/>
                  </a:lnTo>
                  <a:lnTo>
                    <a:pt x="1561951" y="781050"/>
                  </a:lnTo>
                  <a:lnTo>
                    <a:pt x="1528101" y="792758"/>
                  </a:lnTo>
                  <a:lnTo>
                    <a:pt x="1461556" y="819092"/>
                  </a:lnTo>
                  <a:lnTo>
                    <a:pt x="1396606" y="849289"/>
                  </a:lnTo>
                  <a:lnTo>
                    <a:pt x="1333582" y="883195"/>
                  </a:lnTo>
                  <a:lnTo>
                    <a:pt x="1272591" y="920753"/>
                  </a:lnTo>
                  <a:lnTo>
                    <a:pt x="1213945" y="961770"/>
                  </a:lnTo>
                  <a:lnTo>
                    <a:pt x="1157745" y="1006176"/>
                  </a:lnTo>
                  <a:lnTo>
                    <a:pt x="1104276" y="1053745"/>
                  </a:lnTo>
                  <a:lnTo>
                    <a:pt x="1053631" y="1104396"/>
                  </a:lnTo>
                  <a:lnTo>
                    <a:pt x="1006068" y="1157870"/>
                  </a:lnTo>
                  <a:lnTo>
                    <a:pt x="961668" y="1214075"/>
                  </a:lnTo>
                  <a:lnTo>
                    <a:pt x="920657" y="1272725"/>
                  </a:lnTo>
                  <a:lnTo>
                    <a:pt x="883106" y="1333720"/>
                  </a:lnTo>
                  <a:lnTo>
                    <a:pt x="849207" y="1396748"/>
                  </a:lnTo>
                  <a:lnTo>
                    <a:pt x="819017" y="1461701"/>
                  </a:lnTo>
                  <a:lnTo>
                    <a:pt x="792690" y="1528249"/>
                  </a:lnTo>
                  <a:lnTo>
                    <a:pt x="780985" y="1562100"/>
                  </a:lnTo>
                  <a:close/>
                </a:path>
              </a:pathLst>
            </a:custGeom>
            <a:solidFill>
              <a:schemeClr val="tx1">
                <a:lumMod val="65000"/>
                <a:lumOff val="35000"/>
              </a:schemeClr>
            </a:solidFill>
          </p:spPr>
          <p:txBody>
            <a:bodyPr wrap="square" lIns="0" tIns="0" rIns="0" bIns="0" rtlCol="0"/>
            <a:lstStyle/>
            <a:p>
              <a:endParaRPr dirty="0"/>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547467" y="1028700"/>
            <a:ext cx="1562100" cy="1562100"/>
          </a:xfrm>
          <a:custGeom>
            <a:avLst/>
            <a:gdLst/>
            <a:ahLst/>
            <a:cxnLst/>
            <a:rect l="l" t="t" r="r" b="b"/>
            <a:pathLst>
              <a:path w="1562100" h="1562100">
                <a:moveTo>
                  <a:pt x="780985" y="1562100"/>
                </a:moveTo>
                <a:lnTo>
                  <a:pt x="756602" y="1494782"/>
                </a:lnTo>
                <a:lnTo>
                  <a:pt x="728330" y="1429003"/>
                </a:lnTo>
                <a:lnTo>
                  <a:pt x="696271" y="1364984"/>
                </a:lnTo>
                <a:lnTo>
                  <a:pt x="660529" y="1302946"/>
                </a:lnTo>
                <a:lnTo>
                  <a:pt x="621231" y="1243097"/>
                </a:lnTo>
                <a:lnTo>
                  <a:pt x="578506" y="1185645"/>
                </a:lnTo>
                <a:lnTo>
                  <a:pt x="532504" y="1130782"/>
                </a:lnTo>
                <a:lnTo>
                  <a:pt x="483377" y="1078698"/>
                </a:lnTo>
                <a:lnTo>
                  <a:pt x="431297" y="1029566"/>
                </a:lnTo>
                <a:lnTo>
                  <a:pt x="376437" y="983560"/>
                </a:lnTo>
                <a:lnTo>
                  <a:pt x="318989" y="940830"/>
                </a:lnTo>
                <a:lnTo>
                  <a:pt x="259143" y="901527"/>
                </a:lnTo>
                <a:lnTo>
                  <a:pt x="197108" y="865780"/>
                </a:lnTo>
                <a:lnTo>
                  <a:pt x="133092" y="833716"/>
                </a:lnTo>
                <a:lnTo>
                  <a:pt x="67315" y="805438"/>
                </a:lnTo>
                <a:lnTo>
                  <a:pt x="0" y="781050"/>
                </a:lnTo>
                <a:lnTo>
                  <a:pt x="33850" y="769341"/>
                </a:lnTo>
                <a:lnTo>
                  <a:pt x="100396" y="743008"/>
                </a:lnTo>
                <a:lnTo>
                  <a:pt x="165348" y="712812"/>
                </a:lnTo>
                <a:lnTo>
                  <a:pt x="228373" y="678906"/>
                </a:lnTo>
                <a:lnTo>
                  <a:pt x="289366" y="641349"/>
                </a:lnTo>
                <a:lnTo>
                  <a:pt x="348012" y="600333"/>
                </a:lnTo>
                <a:lnTo>
                  <a:pt x="404214" y="555926"/>
                </a:lnTo>
                <a:lnTo>
                  <a:pt x="457684" y="508358"/>
                </a:lnTo>
                <a:lnTo>
                  <a:pt x="508331" y="457707"/>
                </a:lnTo>
                <a:lnTo>
                  <a:pt x="555895" y="404233"/>
                </a:lnTo>
                <a:lnTo>
                  <a:pt x="600297" y="348027"/>
                </a:lnTo>
                <a:lnTo>
                  <a:pt x="641309" y="289377"/>
                </a:lnTo>
                <a:lnTo>
                  <a:pt x="678861" y="228382"/>
                </a:lnTo>
                <a:lnTo>
                  <a:pt x="712761" y="165353"/>
                </a:lnTo>
                <a:lnTo>
                  <a:pt x="742952" y="100399"/>
                </a:lnTo>
                <a:lnTo>
                  <a:pt x="769280" y="33851"/>
                </a:lnTo>
                <a:lnTo>
                  <a:pt x="780985" y="0"/>
                </a:lnTo>
                <a:lnTo>
                  <a:pt x="792690" y="33850"/>
                </a:lnTo>
                <a:lnTo>
                  <a:pt x="819017" y="100398"/>
                </a:lnTo>
                <a:lnTo>
                  <a:pt x="849207" y="165352"/>
                </a:lnTo>
                <a:lnTo>
                  <a:pt x="883106" y="228380"/>
                </a:lnTo>
                <a:lnTo>
                  <a:pt x="920657" y="289374"/>
                </a:lnTo>
                <a:lnTo>
                  <a:pt x="961668" y="348024"/>
                </a:lnTo>
                <a:lnTo>
                  <a:pt x="1006068" y="404230"/>
                </a:lnTo>
                <a:lnTo>
                  <a:pt x="1053631" y="457703"/>
                </a:lnTo>
                <a:lnTo>
                  <a:pt x="1104276" y="508354"/>
                </a:lnTo>
                <a:lnTo>
                  <a:pt x="1157745" y="555923"/>
                </a:lnTo>
                <a:lnTo>
                  <a:pt x="1213946" y="600329"/>
                </a:lnTo>
                <a:lnTo>
                  <a:pt x="1272591" y="641346"/>
                </a:lnTo>
                <a:lnTo>
                  <a:pt x="1333582" y="678904"/>
                </a:lnTo>
                <a:lnTo>
                  <a:pt x="1396606" y="712810"/>
                </a:lnTo>
                <a:lnTo>
                  <a:pt x="1461557" y="743007"/>
                </a:lnTo>
                <a:lnTo>
                  <a:pt x="1528101" y="769341"/>
                </a:lnTo>
                <a:lnTo>
                  <a:pt x="1561951" y="781050"/>
                </a:lnTo>
                <a:lnTo>
                  <a:pt x="1528101" y="792758"/>
                </a:lnTo>
                <a:lnTo>
                  <a:pt x="1461556" y="819092"/>
                </a:lnTo>
                <a:lnTo>
                  <a:pt x="1396606" y="849289"/>
                </a:lnTo>
                <a:lnTo>
                  <a:pt x="1333582" y="883195"/>
                </a:lnTo>
                <a:lnTo>
                  <a:pt x="1272591" y="920753"/>
                </a:lnTo>
                <a:lnTo>
                  <a:pt x="1213945" y="961770"/>
                </a:lnTo>
                <a:lnTo>
                  <a:pt x="1157745" y="1006176"/>
                </a:lnTo>
                <a:lnTo>
                  <a:pt x="1104276" y="1053745"/>
                </a:lnTo>
                <a:lnTo>
                  <a:pt x="1053631" y="1104396"/>
                </a:lnTo>
                <a:lnTo>
                  <a:pt x="1006068" y="1157870"/>
                </a:lnTo>
                <a:lnTo>
                  <a:pt x="961668" y="1214075"/>
                </a:lnTo>
                <a:lnTo>
                  <a:pt x="920657" y="1272725"/>
                </a:lnTo>
                <a:lnTo>
                  <a:pt x="883106" y="1333720"/>
                </a:lnTo>
                <a:lnTo>
                  <a:pt x="849207" y="1396748"/>
                </a:lnTo>
                <a:lnTo>
                  <a:pt x="819017" y="1461701"/>
                </a:lnTo>
                <a:lnTo>
                  <a:pt x="792690" y="1528249"/>
                </a:lnTo>
                <a:lnTo>
                  <a:pt x="780985" y="1562100"/>
                </a:lnTo>
                <a:close/>
              </a:path>
            </a:pathLst>
          </a:custGeom>
          <a:solidFill>
            <a:srgbClr val="A5A58C"/>
          </a:solidFill>
        </p:spPr>
        <p:txBody>
          <a:bodyPr wrap="square" lIns="0" tIns="0" rIns="0" bIns="0" rtlCol="0"/>
          <a:lstStyle/>
          <a:p>
            <a:endParaRPr/>
          </a:p>
        </p:txBody>
      </p:sp>
      <p:pic>
        <p:nvPicPr>
          <p:cNvPr id="3" name="object 3"/>
          <p:cNvPicPr/>
          <p:nvPr/>
        </p:nvPicPr>
        <p:blipFill>
          <a:blip r:embed="rId2" cstate="print"/>
          <a:stretch>
            <a:fillRect/>
          </a:stretch>
        </p:blipFill>
        <p:spPr>
          <a:xfrm>
            <a:off x="5106250" y="1608680"/>
            <a:ext cx="11449846" cy="6830134"/>
          </a:xfrm>
          <a:prstGeom prst="rect">
            <a:avLst/>
          </a:prstGeom>
        </p:spPr>
      </p:pic>
      <p:grpSp>
        <p:nvGrpSpPr>
          <p:cNvPr id="8" name="object 3">
            <a:extLst>
              <a:ext uri="{FF2B5EF4-FFF2-40B4-BE49-F238E27FC236}">
                <a16:creationId xmlns:a16="http://schemas.microsoft.com/office/drawing/2014/main" id="{199F6558-B6E8-1EF1-2F77-F04A0366BD39}"/>
              </a:ext>
            </a:extLst>
          </p:cNvPr>
          <p:cNvGrpSpPr/>
          <p:nvPr/>
        </p:nvGrpSpPr>
        <p:grpSpPr>
          <a:xfrm>
            <a:off x="-376" y="0"/>
            <a:ext cx="4953375" cy="10287000"/>
            <a:chOff x="-375" y="0"/>
            <a:chExt cx="4108450" cy="10287000"/>
          </a:xfrm>
          <a:solidFill>
            <a:schemeClr val="tx1">
              <a:lumMod val="75000"/>
              <a:lumOff val="25000"/>
            </a:schemeClr>
          </a:solidFill>
        </p:grpSpPr>
        <p:sp>
          <p:nvSpPr>
            <p:cNvPr id="9" name="object 4">
              <a:extLst>
                <a:ext uri="{FF2B5EF4-FFF2-40B4-BE49-F238E27FC236}">
                  <a16:creationId xmlns:a16="http://schemas.microsoft.com/office/drawing/2014/main" id="{6338CEAA-F5A2-6BD7-E17C-FB566DF22CB4}"/>
                </a:ext>
              </a:extLst>
            </p:cNvPr>
            <p:cNvSpPr/>
            <p:nvPr/>
          </p:nvSpPr>
          <p:spPr>
            <a:xfrm>
              <a:off x="-375" y="0"/>
              <a:ext cx="3327400" cy="10287000"/>
            </a:xfrm>
            <a:custGeom>
              <a:avLst/>
              <a:gdLst/>
              <a:ahLst/>
              <a:cxnLst/>
              <a:rect l="l" t="t" r="r" b="b"/>
              <a:pathLst>
                <a:path w="3327400" h="10287000">
                  <a:moveTo>
                    <a:pt x="0" y="10287000"/>
                  </a:moveTo>
                  <a:lnTo>
                    <a:pt x="0" y="0"/>
                  </a:lnTo>
                  <a:lnTo>
                    <a:pt x="3327201" y="0"/>
                  </a:lnTo>
                  <a:lnTo>
                    <a:pt x="3327201" y="10287000"/>
                  </a:lnTo>
                  <a:lnTo>
                    <a:pt x="0" y="10287000"/>
                  </a:lnTo>
                  <a:close/>
                </a:path>
              </a:pathLst>
            </a:custGeom>
            <a:grpFill/>
          </p:spPr>
          <p:txBody>
            <a:bodyPr wrap="square" lIns="0" tIns="0" rIns="0" bIns="0" rtlCol="0"/>
            <a:lstStyle/>
            <a:p>
              <a:endParaRPr/>
            </a:p>
          </p:txBody>
        </p:sp>
        <p:sp>
          <p:nvSpPr>
            <p:cNvPr id="10" name="object 5">
              <a:extLst>
                <a:ext uri="{FF2B5EF4-FFF2-40B4-BE49-F238E27FC236}">
                  <a16:creationId xmlns:a16="http://schemas.microsoft.com/office/drawing/2014/main" id="{A31C91A5-CAD6-577D-9294-72B32757324D}"/>
                </a:ext>
              </a:extLst>
            </p:cNvPr>
            <p:cNvSpPr/>
            <p:nvPr/>
          </p:nvSpPr>
          <p:spPr>
            <a:xfrm>
              <a:off x="2545975" y="476250"/>
              <a:ext cx="1562100" cy="1562100"/>
            </a:xfrm>
            <a:custGeom>
              <a:avLst/>
              <a:gdLst/>
              <a:ahLst/>
              <a:cxnLst/>
              <a:rect l="l" t="t" r="r" b="b"/>
              <a:pathLst>
                <a:path w="1562100" h="1562100">
                  <a:moveTo>
                    <a:pt x="780985" y="1562100"/>
                  </a:moveTo>
                  <a:lnTo>
                    <a:pt x="756602" y="1494782"/>
                  </a:lnTo>
                  <a:lnTo>
                    <a:pt x="728330" y="1429003"/>
                  </a:lnTo>
                  <a:lnTo>
                    <a:pt x="696271" y="1364984"/>
                  </a:lnTo>
                  <a:lnTo>
                    <a:pt x="660529" y="1302946"/>
                  </a:lnTo>
                  <a:lnTo>
                    <a:pt x="621231" y="1243097"/>
                  </a:lnTo>
                  <a:lnTo>
                    <a:pt x="578506" y="1185645"/>
                  </a:lnTo>
                  <a:lnTo>
                    <a:pt x="532504" y="1130782"/>
                  </a:lnTo>
                  <a:lnTo>
                    <a:pt x="483377" y="1078698"/>
                  </a:lnTo>
                  <a:lnTo>
                    <a:pt x="431297" y="1029566"/>
                  </a:lnTo>
                  <a:lnTo>
                    <a:pt x="376437" y="983560"/>
                  </a:lnTo>
                  <a:lnTo>
                    <a:pt x="318989" y="940830"/>
                  </a:lnTo>
                  <a:lnTo>
                    <a:pt x="259143" y="901527"/>
                  </a:lnTo>
                  <a:lnTo>
                    <a:pt x="197108" y="865780"/>
                  </a:lnTo>
                  <a:lnTo>
                    <a:pt x="133092" y="833716"/>
                  </a:lnTo>
                  <a:lnTo>
                    <a:pt x="67315" y="805438"/>
                  </a:lnTo>
                  <a:lnTo>
                    <a:pt x="0" y="781050"/>
                  </a:lnTo>
                  <a:lnTo>
                    <a:pt x="33850" y="769341"/>
                  </a:lnTo>
                  <a:lnTo>
                    <a:pt x="100396" y="743008"/>
                  </a:lnTo>
                  <a:lnTo>
                    <a:pt x="165348" y="712812"/>
                  </a:lnTo>
                  <a:lnTo>
                    <a:pt x="228373" y="678906"/>
                  </a:lnTo>
                  <a:lnTo>
                    <a:pt x="289366" y="641349"/>
                  </a:lnTo>
                  <a:lnTo>
                    <a:pt x="348012" y="600333"/>
                  </a:lnTo>
                  <a:lnTo>
                    <a:pt x="404214" y="555926"/>
                  </a:lnTo>
                  <a:lnTo>
                    <a:pt x="457684" y="508358"/>
                  </a:lnTo>
                  <a:lnTo>
                    <a:pt x="508331" y="457707"/>
                  </a:lnTo>
                  <a:lnTo>
                    <a:pt x="555895" y="404233"/>
                  </a:lnTo>
                  <a:lnTo>
                    <a:pt x="600297" y="348027"/>
                  </a:lnTo>
                  <a:lnTo>
                    <a:pt x="641309" y="289377"/>
                  </a:lnTo>
                  <a:lnTo>
                    <a:pt x="678861" y="228382"/>
                  </a:lnTo>
                  <a:lnTo>
                    <a:pt x="712761" y="165353"/>
                  </a:lnTo>
                  <a:lnTo>
                    <a:pt x="742952" y="100399"/>
                  </a:lnTo>
                  <a:lnTo>
                    <a:pt x="769280" y="33851"/>
                  </a:lnTo>
                  <a:lnTo>
                    <a:pt x="780985" y="0"/>
                  </a:lnTo>
                  <a:lnTo>
                    <a:pt x="792690" y="33850"/>
                  </a:lnTo>
                  <a:lnTo>
                    <a:pt x="819017" y="100398"/>
                  </a:lnTo>
                  <a:lnTo>
                    <a:pt x="849207" y="165352"/>
                  </a:lnTo>
                  <a:lnTo>
                    <a:pt x="883106" y="228380"/>
                  </a:lnTo>
                  <a:lnTo>
                    <a:pt x="920657" y="289374"/>
                  </a:lnTo>
                  <a:lnTo>
                    <a:pt x="961668" y="348024"/>
                  </a:lnTo>
                  <a:lnTo>
                    <a:pt x="1006068" y="404230"/>
                  </a:lnTo>
                  <a:lnTo>
                    <a:pt x="1053631" y="457703"/>
                  </a:lnTo>
                  <a:lnTo>
                    <a:pt x="1104276" y="508354"/>
                  </a:lnTo>
                  <a:lnTo>
                    <a:pt x="1157745" y="555923"/>
                  </a:lnTo>
                  <a:lnTo>
                    <a:pt x="1213946" y="600329"/>
                  </a:lnTo>
                  <a:lnTo>
                    <a:pt x="1272591" y="641346"/>
                  </a:lnTo>
                  <a:lnTo>
                    <a:pt x="1333582" y="678904"/>
                  </a:lnTo>
                  <a:lnTo>
                    <a:pt x="1396606" y="712810"/>
                  </a:lnTo>
                  <a:lnTo>
                    <a:pt x="1461557" y="743007"/>
                  </a:lnTo>
                  <a:lnTo>
                    <a:pt x="1528101" y="769341"/>
                  </a:lnTo>
                  <a:lnTo>
                    <a:pt x="1561951" y="781050"/>
                  </a:lnTo>
                  <a:lnTo>
                    <a:pt x="1528101" y="792758"/>
                  </a:lnTo>
                  <a:lnTo>
                    <a:pt x="1461556" y="819092"/>
                  </a:lnTo>
                  <a:lnTo>
                    <a:pt x="1396606" y="849289"/>
                  </a:lnTo>
                  <a:lnTo>
                    <a:pt x="1333582" y="883195"/>
                  </a:lnTo>
                  <a:lnTo>
                    <a:pt x="1272591" y="920753"/>
                  </a:lnTo>
                  <a:lnTo>
                    <a:pt x="1213945" y="961770"/>
                  </a:lnTo>
                  <a:lnTo>
                    <a:pt x="1157745" y="1006176"/>
                  </a:lnTo>
                  <a:lnTo>
                    <a:pt x="1104276" y="1053745"/>
                  </a:lnTo>
                  <a:lnTo>
                    <a:pt x="1053631" y="1104396"/>
                  </a:lnTo>
                  <a:lnTo>
                    <a:pt x="1006068" y="1157870"/>
                  </a:lnTo>
                  <a:lnTo>
                    <a:pt x="961668" y="1214075"/>
                  </a:lnTo>
                  <a:lnTo>
                    <a:pt x="920657" y="1272725"/>
                  </a:lnTo>
                  <a:lnTo>
                    <a:pt x="883106" y="1333720"/>
                  </a:lnTo>
                  <a:lnTo>
                    <a:pt x="849207" y="1396748"/>
                  </a:lnTo>
                  <a:lnTo>
                    <a:pt x="819017" y="1461701"/>
                  </a:lnTo>
                  <a:lnTo>
                    <a:pt x="792690" y="1528249"/>
                  </a:lnTo>
                  <a:lnTo>
                    <a:pt x="780985" y="1562100"/>
                  </a:lnTo>
                  <a:close/>
                </a:path>
              </a:pathLst>
            </a:custGeom>
            <a:solidFill>
              <a:schemeClr val="tx1">
                <a:lumMod val="65000"/>
                <a:lumOff val="35000"/>
              </a:schemeClr>
            </a:solidFill>
          </p:spPr>
          <p:txBody>
            <a:bodyPr wrap="square" lIns="0" tIns="0" rIns="0" bIns="0" rtlCol="0"/>
            <a:lstStyle/>
            <a:p>
              <a:endParaRPr dirty="0"/>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object 5"/>
          <p:cNvPicPr/>
          <p:nvPr/>
        </p:nvPicPr>
        <p:blipFill>
          <a:blip r:embed="rId2" cstate="print"/>
          <a:stretch>
            <a:fillRect/>
          </a:stretch>
        </p:blipFill>
        <p:spPr>
          <a:xfrm>
            <a:off x="4876800" y="342900"/>
            <a:ext cx="11212234" cy="8083699"/>
          </a:xfrm>
          <a:prstGeom prst="rect">
            <a:avLst/>
          </a:prstGeom>
        </p:spPr>
      </p:pic>
      <p:grpSp>
        <p:nvGrpSpPr>
          <p:cNvPr id="10" name="object 3">
            <a:extLst>
              <a:ext uri="{FF2B5EF4-FFF2-40B4-BE49-F238E27FC236}">
                <a16:creationId xmlns:a16="http://schemas.microsoft.com/office/drawing/2014/main" id="{782F190A-7328-B2C8-A5D2-E7DF31175FD9}"/>
              </a:ext>
            </a:extLst>
          </p:cNvPr>
          <p:cNvGrpSpPr/>
          <p:nvPr/>
        </p:nvGrpSpPr>
        <p:grpSpPr>
          <a:xfrm>
            <a:off x="0" y="0"/>
            <a:ext cx="4108450" cy="10287000"/>
            <a:chOff x="-375" y="0"/>
            <a:chExt cx="4108450" cy="10287000"/>
          </a:xfrm>
          <a:solidFill>
            <a:schemeClr val="tx1">
              <a:lumMod val="75000"/>
              <a:lumOff val="25000"/>
            </a:schemeClr>
          </a:solidFill>
        </p:grpSpPr>
        <p:sp>
          <p:nvSpPr>
            <p:cNvPr id="11" name="object 4">
              <a:extLst>
                <a:ext uri="{FF2B5EF4-FFF2-40B4-BE49-F238E27FC236}">
                  <a16:creationId xmlns:a16="http://schemas.microsoft.com/office/drawing/2014/main" id="{BE5E4DA2-5E83-68A7-2F41-B745E0D65ECA}"/>
                </a:ext>
              </a:extLst>
            </p:cNvPr>
            <p:cNvSpPr/>
            <p:nvPr/>
          </p:nvSpPr>
          <p:spPr>
            <a:xfrm>
              <a:off x="-375" y="0"/>
              <a:ext cx="3327400" cy="10287000"/>
            </a:xfrm>
            <a:custGeom>
              <a:avLst/>
              <a:gdLst/>
              <a:ahLst/>
              <a:cxnLst/>
              <a:rect l="l" t="t" r="r" b="b"/>
              <a:pathLst>
                <a:path w="3327400" h="10287000">
                  <a:moveTo>
                    <a:pt x="0" y="10287000"/>
                  </a:moveTo>
                  <a:lnTo>
                    <a:pt x="0" y="0"/>
                  </a:lnTo>
                  <a:lnTo>
                    <a:pt x="3327201" y="0"/>
                  </a:lnTo>
                  <a:lnTo>
                    <a:pt x="3327201" y="10287000"/>
                  </a:lnTo>
                  <a:lnTo>
                    <a:pt x="0" y="10287000"/>
                  </a:lnTo>
                  <a:close/>
                </a:path>
              </a:pathLst>
            </a:custGeom>
            <a:grpFill/>
          </p:spPr>
          <p:txBody>
            <a:bodyPr wrap="square" lIns="0" tIns="0" rIns="0" bIns="0" rtlCol="0"/>
            <a:lstStyle/>
            <a:p>
              <a:endParaRPr/>
            </a:p>
          </p:txBody>
        </p:sp>
        <p:sp>
          <p:nvSpPr>
            <p:cNvPr id="12" name="object 5">
              <a:extLst>
                <a:ext uri="{FF2B5EF4-FFF2-40B4-BE49-F238E27FC236}">
                  <a16:creationId xmlns:a16="http://schemas.microsoft.com/office/drawing/2014/main" id="{12C57A00-CB34-F87A-3440-DF7FC6904485}"/>
                </a:ext>
              </a:extLst>
            </p:cNvPr>
            <p:cNvSpPr/>
            <p:nvPr/>
          </p:nvSpPr>
          <p:spPr>
            <a:xfrm>
              <a:off x="2545975" y="476250"/>
              <a:ext cx="1562100" cy="1562100"/>
            </a:xfrm>
            <a:custGeom>
              <a:avLst/>
              <a:gdLst/>
              <a:ahLst/>
              <a:cxnLst/>
              <a:rect l="l" t="t" r="r" b="b"/>
              <a:pathLst>
                <a:path w="1562100" h="1562100">
                  <a:moveTo>
                    <a:pt x="780985" y="1562100"/>
                  </a:moveTo>
                  <a:lnTo>
                    <a:pt x="756602" y="1494782"/>
                  </a:lnTo>
                  <a:lnTo>
                    <a:pt x="728330" y="1429003"/>
                  </a:lnTo>
                  <a:lnTo>
                    <a:pt x="696271" y="1364984"/>
                  </a:lnTo>
                  <a:lnTo>
                    <a:pt x="660529" y="1302946"/>
                  </a:lnTo>
                  <a:lnTo>
                    <a:pt x="621231" y="1243097"/>
                  </a:lnTo>
                  <a:lnTo>
                    <a:pt x="578506" y="1185645"/>
                  </a:lnTo>
                  <a:lnTo>
                    <a:pt x="532504" y="1130782"/>
                  </a:lnTo>
                  <a:lnTo>
                    <a:pt x="483377" y="1078698"/>
                  </a:lnTo>
                  <a:lnTo>
                    <a:pt x="431297" y="1029566"/>
                  </a:lnTo>
                  <a:lnTo>
                    <a:pt x="376437" y="983560"/>
                  </a:lnTo>
                  <a:lnTo>
                    <a:pt x="318989" y="940830"/>
                  </a:lnTo>
                  <a:lnTo>
                    <a:pt x="259143" y="901527"/>
                  </a:lnTo>
                  <a:lnTo>
                    <a:pt x="197108" y="865780"/>
                  </a:lnTo>
                  <a:lnTo>
                    <a:pt x="133092" y="833716"/>
                  </a:lnTo>
                  <a:lnTo>
                    <a:pt x="67315" y="805438"/>
                  </a:lnTo>
                  <a:lnTo>
                    <a:pt x="0" y="781050"/>
                  </a:lnTo>
                  <a:lnTo>
                    <a:pt x="33850" y="769341"/>
                  </a:lnTo>
                  <a:lnTo>
                    <a:pt x="100396" y="743008"/>
                  </a:lnTo>
                  <a:lnTo>
                    <a:pt x="165348" y="712812"/>
                  </a:lnTo>
                  <a:lnTo>
                    <a:pt x="228373" y="678906"/>
                  </a:lnTo>
                  <a:lnTo>
                    <a:pt x="289366" y="641349"/>
                  </a:lnTo>
                  <a:lnTo>
                    <a:pt x="348012" y="600333"/>
                  </a:lnTo>
                  <a:lnTo>
                    <a:pt x="404214" y="555926"/>
                  </a:lnTo>
                  <a:lnTo>
                    <a:pt x="457684" y="508358"/>
                  </a:lnTo>
                  <a:lnTo>
                    <a:pt x="508331" y="457707"/>
                  </a:lnTo>
                  <a:lnTo>
                    <a:pt x="555895" y="404233"/>
                  </a:lnTo>
                  <a:lnTo>
                    <a:pt x="600297" y="348027"/>
                  </a:lnTo>
                  <a:lnTo>
                    <a:pt x="641309" y="289377"/>
                  </a:lnTo>
                  <a:lnTo>
                    <a:pt x="678861" y="228382"/>
                  </a:lnTo>
                  <a:lnTo>
                    <a:pt x="712761" y="165353"/>
                  </a:lnTo>
                  <a:lnTo>
                    <a:pt x="742952" y="100399"/>
                  </a:lnTo>
                  <a:lnTo>
                    <a:pt x="769280" y="33851"/>
                  </a:lnTo>
                  <a:lnTo>
                    <a:pt x="780985" y="0"/>
                  </a:lnTo>
                  <a:lnTo>
                    <a:pt x="792690" y="33850"/>
                  </a:lnTo>
                  <a:lnTo>
                    <a:pt x="819017" y="100398"/>
                  </a:lnTo>
                  <a:lnTo>
                    <a:pt x="849207" y="165352"/>
                  </a:lnTo>
                  <a:lnTo>
                    <a:pt x="883106" y="228380"/>
                  </a:lnTo>
                  <a:lnTo>
                    <a:pt x="920657" y="289374"/>
                  </a:lnTo>
                  <a:lnTo>
                    <a:pt x="961668" y="348024"/>
                  </a:lnTo>
                  <a:lnTo>
                    <a:pt x="1006068" y="404230"/>
                  </a:lnTo>
                  <a:lnTo>
                    <a:pt x="1053631" y="457703"/>
                  </a:lnTo>
                  <a:lnTo>
                    <a:pt x="1104276" y="508354"/>
                  </a:lnTo>
                  <a:lnTo>
                    <a:pt x="1157745" y="555923"/>
                  </a:lnTo>
                  <a:lnTo>
                    <a:pt x="1213946" y="600329"/>
                  </a:lnTo>
                  <a:lnTo>
                    <a:pt x="1272591" y="641346"/>
                  </a:lnTo>
                  <a:lnTo>
                    <a:pt x="1333582" y="678904"/>
                  </a:lnTo>
                  <a:lnTo>
                    <a:pt x="1396606" y="712810"/>
                  </a:lnTo>
                  <a:lnTo>
                    <a:pt x="1461557" y="743007"/>
                  </a:lnTo>
                  <a:lnTo>
                    <a:pt x="1528101" y="769341"/>
                  </a:lnTo>
                  <a:lnTo>
                    <a:pt x="1561951" y="781050"/>
                  </a:lnTo>
                  <a:lnTo>
                    <a:pt x="1528101" y="792758"/>
                  </a:lnTo>
                  <a:lnTo>
                    <a:pt x="1461556" y="819092"/>
                  </a:lnTo>
                  <a:lnTo>
                    <a:pt x="1396606" y="849289"/>
                  </a:lnTo>
                  <a:lnTo>
                    <a:pt x="1333582" y="883195"/>
                  </a:lnTo>
                  <a:lnTo>
                    <a:pt x="1272591" y="920753"/>
                  </a:lnTo>
                  <a:lnTo>
                    <a:pt x="1213945" y="961770"/>
                  </a:lnTo>
                  <a:lnTo>
                    <a:pt x="1157745" y="1006176"/>
                  </a:lnTo>
                  <a:lnTo>
                    <a:pt x="1104276" y="1053745"/>
                  </a:lnTo>
                  <a:lnTo>
                    <a:pt x="1053631" y="1104396"/>
                  </a:lnTo>
                  <a:lnTo>
                    <a:pt x="1006068" y="1157870"/>
                  </a:lnTo>
                  <a:lnTo>
                    <a:pt x="961668" y="1214075"/>
                  </a:lnTo>
                  <a:lnTo>
                    <a:pt x="920657" y="1272725"/>
                  </a:lnTo>
                  <a:lnTo>
                    <a:pt x="883106" y="1333720"/>
                  </a:lnTo>
                  <a:lnTo>
                    <a:pt x="849207" y="1396748"/>
                  </a:lnTo>
                  <a:lnTo>
                    <a:pt x="819017" y="1461701"/>
                  </a:lnTo>
                  <a:lnTo>
                    <a:pt x="792690" y="1528249"/>
                  </a:lnTo>
                  <a:lnTo>
                    <a:pt x="780985" y="1562100"/>
                  </a:lnTo>
                  <a:close/>
                </a:path>
              </a:pathLst>
            </a:custGeom>
            <a:solidFill>
              <a:schemeClr val="tx1">
                <a:lumMod val="65000"/>
                <a:lumOff val="35000"/>
              </a:schemeClr>
            </a:solidFill>
          </p:spPr>
          <p:txBody>
            <a:bodyPr wrap="square" lIns="0" tIns="0" rIns="0" bIns="0" rtlCol="0"/>
            <a:lstStyle/>
            <a:p>
              <a:endParaRPr dirty="0"/>
            </a:p>
          </p:txBody>
        </p:sp>
      </p:grpSp>
      <p:sp>
        <p:nvSpPr>
          <p:cNvPr id="2" name="Rectangle 1">
            <a:extLst>
              <a:ext uri="{FF2B5EF4-FFF2-40B4-BE49-F238E27FC236}">
                <a16:creationId xmlns:a16="http://schemas.microsoft.com/office/drawing/2014/main" id="{ACE3BAA9-B98C-7C85-9AAE-5DF0F40E6730}"/>
              </a:ext>
            </a:extLst>
          </p:cNvPr>
          <p:cNvSpPr/>
          <p:nvPr/>
        </p:nvSpPr>
        <p:spPr>
          <a:xfrm>
            <a:off x="9144000" y="8953500"/>
            <a:ext cx="8229600" cy="830997"/>
          </a:xfrm>
          <a:prstGeom prst="rect">
            <a:avLst/>
          </a:prstGeom>
          <a:noFill/>
        </p:spPr>
        <p:txBody>
          <a:bodyPr wrap="square" lIns="91440" tIns="45720" rIns="91440" bIns="45720">
            <a:spAutoFit/>
          </a:bodyPr>
          <a:lstStyle/>
          <a:p>
            <a:r>
              <a:rPr lang="en-US" sz="2400" dirty="0"/>
              <a:t>Source: Fourier Transforms and the Fast Fourier Transform (FFT) Algorithm by Paul </a:t>
            </a:r>
            <a:r>
              <a:rPr lang="en-US" sz="2400" dirty="0" err="1"/>
              <a:t>Heckbert</a:t>
            </a:r>
            <a:endParaRPr lang="en-US" sz="5400" b="0" cap="none" spc="0" dirty="0">
              <a:ln w="0"/>
              <a:solidFill>
                <a:schemeClr val="tx1"/>
              </a:solidFill>
              <a:effectLst>
                <a:outerShdw blurRad="38100" dist="19050" dir="2700000" algn="tl" rotWithShape="0">
                  <a:schemeClr val="dk1">
                    <a:alpha val="40000"/>
                  </a:schemeClr>
                </a:outerShdw>
              </a:effectLs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object 3">
            <a:extLst>
              <a:ext uri="{FF2B5EF4-FFF2-40B4-BE49-F238E27FC236}">
                <a16:creationId xmlns:a16="http://schemas.microsoft.com/office/drawing/2014/main" id="{EC95AA8F-0ECA-BC6A-AD68-1F633BB2CB91}"/>
              </a:ext>
            </a:extLst>
          </p:cNvPr>
          <p:cNvGrpSpPr/>
          <p:nvPr/>
        </p:nvGrpSpPr>
        <p:grpSpPr>
          <a:xfrm>
            <a:off x="-375" y="0"/>
            <a:ext cx="4108450" cy="10287000"/>
            <a:chOff x="-375" y="0"/>
            <a:chExt cx="4108450" cy="10287000"/>
          </a:xfrm>
          <a:solidFill>
            <a:schemeClr val="tx1">
              <a:lumMod val="75000"/>
              <a:lumOff val="25000"/>
            </a:schemeClr>
          </a:solidFill>
        </p:grpSpPr>
        <p:sp>
          <p:nvSpPr>
            <p:cNvPr id="8" name="object 4">
              <a:extLst>
                <a:ext uri="{FF2B5EF4-FFF2-40B4-BE49-F238E27FC236}">
                  <a16:creationId xmlns:a16="http://schemas.microsoft.com/office/drawing/2014/main" id="{ED6C7019-9DC3-1713-048C-7F3178D45D79}"/>
                </a:ext>
              </a:extLst>
            </p:cNvPr>
            <p:cNvSpPr/>
            <p:nvPr/>
          </p:nvSpPr>
          <p:spPr>
            <a:xfrm>
              <a:off x="-375" y="0"/>
              <a:ext cx="3327400" cy="10287000"/>
            </a:xfrm>
            <a:custGeom>
              <a:avLst/>
              <a:gdLst/>
              <a:ahLst/>
              <a:cxnLst/>
              <a:rect l="l" t="t" r="r" b="b"/>
              <a:pathLst>
                <a:path w="3327400" h="10287000">
                  <a:moveTo>
                    <a:pt x="0" y="10287000"/>
                  </a:moveTo>
                  <a:lnTo>
                    <a:pt x="0" y="0"/>
                  </a:lnTo>
                  <a:lnTo>
                    <a:pt x="3327201" y="0"/>
                  </a:lnTo>
                  <a:lnTo>
                    <a:pt x="3327201" y="10287000"/>
                  </a:lnTo>
                  <a:lnTo>
                    <a:pt x="0" y="10287000"/>
                  </a:lnTo>
                  <a:close/>
                </a:path>
              </a:pathLst>
            </a:custGeom>
            <a:grpFill/>
          </p:spPr>
          <p:txBody>
            <a:bodyPr wrap="square" lIns="0" tIns="0" rIns="0" bIns="0" rtlCol="0"/>
            <a:lstStyle/>
            <a:p>
              <a:endParaRPr/>
            </a:p>
          </p:txBody>
        </p:sp>
        <p:sp>
          <p:nvSpPr>
            <p:cNvPr id="9" name="object 5">
              <a:extLst>
                <a:ext uri="{FF2B5EF4-FFF2-40B4-BE49-F238E27FC236}">
                  <a16:creationId xmlns:a16="http://schemas.microsoft.com/office/drawing/2014/main" id="{905E9D8D-CB5A-54DF-56CA-330B26DE9024}"/>
                </a:ext>
              </a:extLst>
            </p:cNvPr>
            <p:cNvSpPr/>
            <p:nvPr/>
          </p:nvSpPr>
          <p:spPr>
            <a:xfrm>
              <a:off x="2545975" y="476250"/>
              <a:ext cx="1562100" cy="1562100"/>
            </a:xfrm>
            <a:custGeom>
              <a:avLst/>
              <a:gdLst/>
              <a:ahLst/>
              <a:cxnLst/>
              <a:rect l="l" t="t" r="r" b="b"/>
              <a:pathLst>
                <a:path w="1562100" h="1562100">
                  <a:moveTo>
                    <a:pt x="780985" y="1562100"/>
                  </a:moveTo>
                  <a:lnTo>
                    <a:pt x="756602" y="1494782"/>
                  </a:lnTo>
                  <a:lnTo>
                    <a:pt x="728330" y="1429003"/>
                  </a:lnTo>
                  <a:lnTo>
                    <a:pt x="696271" y="1364984"/>
                  </a:lnTo>
                  <a:lnTo>
                    <a:pt x="660529" y="1302946"/>
                  </a:lnTo>
                  <a:lnTo>
                    <a:pt x="621231" y="1243097"/>
                  </a:lnTo>
                  <a:lnTo>
                    <a:pt x="578506" y="1185645"/>
                  </a:lnTo>
                  <a:lnTo>
                    <a:pt x="532504" y="1130782"/>
                  </a:lnTo>
                  <a:lnTo>
                    <a:pt x="483377" y="1078698"/>
                  </a:lnTo>
                  <a:lnTo>
                    <a:pt x="431297" y="1029566"/>
                  </a:lnTo>
                  <a:lnTo>
                    <a:pt x="376437" y="983560"/>
                  </a:lnTo>
                  <a:lnTo>
                    <a:pt x="318989" y="940830"/>
                  </a:lnTo>
                  <a:lnTo>
                    <a:pt x="259143" y="901527"/>
                  </a:lnTo>
                  <a:lnTo>
                    <a:pt x="197108" y="865780"/>
                  </a:lnTo>
                  <a:lnTo>
                    <a:pt x="133092" y="833716"/>
                  </a:lnTo>
                  <a:lnTo>
                    <a:pt x="67315" y="805438"/>
                  </a:lnTo>
                  <a:lnTo>
                    <a:pt x="0" y="781050"/>
                  </a:lnTo>
                  <a:lnTo>
                    <a:pt x="33850" y="769341"/>
                  </a:lnTo>
                  <a:lnTo>
                    <a:pt x="100396" y="743008"/>
                  </a:lnTo>
                  <a:lnTo>
                    <a:pt x="165348" y="712812"/>
                  </a:lnTo>
                  <a:lnTo>
                    <a:pt x="228373" y="678906"/>
                  </a:lnTo>
                  <a:lnTo>
                    <a:pt x="289366" y="641349"/>
                  </a:lnTo>
                  <a:lnTo>
                    <a:pt x="348012" y="600333"/>
                  </a:lnTo>
                  <a:lnTo>
                    <a:pt x="404214" y="555926"/>
                  </a:lnTo>
                  <a:lnTo>
                    <a:pt x="457684" y="508358"/>
                  </a:lnTo>
                  <a:lnTo>
                    <a:pt x="508331" y="457707"/>
                  </a:lnTo>
                  <a:lnTo>
                    <a:pt x="555895" y="404233"/>
                  </a:lnTo>
                  <a:lnTo>
                    <a:pt x="600297" y="348027"/>
                  </a:lnTo>
                  <a:lnTo>
                    <a:pt x="641309" y="289377"/>
                  </a:lnTo>
                  <a:lnTo>
                    <a:pt x="678861" y="228382"/>
                  </a:lnTo>
                  <a:lnTo>
                    <a:pt x="712761" y="165353"/>
                  </a:lnTo>
                  <a:lnTo>
                    <a:pt x="742952" y="100399"/>
                  </a:lnTo>
                  <a:lnTo>
                    <a:pt x="769280" y="33851"/>
                  </a:lnTo>
                  <a:lnTo>
                    <a:pt x="780985" y="0"/>
                  </a:lnTo>
                  <a:lnTo>
                    <a:pt x="792690" y="33850"/>
                  </a:lnTo>
                  <a:lnTo>
                    <a:pt x="819017" y="100398"/>
                  </a:lnTo>
                  <a:lnTo>
                    <a:pt x="849207" y="165352"/>
                  </a:lnTo>
                  <a:lnTo>
                    <a:pt x="883106" y="228380"/>
                  </a:lnTo>
                  <a:lnTo>
                    <a:pt x="920657" y="289374"/>
                  </a:lnTo>
                  <a:lnTo>
                    <a:pt x="961668" y="348024"/>
                  </a:lnTo>
                  <a:lnTo>
                    <a:pt x="1006068" y="404230"/>
                  </a:lnTo>
                  <a:lnTo>
                    <a:pt x="1053631" y="457703"/>
                  </a:lnTo>
                  <a:lnTo>
                    <a:pt x="1104276" y="508354"/>
                  </a:lnTo>
                  <a:lnTo>
                    <a:pt x="1157745" y="555923"/>
                  </a:lnTo>
                  <a:lnTo>
                    <a:pt x="1213946" y="600329"/>
                  </a:lnTo>
                  <a:lnTo>
                    <a:pt x="1272591" y="641346"/>
                  </a:lnTo>
                  <a:lnTo>
                    <a:pt x="1333582" y="678904"/>
                  </a:lnTo>
                  <a:lnTo>
                    <a:pt x="1396606" y="712810"/>
                  </a:lnTo>
                  <a:lnTo>
                    <a:pt x="1461557" y="743007"/>
                  </a:lnTo>
                  <a:lnTo>
                    <a:pt x="1528101" y="769341"/>
                  </a:lnTo>
                  <a:lnTo>
                    <a:pt x="1561951" y="781050"/>
                  </a:lnTo>
                  <a:lnTo>
                    <a:pt x="1528101" y="792758"/>
                  </a:lnTo>
                  <a:lnTo>
                    <a:pt x="1461556" y="819092"/>
                  </a:lnTo>
                  <a:lnTo>
                    <a:pt x="1396606" y="849289"/>
                  </a:lnTo>
                  <a:lnTo>
                    <a:pt x="1333582" y="883195"/>
                  </a:lnTo>
                  <a:lnTo>
                    <a:pt x="1272591" y="920753"/>
                  </a:lnTo>
                  <a:lnTo>
                    <a:pt x="1213945" y="961770"/>
                  </a:lnTo>
                  <a:lnTo>
                    <a:pt x="1157745" y="1006176"/>
                  </a:lnTo>
                  <a:lnTo>
                    <a:pt x="1104276" y="1053745"/>
                  </a:lnTo>
                  <a:lnTo>
                    <a:pt x="1053631" y="1104396"/>
                  </a:lnTo>
                  <a:lnTo>
                    <a:pt x="1006068" y="1157870"/>
                  </a:lnTo>
                  <a:lnTo>
                    <a:pt x="961668" y="1214075"/>
                  </a:lnTo>
                  <a:lnTo>
                    <a:pt x="920657" y="1272725"/>
                  </a:lnTo>
                  <a:lnTo>
                    <a:pt x="883106" y="1333720"/>
                  </a:lnTo>
                  <a:lnTo>
                    <a:pt x="849207" y="1396748"/>
                  </a:lnTo>
                  <a:lnTo>
                    <a:pt x="819017" y="1461701"/>
                  </a:lnTo>
                  <a:lnTo>
                    <a:pt x="792690" y="1528249"/>
                  </a:lnTo>
                  <a:lnTo>
                    <a:pt x="780985" y="1562100"/>
                  </a:lnTo>
                  <a:close/>
                </a:path>
              </a:pathLst>
            </a:custGeom>
            <a:solidFill>
              <a:schemeClr val="tx1">
                <a:lumMod val="65000"/>
                <a:lumOff val="35000"/>
              </a:schemeClr>
            </a:solidFill>
          </p:spPr>
          <p:txBody>
            <a:bodyPr wrap="square" lIns="0" tIns="0" rIns="0" bIns="0" rtlCol="0"/>
            <a:lstStyle/>
            <a:p>
              <a:endParaRPr dirty="0"/>
            </a:p>
          </p:txBody>
        </p:sp>
      </p:grpSp>
      <p:pic>
        <p:nvPicPr>
          <p:cNvPr id="4" name="Picture 3">
            <a:extLst>
              <a:ext uri="{FF2B5EF4-FFF2-40B4-BE49-F238E27FC236}">
                <a16:creationId xmlns:a16="http://schemas.microsoft.com/office/drawing/2014/main" id="{4247E8FA-49E6-F033-EAD5-44A842A4E5FB}"/>
              </a:ext>
            </a:extLst>
          </p:cNvPr>
          <p:cNvPicPr>
            <a:picLocks noChangeAspect="1"/>
          </p:cNvPicPr>
          <p:nvPr/>
        </p:nvPicPr>
        <p:blipFill>
          <a:blip r:embed="rId2"/>
          <a:stretch>
            <a:fillRect/>
          </a:stretch>
        </p:blipFill>
        <p:spPr>
          <a:xfrm>
            <a:off x="4267200" y="1104900"/>
            <a:ext cx="4599240" cy="2312194"/>
          </a:xfrm>
          <a:prstGeom prst="rect">
            <a:avLst/>
          </a:prstGeom>
        </p:spPr>
      </p:pic>
      <p:pic>
        <p:nvPicPr>
          <p:cNvPr id="11" name="Picture 10">
            <a:extLst>
              <a:ext uri="{FF2B5EF4-FFF2-40B4-BE49-F238E27FC236}">
                <a16:creationId xmlns:a16="http://schemas.microsoft.com/office/drawing/2014/main" id="{0E371539-5279-9AF3-49F7-1A8ADCC1F261}"/>
              </a:ext>
            </a:extLst>
          </p:cNvPr>
          <p:cNvPicPr>
            <a:picLocks noChangeAspect="1"/>
          </p:cNvPicPr>
          <p:nvPr/>
        </p:nvPicPr>
        <p:blipFill>
          <a:blip r:embed="rId3"/>
          <a:stretch>
            <a:fillRect/>
          </a:stretch>
        </p:blipFill>
        <p:spPr>
          <a:xfrm>
            <a:off x="4212378" y="3864860"/>
            <a:ext cx="7522422" cy="923330"/>
          </a:xfrm>
          <a:prstGeom prst="rect">
            <a:avLst/>
          </a:prstGeom>
        </p:spPr>
      </p:pic>
      <p:pic>
        <p:nvPicPr>
          <p:cNvPr id="15" name="Picture 14">
            <a:extLst>
              <a:ext uri="{FF2B5EF4-FFF2-40B4-BE49-F238E27FC236}">
                <a16:creationId xmlns:a16="http://schemas.microsoft.com/office/drawing/2014/main" id="{76E7FB70-1161-6F21-E2D1-EB225DD1E155}"/>
              </a:ext>
            </a:extLst>
          </p:cNvPr>
          <p:cNvPicPr>
            <a:picLocks noChangeAspect="1"/>
          </p:cNvPicPr>
          <p:nvPr/>
        </p:nvPicPr>
        <p:blipFill>
          <a:blip r:embed="rId4"/>
          <a:stretch>
            <a:fillRect/>
          </a:stretch>
        </p:blipFill>
        <p:spPr>
          <a:xfrm>
            <a:off x="4212378" y="4739818"/>
            <a:ext cx="7522422" cy="3039542"/>
          </a:xfrm>
          <a:prstGeom prst="rect">
            <a:avLst/>
          </a:prstGeom>
        </p:spPr>
      </p:pic>
      <p:pic>
        <p:nvPicPr>
          <p:cNvPr id="17" name="Picture 16">
            <a:extLst>
              <a:ext uri="{FF2B5EF4-FFF2-40B4-BE49-F238E27FC236}">
                <a16:creationId xmlns:a16="http://schemas.microsoft.com/office/drawing/2014/main" id="{9254D73A-12AD-F793-16E8-56C0140760EA}"/>
              </a:ext>
            </a:extLst>
          </p:cNvPr>
          <p:cNvPicPr>
            <a:picLocks noChangeAspect="1"/>
          </p:cNvPicPr>
          <p:nvPr/>
        </p:nvPicPr>
        <p:blipFill>
          <a:blip r:embed="rId5"/>
          <a:stretch>
            <a:fillRect/>
          </a:stretch>
        </p:blipFill>
        <p:spPr>
          <a:xfrm>
            <a:off x="13411200" y="6438900"/>
            <a:ext cx="3924300" cy="3724275"/>
          </a:xfrm>
          <a:prstGeom prst="rect">
            <a:avLst/>
          </a:prstGeom>
        </p:spPr>
      </p:pic>
      <p:sp>
        <p:nvSpPr>
          <p:cNvPr id="18" name="Rectangle 17">
            <a:extLst>
              <a:ext uri="{FF2B5EF4-FFF2-40B4-BE49-F238E27FC236}">
                <a16:creationId xmlns:a16="http://schemas.microsoft.com/office/drawing/2014/main" id="{2BCF5763-EE94-36DD-B2F8-E800A395E419}"/>
              </a:ext>
            </a:extLst>
          </p:cNvPr>
          <p:cNvSpPr/>
          <p:nvPr/>
        </p:nvSpPr>
        <p:spPr>
          <a:xfrm>
            <a:off x="7315200" y="-49640"/>
            <a:ext cx="6540508"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Let’s see one example:</a:t>
            </a:r>
          </a:p>
        </p:txBody>
      </p:sp>
      <p:sp>
        <p:nvSpPr>
          <p:cNvPr id="19" name="Rectangle 18">
            <a:extLst>
              <a:ext uri="{FF2B5EF4-FFF2-40B4-BE49-F238E27FC236}">
                <a16:creationId xmlns:a16="http://schemas.microsoft.com/office/drawing/2014/main" id="{AFE85252-4F01-FE44-1848-2A0E51C67FFD}"/>
              </a:ext>
            </a:extLst>
          </p:cNvPr>
          <p:cNvSpPr/>
          <p:nvPr/>
        </p:nvSpPr>
        <p:spPr>
          <a:xfrm>
            <a:off x="9258300" y="1321456"/>
            <a:ext cx="8305800" cy="1323439"/>
          </a:xfrm>
          <a:prstGeom prst="rect">
            <a:avLst/>
          </a:prstGeom>
          <a:noFill/>
        </p:spPr>
        <p:txBody>
          <a:bodyPr wrap="square" lIns="91440" tIns="45720" rIns="91440" bIns="45720">
            <a:spAutoFit/>
          </a:bodyPr>
          <a:lstStyle/>
          <a:p>
            <a:r>
              <a:rPr lang="en-US" sz="4000" cap="none" spc="0" dirty="0">
                <a:ln w="0"/>
                <a:solidFill>
                  <a:schemeClr val="tx1"/>
                </a:solidFill>
                <a:effectLst>
                  <a:outerShdw blurRad="38100" dist="19050" dir="2700000" algn="tl" rotWithShape="0">
                    <a:schemeClr val="dk1">
                      <a:alpha val="40000"/>
                    </a:schemeClr>
                  </a:outerShdw>
                </a:effectLst>
              </a:rPr>
              <a:t>What that signal would be in frequency domain?</a:t>
            </a:r>
          </a:p>
        </p:txBody>
      </p:sp>
      <p:sp>
        <p:nvSpPr>
          <p:cNvPr id="20" name="Rectangle 19">
            <a:extLst>
              <a:ext uri="{FF2B5EF4-FFF2-40B4-BE49-F238E27FC236}">
                <a16:creationId xmlns:a16="http://schemas.microsoft.com/office/drawing/2014/main" id="{E0415F7B-2FF0-407B-91C7-489659E727A5}"/>
              </a:ext>
            </a:extLst>
          </p:cNvPr>
          <p:cNvSpPr/>
          <p:nvPr/>
        </p:nvSpPr>
        <p:spPr>
          <a:xfrm>
            <a:off x="12039600" y="4543335"/>
            <a:ext cx="4535888" cy="1200329"/>
          </a:xfrm>
          <a:prstGeom prst="rect">
            <a:avLst/>
          </a:prstGeom>
          <a:noFill/>
        </p:spPr>
        <p:txBody>
          <a:bodyPr wrap="square" lIns="91440" tIns="45720" rIns="91440" bIns="45720">
            <a:spAutoFit/>
          </a:bodyPr>
          <a:lstStyle/>
          <a:p>
            <a:r>
              <a:rPr lang="en-US" sz="3600" dirty="0">
                <a:ln w="0"/>
                <a:effectLst>
                  <a:outerShdw blurRad="38100" dist="19050" dir="2700000" algn="tl" rotWithShape="0">
                    <a:schemeClr val="dk1">
                      <a:alpha val="40000"/>
                    </a:schemeClr>
                  </a:outerShdw>
                </a:effectLst>
              </a:rPr>
              <a:t>With python the signal can be transformed.</a:t>
            </a:r>
            <a:endParaRPr lang="en-US" sz="3600" b="0" cap="none" spc="0" dirty="0">
              <a:ln w="0"/>
              <a:solidFill>
                <a:schemeClr val="tx1"/>
              </a:solidFill>
              <a:effectLst>
                <a:outerShdw blurRad="38100" dist="19050" dir="2700000" algn="tl" rotWithShape="0">
                  <a:schemeClr val="dk1">
                    <a:alpha val="40000"/>
                  </a:schemeClr>
                </a:outerShdw>
              </a:effectLst>
            </a:endParaRPr>
          </a:p>
        </p:txBody>
      </p:sp>
      <p:sp>
        <p:nvSpPr>
          <p:cNvPr id="21" name="Rectangle 20">
            <a:extLst>
              <a:ext uri="{FF2B5EF4-FFF2-40B4-BE49-F238E27FC236}">
                <a16:creationId xmlns:a16="http://schemas.microsoft.com/office/drawing/2014/main" id="{1AAD8041-E986-1FC3-E86D-64CE06E45342}"/>
              </a:ext>
            </a:extLst>
          </p:cNvPr>
          <p:cNvSpPr/>
          <p:nvPr/>
        </p:nvSpPr>
        <p:spPr>
          <a:xfrm>
            <a:off x="6945478" y="8611601"/>
            <a:ext cx="6304611" cy="707886"/>
          </a:xfrm>
          <a:prstGeom prst="rect">
            <a:avLst/>
          </a:prstGeom>
          <a:noFill/>
        </p:spPr>
        <p:txBody>
          <a:bodyPr wrap="none" lIns="91440" tIns="45720" rIns="91440" bIns="45720">
            <a:spAutoFit/>
          </a:bodyPr>
          <a:lstStyle/>
          <a:p>
            <a:pPr algn="ctr"/>
            <a:r>
              <a:rPr lang="en-US" sz="4000" dirty="0">
                <a:ln w="0"/>
                <a:effectLst>
                  <a:outerShdw blurRad="38100" dist="19050" dir="2700000" algn="tl" rotWithShape="0">
                    <a:schemeClr val="dk1">
                      <a:alpha val="40000"/>
                    </a:schemeClr>
                  </a:outerShdw>
                </a:effectLst>
              </a:rPr>
              <a:t>The frequency domain signal.</a:t>
            </a:r>
            <a:endParaRPr lang="en-US" sz="40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037752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1CE38A-AB2B-810C-1CFC-4B6A09F0D2C9}"/>
              </a:ext>
            </a:extLst>
          </p:cNvPr>
          <p:cNvSpPr txBox="1"/>
          <p:nvPr/>
        </p:nvSpPr>
        <p:spPr>
          <a:xfrm>
            <a:off x="4038600" y="797852"/>
            <a:ext cx="6553200" cy="830997"/>
          </a:xfrm>
          <a:prstGeom prst="rect">
            <a:avLst/>
          </a:prstGeom>
          <a:noFill/>
        </p:spPr>
        <p:txBody>
          <a:bodyPr wrap="square" rtlCol="0">
            <a:spAutoFit/>
          </a:bodyPr>
          <a:lstStyle/>
          <a:p>
            <a:r>
              <a:rPr lang="en-US" sz="4800" u="sng" dirty="0">
                <a:solidFill>
                  <a:schemeClr val="accent2">
                    <a:lumMod val="50000"/>
                  </a:schemeClr>
                </a:solidFill>
              </a:rPr>
              <a:t>FFT DEMONESTRATION:</a:t>
            </a:r>
          </a:p>
        </p:txBody>
      </p:sp>
      <p:sp>
        <p:nvSpPr>
          <p:cNvPr id="4" name="TextBox 3">
            <a:extLst>
              <a:ext uri="{FF2B5EF4-FFF2-40B4-BE49-F238E27FC236}">
                <a16:creationId xmlns:a16="http://schemas.microsoft.com/office/drawing/2014/main" id="{6CCB1272-8483-3EFE-8703-EA59FEC8CC64}"/>
              </a:ext>
            </a:extLst>
          </p:cNvPr>
          <p:cNvSpPr txBox="1"/>
          <p:nvPr/>
        </p:nvSpPr>
        <p:spPr>
          <a:xfrm>
            <a:off x="4038600" y="2050345"/>
            <a:ext cx="12752174" cy="6186309"/>
          </a:xfrm>
          <a:prstGeom prst="rect">
            <a:avLst/>
          </a:prstGeom>
          <a:noFill/>
        </p:spPr>
        <p:txBody>
          <a:bodyPr wrap="square">
            <a:spAutoFit/>
          </a:bodyPr>
          <a:lstStyle/>
          <a:p>
            <a:r>
              <a:rPr lang="en-US" sz="3600" dirty="0">
                <a:solidFill>
                  <a:schemeClr val="accent2">
                    <a:lumMod val="75000"/>
                  </a:schemeClr>
                </a:solidFill>
              </a:rPr>
              <a:t>Fast Fourier Transform (FFT) is used in various real-life applications across different fields. One common example is in signal processing, where FFT is employed to analyze signals in domains like telecommunications, audio processing, and image processing. For instance, in telecommunications, FFT can be used to transform signals from the time domain to the frequency domain, allowing for efficient filtering, compression, or modulation/demodulation of signals. In audio processing, FFT is used in tasks such as spectral analysis, equalization, and noise reduction. Similarly, in image processing, FFT can be utilized for tasks like image enhancement, compression, and pattern recognition.</a:t>
            </a:r>
          </a:p>
        </p:txBody>
      </p:sp>
      <p:grpSp>
        <p:nvGrpSpPr>
          <p:cNvPr id="3" name="object 3">
            <a:extLst>
              <a:ext uri="{FF2B5EF4-FFF2-40B4-BE49-F238E27FC236}">
                <a16:creationId xmlns:a16="http://schemas.microsoft.com/office/drawing/2014/main" id="{BC0DF0B4-672C-6EBE-CFD9-6A2E767CB7A9}"/>
              </a:ext>
            </a:extLst>
          </p:cNvPr>
          <p:cNvGrpSpPr/>
          <p:nvPr/>
        </p:nvGrpSpPr>
        <p:grpSpPr>
          <a:xfrm>
            <a:off x="-375" y="0"/>
            <a:ext cx="4108450" cy="10287000"/>
            <a:chOff x="-375" y="0"/>
            <a:chExt cx="4108450" cy="10287000"/>
          </a:xfrm>
          <a:solidFill>
            <a:schemeClr val="accent2">
              <a:lumMod val="50000"/>
            </a:schemeClr>
          </a:solidFill>
        </p:grpSpPr>
        <p:sp>
          <p:nvSpPr>
            <p:cNvPr id="5" name="object 4">
              <a:extLst>
                <a:ext uri="{FF2B5EF4-FFF2-40B4-BE49-F238E27FC236}">
                  <a16:creationId xmlns:a16="http://schemas.microsoft.com/office/drawing/2014/main" id="{BF7EA061-B95E-3867-09E4-6A9E4644104F}"/>
                </a:ext>
              </a:extLst>
            </p:cNvPr>
            <p:cNvSpPr/>
            <p:nvPr/>
          </p:nvSpPr>
          <p:spPr>
            <a:xfrm>
              <a:off x="-375" y="0"/>
              <a:ext cx="3327400" cy="10287000"/>
            </a:xfrm>
            <a:custGeom>
              <a:avLst/>
              <a:gdLst/>
              <a:ahLst/>
              <a:cxnLst/>
              <a:rect l="l" t="t" r="r" b="b"/>
              <a:pathLst>
                <a:path w="3327400" h="10287000">
                  <a:moveTo>
                    <a:pt x="0" y="10287000"/>
                  </a:moveTo>
                  <a:lnTo>
                    <a:pt x="0" y="0"/>
                  </a:lnTo>
                  <a:lnTo>
                    <a:pt x="3327201" y="0"/>
                  </a:lnTo>
                  <a:lnTo>
                    <a:pt x="3327201" y="10287000"/>
                  </a:lnTo>
                  <a:lnTo>
                    <a:pt x="0" y="10287000"/>
                  </a:lnTo>
                  <a:close/>
                </a:path>
              </a:pathLst>
            </a:custGeom>
            <a:solidFill>
              <a:schemeClr val="accent6">
                <a:lumMod val="50000"/>
              </a:schemeClr>
            </a:solidFill>
          </p:spPr>
          <p:txBody>
            <a:bodyPr wrap="square" lIns="0" tIns="0" rIns="0" bIns="0" rtlCol="0"/>
            <a:lstStyle/>
            <a:p>
              <a:endParaRPr/>
            </a:p>
          </p:txBody>
        </p:sp>
        <p:sp>
          <p:nvSpPr>
            <p:cNvPr id="6" name="object 5">
              <a:extLst>
                <a:ext uri="{FF2B5EF4-FFF2-40B4-BE49-F238E27FC236}">
                  <a16:creationId xmlns:a16="http://schemas.microsoft.com/office/drawing/2014/main" id="{F048BB01-0581-2E5B-B2FF-7F15A3749B9F}"/>
                </a:ext>
              </a:extLst>
            </p:cNvPr>
            <p:cNvSpPr/>
            <p:nvPr/>
          </p:nvSpPr>
          <p:spPr>
            <a:xfrm>
              <a:off x="2545975" y="476250"/>
              <a:ext cx="1562100" cy="1562100"/>
            </a:xfrm>
            <a:custGeom>
              <a:avLst/>
              <a:gdLst/>
              <a:ahLst/>
              <a:cxnLst/>
              <a:rect l="l" t="t" r="r" b="b"/>
              <a:pathLst>
                <a:path w="1562100" h="1562100">
                  <a:moveTo>
                    <a:pt x="780985" y="1562100"/>
                  </a:moveTo>
                  <a:lnTo>
                    <a:pt x="756602" y="1494782"/>
                  </a:lnTo>
                  <a:lnTo>
                    <a:pt x="728330" y="1429003"/>
                  </a:lnTo>
                  <a:lnTo>
                    <a:pt x="696271" y="1364984"/>
                  </a:lnTo>
                  <a:lnTo>
                    <a:pt x="660529" y="1302946"/>
                  </a:lnTo>
                  <a:lnTo>
                    <a:pt x="621231" y="1243097"/>
                  </a:lnTo>
                  <a:lnTo>
                    <a:pt x="578506" y="1185645"/>
                  </a:lnTo>
                  <a:lnTo>
                    <a:pt x="532504" y="1130782"/>
                  </a:lnTo>
                  <a:lnTo>
                    <a:pt x="483377" y="1078698"/>
                  </a:lnTo>
                  <a:lnTo>
                    <a:pt x="431297" y="1029566"/>
                  </a:lnTo>
                  <a:lnTo>
                    <a:pt x="376437" y="983560"/>
                  </a:lnTo>
                  <a:lnTo>
                    <a:pt x="318989" y="940830"/>
                  </a:lnTo>
                  <a:lnTo>
                    <a:pt x="259143" y="901527"/>
                  </a:lnTo>
                  <a:lnTo>
                    <a:pt x="197108" y="865780"/>
                  </a:lnTo>
                  <a:lnTo>
                    <a:pt x="133092" y="833716"/>
                  </a:lnTo>
                  <a:lnTo>
                    <a:pt x="67315" y="805438"/>
                  </a:lnTo>
                  <a:lnTo>
                    <a:pt x="0" y="781050"/>
                  </a:lnTo>
                  <a:lnTo>
                    <a:pt x="33850" y="769341"/>
                  </a:lnTo>
                  <a:lnTo>
                    <a:pt x="100396" y="743008"/>
                  </a:lnTo>
                  <a:lnTo>
                    <a:pt x="165348" y="712812"/>
                  </a:lnTo>
                  <a:lnTo>
                    <a:pt x="228373" y="678906"/>
                  </a:lnTo>
                  <a:lnTo>
                    <a:pt x="289366" y="641349"/>
                  </a:lnTo>
                  <a:lnTo>
                    <a:pt x="348012" y="600333"/>
                  </a:lnTo>
                  <a:lnTo>
                    <a:pt x="404214" y="555926"/>
                  </a:lnTo>
                  <a:lnTo>
                    <a:pt x="457684" y="508358"/>
                  </a:lnTo>
                  <a:lnTo>
                    <a:pt x="508331" y="457707"/>
                  </a:lnTo>
                  <a:lnTo>
                    <a:pt x="555895" y="404233"/>
                  </a:lnTo>
                  <a:lnTo>
                    <a:pt x="600297" y="348027"/>
                  </a:lnTo>
                  <a:lnTo>
                    <a:pt x="641309" y="289377"/>
                  </a:lnTo>
                  <a:lnTo>
                    <a:pt x="678861" y="228382"/>
                  </a:lnTo>
                  <a:lnTo>
                    <a:pt x="712761" y="165353"/>
                  </a:lnTo>
                  <a:lnTo>
                    <a:pt x="742952" y="100399"/>
                  </a:lnTo>
                  <a:lnTo>
                    <a:pt x="769280" y="33851"/>
                  </a:lnTo>
                  <a:lnTo>
                    <a:pt x="780985" y="0"/>
                  </a:lnTo>
                  <a:lnTo>
                    <a:pt x="792690" y="33850"/>
                  </a:lnTo>
                  <a:lnTo>
                    <a:pt x="819017" y="100398"/>
                  </a:lnTo>
                  <a:lnTo>
                    <a:pt x="849207" y="165352"/>
                  </a:lnTo>
                  <a:lnTo>
                    <a:pt x="883106" y="228380"/>
                  </a:lnTo>
                  <a:lnTo>
                    <a:pt x="920657" y="289374"/>
                  </a:lnTo>
                  <a:lnTo>
                    <a:pt x="961668" y="348024"/>
                  </a:lnTo>
                  <a:lnTo>
                    <a:pt x="1006068" y="404230"/>
                  </a:lnTo>
                  <a:lnTo>
                    <a:pt x="1053631" y="457703"/>
                  </a:lnTo>
                  <a:lnTo>
                    <a:pt x="1104276" y="508354"/>
                  </a:lnTo>
                  <a:lnTo>
                    <a:pt x="1157745" y="555923"/>
                  </a:lnTo>
                  <a:lnTo>
                    <a:pt x="1213946" y="600329"/>
                  </a:lnTo>
                  <a:lnTo>
                    <a:pt x="1272591" y="641346"/>
                  </a:lnTo>
                  <a:lnTo>
                    <a:pt x="1333582" y="678904"/>
                  </a:lnTo>
                  <a:lnTo>
                    <a:pt x="1396606" y="712810"/>
                  </a:lnTo>
                  <a:lnTo>
                    <a:pt x="1461557" y="743007"/>
                  </a:lnTo>
                  <a:lnTo>
                    <a:pt x="1528101" y="769341"/>
                  </a:lnTo>
                  <a:lnTo>
                    <a:pt x="1561951" y="781050"/>
                  </a:lnTo>
                  <a:lnTo>
                    <a:pt x="1528101" y="792758"/>
                  </a:lnTo>
                  <a:lnTo>
                    <a:pt x="1461556" y="819092"/>
                  </a:lnTo>
                  <a:lnTo>
                    <a:pt x="1396606" y="849289"/>
                  </a:lnTo>
                  <a:lnTo>
                    <a:pt x="1333582" y="883195"/>
                  </a:lnTo>
                  <a:lnTo>
                    <a:pt x="1272591" y="920753"/>
                  </a:lnTo>
                  <a:lnTo>
                    <a:pt x="1213945" y="961770"/>
                  </a:lnTo>
                  <a:lnTo>
                    <a:pt x="1157745" y="1006176"/>
                  </a:lnTo>
                  <a:lnTo>
                    <a:pt x="1104276" y="1053745"/>
                  </a:lnTo>
                  <a:lnTo>
                    <a:pt x="1053631" y="1104396"/>
                  </a:lnTo>
                  <a:lnTo>
                    <a:pt x="1006068" y="1157870"/>
                  </a:lnTo>
                  <a:lnTo>
                    <a:pt x="961668" y="1214075"/>
                  </a:lnTo>
                  <a:lnTo>
                    <a:pt x="920657" y="1272725"/>
                  </a:lnTo>
                  <a:lnTo>
                    <a:pt x="883106" y="1333720"/>
                  </a:lnTo>
                  <a:lnTo>
                    <a:pt x="849207" y="1396748"/>
                  </a:lnTo>
                  <a:lnTo>
                    <a:pt x="819017" y="1461701"/>
                  </a:lnTo>
                  <a:lnTo>
                    <a:pt x="792690" y="1528249"/>
                  </a:lnTo>
                  <a:lnTo>
                    <a:pt x="780985" y="1562100"/>
                  </a:lnTo>
                  <a:close/>
                </a:path>
              </a:pathLst>
            </a:custGeom>
            <a:solidFill>
              <a:schemeClr val="accent6">
                <a:lumMod val="60000"/>
                <a:lumOff val="40000"/>
              </a:schemeClr>
            </a:solidFill>
          </p:spPr>
          <p:txBody>
            <a:bodyPr wrap="square" lIns="0" tIns="0" rIns="0" bIns="0" rtlCol="0"/>
            <a:lstStyle/>
            <a:p>
              <a:endParaRPr dirty="0"/>
            </a:p>
          </p:txBody>
        </p:sp>
      </p:grpSp>
    </p:spTree>
    <p:extLst>
      <p:ext uri="{BB962C8B-B14F-4D97-AF65-F5344CB8AC3E}">
        <p14:creationId xmlns:p14="http://schemas.microsoft.com/office/powerpoint/2010/main" val="30271383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16975712" y="9648680"/>
            <a:ext cx="1233805" cy="375103"/>
          </a:xfrm>
          <a:prstGeom prst="rect">
            <a:avLst/>
          </a:prstGeom>
        </p:spPr>
        <p:txBody>
          <a:bodyPr vert="horz" wrap="square" lIns="0" tIns="66675" rIns="0" bIns="0" rtlCol="0">
            <a:spAutoFit/>
          </a:bodyPr>
          <a:lstStyle/>
          <a:p>
            <a:pPr marL="12700">
              <a:lnSpc>
                <a:spcPct val="100000"/>
              </a:lnSpc>
              <a:spcBef>
                <a:spcPts val="525"/>
              </a:spcBef>
            </a:pPr>
            <a:endParaRPr sz="2000" dirty="0">
              <a:latin typeface="Lucida Sans Unicode"/>
              <a:cs typeface="Lucida Sans Unicode"/>
            </a:endParaRPr>
          </a:p>
        </p:txBody>
      </p:sp>
      <p:grpSp>
        <p:nvGrpSpPr>
          <p:cNvPr id="6" name="object 3">
            <a:extLst>
              <a:ext uri="{FF2B5EF4-FFF2-40B4-BE49-F238E27FC236}">
                <a16:creationId xmlns:a16="http://schemas.microsoft.com/office/drawing/2014/main" id="{637FEA41-C2AC-1214-3AA5-4893253BF50B}"/>
              </a:ext>
            </a:extLst>
          </p:cNvPr>
          <p:cNvGrpSpPr/>
          <p:nvPr/>
        </p:nvGrpSpPr>
        <p:grpSpPr>
          <a:xfrm>
            <a:off x="0" y="0"/>
            <a:ext cx="4814047" cy="10287000"/>
            <a:chOff x="-375" y="0"/>
            <a:chExt cx="4108450" cy="10287000"/>
          </a:xfrm>
          <a:solidFill>
            <a:schemeClr val="bg2">
              <a:lumMod val="25000"/>
            </a:schemeClr>
          </a:solidFill>
        </p:grpSpPr>
        <p:sp>
          <p:nvSpPr>
            <p:cNvPr id="7" name="object 4">
              <a:extLst>
                <a:ext uri="{FF2B5EF4-FFF2-40B4-BE49-F238E27FC236}">
                  <a16:creationId xmlns:a16="http://schemas.microsoft.com/office/drawing/2014/main" id="{52D461BC-6FC5-665B-9FEE-9F0F0EC057D6}"/>
                </a:ext>
              </a:extLst>
            </p:cNvPr>
            <p:cNvSpPr/>
            <p:nvPr/>
          </p:nvSpPr>
          <p:spPr>
            <a:xfrm>
              <a:off x="-375" y="0"/>
              <a:ext cx="3327400" cy="10287000"/>
            </a:xfrm>
            <a:custGeom>
              <a:avLst/>
              <a:gdLst/>
              <a:ahLst/>
              <a:cxnLst/>
              <a:rect l="l" t="t" r="r" b="b"/>
              <a:pathLst>
                <a:path w="3327400" h="10287000">
                  <a:moveTo>
                    <a:pt x="0" y="10287000"/>
                  </a:moveTo>
                  <a:lnTo>
                    <a:pt x="0" y="0"/>
                  </a:lnTo>
                  <a:lnTo>
                    <a:pt x="3327201" y="0"/>
                  </a:lnTo>
                  <a:lnTo>
                    <a:pt x="3327201" y="10287000"/>
                  </a:lnTo>
                  <a:lnTo>
                    <a:pt x="0" y="10287000"/>
                  </a:lnTo>
                  <a:close/>
                </a:path>
              </a:pathLst>
            </a:custGeom>
            <a:grpFill/>
          </p:spPr>
          <p:txBody>
            <a:bodyPr wrap="square" lIns="0" tIns="0" rIns="0" bIns="0" rtlCol="0"/>
            <a:lstStyle/>
            <a:p>
              <a:endParaRPr/>
            </a:p>
          </p:txBody>
        </p:sp>
        <p:sp>
          <p:nvSpPr>
            <p:cNvPr id="8" name="object 5">
              <a:extLst>
                <a:ext uri="{FF2B5EF4-FFF2-40B4-BE49-F238E27FC236}">
                  <a16:creationId xmlns:a16="http://schemas.microsoft.com/office/drawing/2014/main" id="{84C079DE-230E-D1F1-1D0C-666E81404CAB}"/>
                </a:ext>
              </a:extLst>
            </p:cNvPr>
            <p:cNvSpPr/>
            <p:nvPr/>
          </p:nvSpPr>
          <p:spPr>
            <a:xfrm>
              <a:off x="2545975" y="476250"/>
              <a:ext cx="1562100" cy="1562100"/>
            </a:xfrm>
            <a:custGeom>
              <a:avLst/>
              <a:gdLst/>
              <a:ahLst/>
              <a:cxnLst/>
              <a:rect l="l" t="t" r="r" b="b"/>
              <a:pathLst>
                <a:path w="1562100" h="1562100">
                  <a:moveTo>
                    <a:pt x="780985" y="1562100"/>
                  </a:moveTo>
                  <a:lnTo>
                    <a:pt x="756602" y="1494782"/>
                  </a:lnTo>
                  <a:lnTo>
                    <a:pt x="728330" y="1429003"/>
                  </a:lnTo>
                  <a:lnTo>
                    <a:pt x="696271" y="1364984"/>
                  </a:lnTo>
                  <a:lnTo>
                    <a:pt x="660529" y="1302946"/>
                  </a:lnTo>
                  <a:lnTo>
                    <a:pt x="621231" y="1243097"/>
                  </a:lnTo>
                  <a:lnTo>
                    <a:pt x="578506" y="1185645"/>
                  </a:lnTo>
                  <a:lnTo>
                    <a:pt x="532504" y="1130782"/>
                  </a:lnTo>
                  <a:lnTo>
                    <a:pt x="483377" y="1078698"/>
                  </a:lnTo>
                  <a:lnTo>
                    <a:pt x="431297" y="1029566"/>
                  </a:lnTo>
                  <a:lnTo>
                    <a:pt x="376437" y="983560"/>
                  </a:lnTo>
                  <a:lnTo>
                    <a:pt x="318989" y="940830"/>
                  </a:lnTo>
                  <a:lnTo>
                    <a:pt x="259143" y="901527"/>
                  </a:lnTo>
                  <a:lnTo>
                    <a:pt x="197108" y="865780"/>
                  </a:lnTo>
                  <a:lnTo>
                    <a:pt x="133092" y="833716"/>
                  </a:lnTo>
                  <a:lnTo>
                    <a:pt x="67315" y="805438"/>
                  </a:lnTo>
                  <a:lnTo>
                    <a:pt x="0" y="781050"/>
                  </a:lnTo>
                  <a:lnTo>
                    <a:pt x="33850" y="769341"/>
                  </a:lnTo>
                  <a:lnTo>
                    <a:pt x="100396" y="743008"/>
                  </a:lnTo>
                  <a:lnTo>
                    <a:pt x="165348" y="712812"/>
                  </a:lnTo>
                  <a:lnTo>
                    <a:pt x="228373" y="678906"/>
                  </a:lnTo>
                  <a:lnTo>
                    <a:pt x="289366" y="641349"/>
                  </a:lnTo>
                  <a:lnTo>
                    <a:pt x="348012" y="600333"/>
                  </a:lnTo>
                  <a:lnTo>
                    <a:pt x="404214" y="555926"/>
                  </a:lnTo>
                  <a:lnTo>
                    <a:pt x="457684" y="508358"/>
                  </a:lnTo>
                  <a:lnTo>
                    <a:pt x="508331" y="457707"/>
                  </a:lnTo>
                  <a:lnTo>
                    <a:pt x="555895" y="404233"/>
                  </a:lnTo>
                  <a:lnTo>
                    <a:pt x="600297" y="348027"/>
                  </a:lnTo>
                  <a:lnTo>
                    <a:pt x="641309" y="289377"/>
                  </a:lnTo>
                  <a:lnTo>
                    <a:pt x="678861" y="228382"/>
                  </a:lnTo>
                  <a:lnTo>
                    <a:pt x="712761" y="165353"/>
                  </a:lnTo>
                  <a:lnTo>
                    <a:pt x="742952" y="100399"/>
                  </a:lnTo>
                  <a:lnTo>
                    <a:pt x="769280" y="33851"/>
                  </a:lnTo>
                  <a:lnTo>
                    <a:pt x="780985" y="0"/>
                  </a:lnTo>
                  <a:lnTo>
                    <a:pt x="792690" y="33850"/>
                  </a:lnTo>
                  <a:lnTo>
                    <a:pt x="819017" y="100398"/>
                  </a:lnTo>
                  <a:lnTo>
                    <a:pt x="849207" y="165352"/>
                  </a:lnTo>
                  <a:lnTo>
                    <a:pt x="883106" y="228380"/>
                  </a:lnTo>
                  <a:lnTo>
                    <a:pt x="920657" y="289374"/>
                  </a:lnTo>
                  <a:lnTo>
                    <a:pt x="961668" y="348024"/>
                  </a:lnTo>
                  <a:lnTo>
                    <a:pt x="1006068" y="404230"/>
                  </a:lnTo>
                  <a:lnTo>
                    <a:pt x="1053631" y="457703"/>
                  </a:lnTo>
                  <a:lnTo>
                    <a:pt x="1104276" y="508354"/>
                  </a:lnTo>
                  <a:lnTo>
                    <a:pt x="1157745" y="555923"/>
                  </a:lnTo>
                  <a:lnTo>
                    <a:pt x="1213946" y="600329"/>
                  </a:lnTo>
                  <a:lnTo>
                    <a:pt x="1272591" y="641346"/>
                  </a:lnTo>
                  <a:lnTo>
                    <a:pt x="1333582" y="678904"/>
                  </a:lnTo>
                  <a:lnTo>
                    <a:pt x="1396606" y="712810"/>
                  </a:lnTo>
                  <a:lnTo>
                    <a:pt x="1461557" y="743007"/>
                  </a:lnTo>
                  <a:lnTo>
                    <a:pt x="1528101" y="769341"/>
                  </a:lnTo>
                  <a:lnTo>
                    <a:pt x="1561951" y="781050"/>
                  </a:lnTo>
                  <a:lnTo>
                    <a:pt x="1528101" y="792758"/>
                  </a:lnTo>
                  <a:lnTo>
                    <a:pt x="1461556" y="819092"/>
                  </a:lnTo>
                  <a:lnTo>
                    <a:pt x="1396606" y="849289"/>
                  </a:lnTo>
                  <a:lnTo>
                    <a:pt x="1333582" y="883195"/>
                  </a:lnTo>
                  <a:lnTo>
                    <a:pt x="1272591" y="920753"/>
                  </a:lnTo>
                  <a:lnTo>
                    <a:pt x="1213945" y="961770"/>
                  </a:lnTo>
                  <a:lnTo>
                    <a:pt x="1157745" y="1006176"/>
                  </a:lnTo>
                  <a:lnTo>
                    <a:pt x="1104276" y="1053745"/>
                  </a:lnTo>
                  <a:lnTo>
                    <a:pt x="1053631" y="1104396"/>
                  </a:lnTo>
                  <a:lnTo>
                    <a:pt x="1006068" y="1157870"/>
                  </a:lnTo>
                  <a:lnTo>
                    <a:pt x="961668" y="1214075"/>
                  </a:lnTo>
                  <a:lnTo>
                    <a:pt x="920657" y="1272725"/>
                  </a:lnTo>
                  <a:lnTo>
                    <a:pt x="883106" y="1333720"/>
                  </a:lnTo>
                  <a:lnTo>
                    <a:pt x="849207" y="1396748"/>
                  </a:lnTo>
                  <a:lnTo>
                    <a:pt x="819017" y="1461701"/>
                  </a:lnTo>
                  <a:lnTo>
                    <a:pt x="792690" y="1528249"/>
                  </a:lnTo>
                  <a:lnTo>
                    <a:pt x="780985" y="1562100"/>
                  </a:lnTo>
                  <a:close/>
                </a:path>
              </a:pathLst>
            </a:custGeom>
            <a:solidFill>
              <a:schemeClr val="bg2">
                <a:lumMod val="50000"/>
              </a:schemeClr>
            </a:solidFill>
          </p:spPr>
          <p:txBody>
            <a:bodyPr wrap="square" lIns="0" tIns="0" rIns="0" bIns="0" rtlCol="0"/>
            <a:lstStyle/>
            <a:p>
              <a:endParaRPr dirty="0"/>
            </a:p>
          </p:txBody>
        </p:sp>
      </p:grpSp>
      <p:sp>
        <p:nvSpPr>
          <p:cNvPr id="3" name="Rectangle 2">
            <a:extLst>
              <a:ext uri="{FF2B5EF4-FFF2-40B4-BE49-F238E27FC236}">
                <a16:creationId xmlns:a16="http://schemas.microsoft.com/office/drawing/2014/main" id="{E4327DC4-59C8-E15F-5401-71D6E5D1EDCE}"/>
              </a:ext>
            </a:extLst>
          </p:cNvPr>
          <p:cNvSpPr/>
          <p:nvPr/>
        </p:nvSpPr>
        <p:spPr>
          <a:xfrm>
            <a:off x="4516741" y="2141173"/>
            <a:ext cx="13253169" cy="6740307"/>
          </a:xfrm>
          <a:prstGeom prst="rect">
            <a:avLst/>
          </a:prstGeom>
          <a:noFill/>
        </p:spPr>
        <p:txBody>
          <a:bodyPr wrap="square" lIns="91440" tIns="45720" rIns="91440" bIns="45720">
            <a:spAutoFit/>
          </a:bodyPr>
          <a:lstStyle/>
          <a:p>
            <a:r>
              <a:rPr lang="en-US" sz="2400" b="0" cap="none" spc="0" dirty="0">
                <a:ln w="0"/>
                <a:solidFill>
                  <a:schemeClr val="bg2">
                    <a:lumMod val="25000"/>
                  </a:schemeClr>
                </a:solidFill>
                <a:effectLst>
                  <a:outerShdw blurRad="38100" dist="19050" dir="2700000" algn="tl" rotWithShape="0">
                    <a:schemeClr val="dk1">
                      <a:alpha val="40000"/>
                    </a:schemeClr>
                  </a:outerShdw>
                </a:effectLst>
              </a:rPr>
              <a:t>The main problem is the requirement to use strictly the signals of a certain length for FFT, and the signal length in the samples should be 2 raised to some power. It’s possible to make FFT with array of 1024 (512 or 2048) signal points but not of 1000 (500 or 2000) points. As a result a simple calibration signal of 1KHz frequency, shot on the sampling rate of 10 MHz, cannot be subject to FFT on its period length which will compose 1000 points in these terms. There can be two variants: you will have to use a bigger area for the analysis – 1.024 of the signal period (in that case the signal spectrum will be distorted, because FFT should be made exactly on the area of the signal period or the area multiple to it) or to make the oversampling of 1000-pointed signal to the virtual sampling rate of 10.24 MHz (in this case there is a possibility to distort waveform due to the interpolation used, that will also cause the signal spectrum distortion).</a:t>
            </a:r>
          </a:p>
          <a:p>
            <a:endParaRPr lang="en-US" sz="2400" b="0" cap="none" spc="0" dirty="0">
              <a:ln w="0"/>
              <a:solidFill>
                <a:schemeClr val="bg2">
                  <a:lumMod val="25000"/>
                </a:schemeClr>
              </a:solidFill>
              <a:effectLst>
                <a:outerShdw blurRad="38100" dist="19050" dir="2700000" algn="tl" rotWithShape="0">
                  <a:schemeClr val="dk1">
                    <a:alpha val="40000"/>
                  </a:schemeClr>
                </a:outerShdw>
              </a:effectLst>
            </a:endParaRPr>
          </a:p>
          <a:p>
            <a:r>
              <a:rPr lang="en-US" sz="2400" b="0" cap="none" spc="0" dirty="0">
                <a:ln w="0"/>
                <a:solidFill>
                  <a:schemeClr val="bg2">
                    <a:lumMod val="25000"/>
                  </a:schemeClr>
                </a:solidFill>
                <a:effectLst>
                  <a:outerShdw blurRad="38100" dist="19050" dir="2700000" algn="tl" rotWithShape="0">
                    <a:schemeClr val="dk1">
                      <a:alpha val="40000"/>
                    </a:schemeClr>
                  </a:outerShdw>
                </a:effectLst>
              </a:rPr>
              <a:t>Another problem is the waveform discreteness. The signal can be measured in the certain points of time and the information about its condition in the intervals between these points is absent. As a result simple waveform instability across of ±1 sample, when the sampling rate is relatively low, can cause visual distortion. For example, on a oscilloscope display with the length of 1024 points there are 20-30 periods of the signal under investigation. That will correspond to 30-50 measurement points for one period, i.e. the error in 1-2 samples causes the error of FFT period of 2-7% which will be expressed in significant false artifacts on the spectrum image.</a:t>
            </a:r>
          </a:p>
        </p:txBody>
      </p:sp>
      <p:sp>
        <p:nvSpPr>
          <p:cNvPr id="5" name="Rectangle 4">
            <a:extLst>
              <a:ext uri="{FF2B5EF4-FFF2-40B4-BE49-F238E27FC236}">
                <a16:creationId xmlns:a16="http://schemas.microsoft.com/office/drawing/2014/main" id="{72E2C32F-59D7-B91A-D81D-A5BE0BBAADC1}"/>
              </a:ext>
            </a:extLst>
          </p:cNvPr>
          <p:cNvSpPr/>
          <p:nvPr/>
        </p:nvSpPr>
        <p:spPr>
          <a:xfrm>
            <a:off x="6518919" y="876300"/>
            <a:ext cx="9248814" cy="923330"/>
          </a:xfrm>
          <a:prstGeom prst="rect">
            <a:avLst/>
          </a:prstGeom>
          <a:noFill/>
        </p:spPr>
        <p:txBody>
          <a:bodyPr wrap="none" lIns="91440" tIns="45720" rIns="91440" bIns="45720">
            <a:spAutoFit/>
          </a:bodyPr>
          <a:lstStyle/>
          <a:p>
            <a:pPr algn="ctr"/>
            <a:r>
              <a:rPr lang="en-US" sz="5400" b="0" cap="none" spc="0" dirty="0">
                <a:ln w="0"/>
                <a:solidFill>
                  <a:schemeClr val="bg2">
                    <a:lumMod val="50000"/>
                  </a:schemeClr>
                </a:solidFill>
                <a:effectLst>
                  <a:outerShdw blurRad="38100" dist="19050" dir="2700000" algn="tl" rotWithShape="0">
                    <a:schemeClr val="dk1">
                      <a:alpha val="40000"/>
                    </a:schemeClr>
                  </a:outerShdw>
                </a:effectLst>
              </a:rPr>
              <a:t>Pitfalls of Fast Fourier Transform</a:t>
            </a:r>
          </a:p>
        </p:txBody>
      </p:sp>
      <p:sp>
        <p:nvSpPr>
          <p:cNvPr id="9" name="Rectangle 8">
            <a:extLst>
              <a:ext uri="{FF2B5EF4-FFF2-40B4-BE49-F238E27FC236}">
                <a16:creationId xmlns:a16="http://schemas.microsoft.com/office/drawing/2014/main" id="{8030085B-A705-726C-1063-1D72B4E96309}"/>
              </a:ext>
            </a:extLst>
          </p:cNvPr>
          <p:cNvSpPr/>
          <p:nvPr/>
        </p:nvSpPr>
        <p:spPr>
          <a:xfrm>
            <a:off x="9525000" y="9279348"/>
            <a:ext cx="7916270"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Source: https://www.tmatlantic.com/encyclopedia/index.php?ELEMENT_ID=14944</a:t>
            </a:r>
          </a:p>
        </p:txBody>
      </p:sp>
    </p:spTree>
    <p:extLst>
      <p:ext uri="{BB962C8B-B14F-4D97-AF65-F5344CB8AC3E}">
        <p14:creationId xmlns:p14="http://schemas.microsoft.com/office/powerpoint/2010/main" val="25362528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094E4F-0A05-86F8-8451-EAF3EFDB36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68822" y="2979385"/>
            <a:ext cx="3901982" cy="4648200"/>
          </a:xfrm>
          <a:prstGeom prst="rect">
            <a:avLst/>
          </a:prstGeom>
        </p:spPr>
      </p:pic>
      <p:pic>
        <p:nvPicPr>
          <p:cNvPr id="5" name="Picture 4">
            <a:extLst>
              <a:ext uri="{FF2B5EF4-FFF2-40B4-BE49-F238E27FC236}">
                <a16:creationId xmlns:a16="http://schemas.microsoft.com/office/drawing/2014/main" id="{19697CC8-412F-C07E-8CC6-73C812FE2A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44200" y="2385391"/>
            <a:ext cx="5638800" cy="5516218"/>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sp>
        <p:nvSpPr>
          <p:cNvPr id="2" name="Rectangle 1">
            <a:extLst>
              <a:ext uri="{FF2B5EF4-FFF2-40B4-BE49-F238E27FC236}">
                <a16:creationId xmlns:a16="http://schemas.microsoft.com/office/drawing/2014/main" id="{ED1EA8E5-20F9-1CBE-F40B-6F25A1BF8C9E}"/>
              </a:ext>
            </a:extLst>
          </p:cNvPr>
          <p:cNvSpPr/>
          <p:nvPr/>
        </p:nvSpPr>
        <p:spPr>
          <a:xfrm>
            <a:off x="3958389" y="703051"/>
            <a:ext cx="10321608" cy="923330"/>
          </a:xfrm>
          <a:prstGeom prst="rect">
            <a:avLst/>
          </a:prstGeom>
          <a:noFill/>
        </p:spPr>
        <p:txBody>
          <a:bodyPr wrap="none" lIns="91440" tIns="45720" rIns="91440" bIns="45720">
            <a:spAutoFit/>
          </a:bodyPr>
          <a:lstStyle/>
          <a:p>
            <a:pPr algn="ctr"/>
            <a:r>
              <a:rPr lang="en-US" sz="5400" dirty="0">
                <a:ln w="0"/>
                <a:solidFill>
                  <a:schemeClr val="accent3">
                    <a:lumMod val="50000"/>
                  </a:schemeClr>
                </a:solidFill>
                <a:effectLst>
                  <a:outerShdw blurRad="38100" dist="19050" dir="2700000" algn="tl" rotWithShape="0">
                    <a:schemeClr val="dk1">
                      <a:alpha val="40000"/>
                    </a:schemeClr>
                  </a:outerShdw>
                </a:effectLst>
              </a:rPr>
              <a:t>FFT’s Use in Restoring Noisy Images:</a:t>
            </a:r>
            <a:endParaRPr lang="en-US" sz="5400" b="0" cap="none" spc="0" dirty="0">
              <a:ln w="0"/>
              <a:solidFill>
                <a:schemeClr val="accent3">
                  <a:lumMod val="50000"/>
                </a:schemeClr>
              </a:solidFill>
              <a:effectLst>
                <a:outerShdw blurRad="38100" dist="19050" dir="2700000" algn="tl" rotWithShape="0">
                  <a:schemeClr val="dk1">
                    <a:alpha val="40000"/>
                  </a:schemeClr>
                </a:outerShdw>
              </a:effectLst>
            </a:endParaRPr>
          </a:p>
        </p:txBody>
      </p:sp>
      <p:sp>
        <p:nvSpPr>
          <p:cNvPr id="4" name="Rectangle 3">
            <a:extLst>
              <a:ext uri="{FF2B5EF4-FFF2-40B4-BE49-F238E27FC236}">
                <a16:creationId xmlns:a16="http://schemas.microsoft.com/office/drawing/2014/main" id="{CA95597F-EDAB-EC09-9F78-0A20C4B0D40A}"/>
              </a:ext>
            </a:extLst>
          </p:cNvPr>
          <p:cNvSpPr/>
          <p:nvPr/>
        </p:nvSpPr>
        <p:spPr>
          <a:xfrm>
            <a:off x="3962400" y="8496300"/>
            <a:ext cx="14189242" cy="1569660"/>
          </a:xfrm>
          <a:prstGeom prst="rect">
            <a:avLst/>
          </a:prstGeom>
          <a:noFill/>
        </p:spPr>
        <p:txBody>
          <a:bodyPr wrap="square" lIns="91440" tIns="45720" rIns="91440" bIns="45720">
            <a:spAutoFit/>
          </a:bodyPr>
          <a:lstStyle/>
          <a:p>
            <a:r>
              <a:rPr lang="en-US" sz="3200" b="0" cap="none" spc="0" dirty="0">
                <a:ln w="0"/>
                <a:solidFill>
                  <a:schemeClr val="accent3">
                    <a:lumMod val="75000"/>
                  </a:schemeClr>
                </a:solidFill>
                <a:effectLst>
                  <a:outerShdw blurRad="38100" dist="19050" dir="2700000" algn="tl" rotWithShape="0">
                    <a:schemeClr val="dk1">
                      <a:alpha val="40000"/>
                    </a:schemeClr>
                  </a:outerShdw>
                </a:effectLst>
              </a:rPr>
              <a:t>By doing FFT we can distinguish the noise frequency from the normal ones easily and by removing that noise frequency we can restore an image to its original form. So in the modern era FFT is one of the most important tools for noise reduction.</a:t>
            </a:r>
          </a:p>
        </p:txBody>
      </p:sp>
      <p:grpSp>
        <p:nvGrpSpPr>
          <p:cNvPr id="6" name="object 3">
            <a:extLst>
              <a:ext uri="{FF2B5EF4-FFF2-40B4-BE49-F238E27FC236}">
                <a16:creationId xmlns:a16="http://schemas.microsoft.com/office/drawing/2014/main" id="{2FE885B8-1A7A-CC6B-8E2D-1D79BD42753B}"/>
              </a:ext>
            </a:extLst>
          </p:cNvPr>
          <p:cNvGrpSpPr/>
          <p:nvPr/>
        </p:nvGrpSpPr>
        <p:grpSpPr>
          <a:xfrm>
            <a:off x="0" y="0"/>
            <a:ext cx="4108450" cy="10287000"/>
            <a:chOff x="-375" y="0"/>
            <a:chExt cx="4108450" cy="10287000"/>
          </a:xfrm>
          <a:solidFill>
            <a:schemeClr val="accent3">
              <a:lumMod val="75000"/>
            </a:schemeClr>
          </a:solidFill>
        </p:grpSpPr>
        <p:sp>
          <p:nvSpPr>
            <p:cNvPr id="7" name="object 4">
              <a:extLst>
                <a:ext uri="{FF2B5EF4-FFF2-40B4-BE49-F238E27FC236}">
                  <a16:creationId xmlns:a16="http://schemas.microsoft.com/office/drawing/2014/main" id="{57457233-5321-BE10-1693-AF2F8116EFEF}"/>
                </a:ext>
              </a:extLst>
            </p:cNvPr>
            <p:cNvSpPr/>
            <p:nvPr/>
          </p:nvSpPr>
          <p:spPr>
            <a:xfrm>
              <a:off x="-375" y="0"/>
              <a:ext cx="3327400" cy="10287000"/>
            </a:xfrm>
            <a:custGeom>
              <a:avLst/>
              <a:gdLst/>
              <a:ahLst/>
              <a:cxnLst/>
              <a:rect l="l" t="t" r="r" b="b"/>
              <a:pathLst>
                <a:path w="3327400" h="10287000">
                  <a:moveTo>
                    <a:pt x="0" y="10287000"/>
                  </a:moveTo>
                  <a:lnTo>
                    <a:pt x="0" y="0"/>
                  </a:lnTo>
                  <a:lnTo>
                    <a:pt x="3327201" y="0"/>
                  </a:lnTo>
                  <a:lnTo>
                    <a:pt x="3327201" y="10287000"/>
                  </a:lnTo>
                  <a:lnTo>
                    <a:pt x="0" y="10287000"/>
                  </a:lnTo>
                  <a:close/>
                </a:path>
              </a:pathLst>
            </a:custGeom>
            <a:grpFill/>
          </p:spPr>
          <p:txBody>
            <a:bodyPr wrap="square" lIns="0" tIns="0" rIns="0" bIns="0" rtlCol="0"/>
            <a:lstStyle/>
            <a:p>
              <a:endParaRPr/>
            </a:p>
          </p:txBody>
        </p:sp>
        <p:sp>
          <p:nvSpPr>
            <p:cNvPr id="8" name="object 5">
              <a:extLst>
                <a:ext uri="{FF2B5EF4-FFF2-40B4-BE49-F238E27FC236}">
                  <a16:creationId xmlns:a16="http://schemas.microsoft.com/office/drawing/2014/main" id="{472FBB41-EDFA-F9E1-5013-04B23C6946B8}"/>
                </a:ext>
              </a:extLst>
            </p:cNvPr>
            <p:cNvSpPr/>
            <p:nvPr/>
          </p:nvSpPr>
          <p:spPr>
            <a:xfrm>
              <a:off x="2545975" y="476250"/>
              <a:ext cx="1562100" cy="1562100"/>
            </a:xfrm>
            <a:custGeom>
              <a:avLst/>
              <a:gdLst/>
              <a:ahLst/>
              <a:cxnLst/>
              <a:rect l="l" t="t" r="r" b="b"/>
              <a:pathLst>
                <a:path w="1562100" h="1562100">
                  <a:moveTo>
                    <a:pt x="780985" y="1562100"/>
                  </a:moveTo>
                  <a:lnTo>
                    <a:pt x="756602" y="1494782"/>
                  </a:lnTo>
                  <a:lnTo>
                    <a:pt x="728330" y="1429003"/>
                  </a:lnTo>
                  <a:lnTo>
                    <a:pt x="696271" y="1364984"/>
                  </a:lnTo>
                  <a:lnTo>
                    <a:pt x="660529" y="1302946"/>
                  </a:lnTo>
                  <a:lnTo>
                    <a:pt x="621231" y="1243097"/>
                  </a:lnTo>
                  <a:lnTo>
                    <a:pt x="578506" y="1185645"/>
                  </a:lnTo>
                  <a:lnTo>
                    <a:pt x="532504" y="1130782"/>
                  </a:lnTo>
                  <a:lnTo>
                    <a:pt x="483377" y="1078698"/>
                  </a:lnTo>
                  <a:lnTo>
                    <a:pt x="431297" y="1029566"/>
                  </a:lnTo>
                  <a:lnTo>
                    <a:pt x="376437" y="983560"/>
                  </a:lnTo>
                  <a:lnTo>
                    <a:pt x="318989" y="940830"/>
                  </a:lnTo>
                  <a:lnTo>
                    <a:pt x="259143" y="901527"/>
                  </a:lnTo>
                  <a:lnTo>
                    <a:pt x="197108" y="865780"/>
                  </a:lnTo>
                  <a:lnTo>
                    <a:pt x="133092" y="833716"/>
                  </a:lnTo>
                  <a:lnTo>
                    <a:pt x="67315" y="805438"/>
                  </a:lnTo>
                  <a:lnTo>
                    <a:pt x="0" y="781050"/>
                  </a:lnTo>
                  <a:lnTo>
                    <a:pt x="33850" y="769341"/>
                  </a:lnTo>
                  <a:lnTo>
                    <a:pt x="100396" y="743008"/>
                  </a:lnTo>
                  <a:lnTo>
                    <a:pt x="165348" y="712812"/>
                  </a:lnTo>
                  <a:lnTo>
                    <a:pt x="228373" y="678906"/>
                  </a:lnTo>
                  <a:lnTo>
                    <a:pt x="289366" y="641349"/>
                  </a:lnTo>
                  <a:lnTo>
                    <a:pt x="348012" y="600333"/>
                  </a:lnTo>
                  <a:lnTo>
                    <a:pt x="404214" y="555926"/>
                  </a:lnTo>
                  <a:lnTo>
                    <a:pt x="457684" y="508358"/>
                  </a:lnTo>
                  <a:lnTo>
                    <a:pt x="508331" y="457707"/>
                  </a:lnTo>
                  <a:lnTo>
                    <a:pt x="555895" y="404233"/>
                  </a:lnTo>
                  <a:lnTo>
                    <a:pt x="600297" y="348027"/>
                  </a:lnTo>
                  <a:lnTo>
                    <a:pt x="641309" y="289377"/>
                  </a:lnTo>
                  <a:lnTo>
                    <a:pt x="678861" y="228382"/>
                  </a:lnTo>
                  <a:lnTo>
                    <a:pt x="712761" y="165353"/>
                  </a:lnTo>
                  <a:lnTo>
                    <a:pt x="742952" y="100399"/>
                  </a:lnTo>
                  <a:lnTo>
                    <a:pt x="769280" y="33851"/>
                  </a:lnTo>
                  <a:lnTo>
                    <a:pt x="780985" y="0"/>
                  </a:lnTo>
                  <a:lnTo>
                    <a:pt x="792690" y="33850"/>
                  </a:lnTo>
                  <a:lnTo>
                    <a:pt x="819017" y="100398"/>
                  </a:lnTo>
                  <a:lnTo>
                    <a:pt x="849207" y="165352"/>
                  </a:lnTo>
                  <a:lnTo>
                    <a:pt x="883106" y="228380"/>
                  </a:lnTo>
                  <a:lnTo>
                    <a:pt x="920657" y="289374"/>
                  </a:lnTo>
                  <a:lnTo>
                    <a:pt x="961668" y="348024"/>
                  </a:lnTo>
                  <a:lnTo>
                    <a:pt x="1006068" y="404230"/>
                  </a:lnTo>
                  <a:lnTo>
                    <a:pt x="1053631" y="457703"/>
                  </a:lnTo>
                  <a:lnTo>
                    <a:pt x="1104276" y="508354"/>
                  </a:lnTo>
                  <a:lnTo>
                    <a:pt x="1157745" y="555923"/>
                  </a:lnTo>
                  <a:lnTo>
                    <a:pt x="1213946" y="600329"/>
                  </a:lnTo>
                  <a:lnTo>
                    <a:pt x="1272591" y="641346"/>
                  </a:lnTo>
                  <a:lnTo>
                    <a:pt x="1333582" y="678904"/>
                  </a:lnTo>
                  <a:lnTo>
                    <a:pt x="1396606" y="712810"/>
                  </a:lnTo>
                  <a:lnTo>
                    <a:pt x="1461557" y="743007"/>
                  </a:lnTo>
                  <a:lnTo>
                    <a:pt x="1528101" y="769341"/>
                  </a:lnTo>
                  <a:lnTo>
                    <a:pt x="1561951" y="781050"/>
                  </a:lnTo>
                  <a:lnTo>
                    <a:pt x="1528101" y="792758"/>
                  </a:lnTo>
                  <a:lnTo>
                    <a:pt x="1461556" y="819092"/>
                  </a:lnTo>
                  <a:lnTo>
                    <a:pt x="1396606" y="849289"/>
                  </a:lnTo>
                  <a:lnTo>
                    <a:pt x="1333582" y="883195"/>
                  </a:lnTo>
                  <a:lnTo>
                    <a:pt x="1272591" y="920753"/>
                  </a:lnTo>
                  <a:lnTo>
                    <a:pt x="1213945" y="961770"/>
                  </a:lnTo>
                  <a:lnTo>
                    <a:pt x="1157745" y="1006176"/>
                  </a:lnTo>
                  <a:lnTo>
                    <a:pt x="1104276" y="1053745"/>
                  </a:lnTo>
                  <a:lnTo>
                    <a:pt x="1053631" y="1104396"/>
                  </a:lnTo>
                  <a:lnTo>
                    <a:pt x="1006068" y="1157870"/>
                  </a:lnTo>
                  <a:lnTo>
                    <a:pt x="961668" y="1214075"/>
                  </a:lnTo>
                  <a:lnTo>
                    <a:pt x="920657" y="1272725"/>
                  </a:lnTo>
                  <a:lnTo>
                    <a:pt x="883106" y="1333720"/>
                  </a:lnTo>
                  <a:lnTo>
                    <a:pt x="849207" y="1396748"/>
                  </a:lnTo>
                  <a:lnTo>
                    <a:pt x="819017" y="1461701"/>
                  </a:lnTo>
                  <a:lnTo>
                    <a:pt x="792690" y="1528249"/>
                  </a:lnTo>
                  <a:lnTo>
                    <a:pt x="780985" y="1562100"/>
                  </a:lnTo>
                  <a:close/>
                </a:path>
              </a:pathLst>
            </a:custGeom>
            <a:solidFill>
              <a:schemeClr val="accent3">
                <a:lumMod val="50000"/>
              </a:schemeClr>
            </a:solidFill>
          </p:spPr>
          <p:txBody>
            <a:bodyPr wrap="square" lIns="0" tIns="0" rIns="0" bIns="0" rtlCol="0"/>
            <a:lstStyle/>
            <a:p>
              <a:endParaRPr dirty="0"/>
            </a:p>
          </p:txBody>
        </p:sp>
      </p:grpSp>
      <p:sp>
        <p:nvSpPr>
          <p:cNvPr id="9" name="Rectangle 8">
            <a:extLst>
              <a:ext uri="{FF2B5EF4-FFF2-40B4-BE49-F238E27FC236}">
                <a16:creationId xmlns:a16="http://schemas.microsoft.com/office/drawing/2014/main" id="{2DA9C331-C77B-BB5A-EBDD-899E53BA5D10}"/>
              </a:ext>
            </a:extLst>
          </p:cNvPr>
          <p:cNvSpPr/>
          <p:nvPr/>
        </p:nvSpPr>
        <p:spPr>
          <a:xfrm>
            <a:off x="10429889" y="8006519"/>
            <a:ext cx="6267421" cy="400110"/>
          </a:xfrm>
          <a:prstGeom prst="rect">
            <a:avLst/>
          </a:prstGeom>
          <a:noFill/>
        </p:spPr>
        <p:txBody>
          <a:bodyPr wrap="none" lIns="91440" tIns="45720" rIns="91440" bIns="45720">
            <a:spAutoFit/>
          </a:bodyPr>
          <a:lstStyle/>
          <a:p>
            <a:pPr algn="ctr"/>
            <a:r>
              <a:rPr lang="en-US" sz="2000" dirty="0">
                <a:ln w="0"/>
                <a:effectLst>
                  <a:outerShdw blurRad="38100" dist="19050" dir="2700000" algn="tl" rotWithShape="0">
                    <a:schemeClr val="dk1">
                      <a:alpha val="40000"/>
                    </a:schemeClr>
                  </a:outerShdw>
                </a:effectLst>
              </a:rPr>
              <a:t>Source: https://www.youtube.com/watch?v=bpn3DEULv8g</a:t>
            </a:r>
            <a:endParaRPr lang="en-US" sz="20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4050003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100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F9EF9AC-DD93-7A33-B5FC-30DBEC1610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81400" y="215433"/>
            <a:ext cx="14097000" cy="9856131"/>
          </a:xfrm>
          <a:prstGeom prst="rect">
            <a:avLst/>
          </a:prstGeom>
        </p:spPr>
      </p:pic>
      <p:grpSp>
        <p:nvGrpSpPr>
          <p:cNvPr id="2" name="object 3">
            <a:extLst>
              <a:ext uri="{FF2B5EF4-FFF2-40B4-BE49-F238E27FC236}">
                <a16:creationId xmlns:a16="http://schemas.microsoft.com/office/drawing/2014/main" id="{33B83DA6-7C7E-BE12-C61A-38B751019665}"/>
              </a:ext>
            </a:extLst>
          </p:cNvPr>
          <p:cNvGrpSpPr/>
          <p:nvPr/>
        </p:nvGrpSpPr>
        <p:grpSpPr>
          <a:xfrm>
            <a:off x="-375" y="0"/>
            <a:ext cx="4108450" cy="10287000"/>
            <a:chOff x="-375" y="0"/>
            <a:chExt cx="4108450" cy="10287000"/>
          </a:xfrm>
          <a:solidFill>
            <a:schemeClr val="tx1"/>
          </a:solidFill>
        </p:grpSpPr>
        <p:sp>
          <p:nvSpPr>
            <p:cNvPr id="4" name="object 4">
              <a:extLst>
                <a:ext uri="{FF2B5EF4-FFF2-40B4-BE49-F238E27FC236}">
                  <a16:creationId xmlns:a16="http://schemas.microsoft.com/office/drawing/2014/main" id="{AC8815A5-9D57-8617-DD95-B9614B93F443}"/>
                </a:ext>
              </a:extLst>
            </p:cNvPr>
            <p:cNvSpPr/>
            <p:nvPr/>
          </p:nvSpPr>
          <p:spPr>
            <a:xfrm>
              <a:off x="-375" y="0"/>
              <a:ext cx="3327400" cy="10287000"/>
            </a:xfrm>
            <a:custGeom>
              <a:avLst/>
              <a:gdLst/>
              <a:ahLst/>
              <a:cxnLst/>
              <a:rect l="l" t="t" r="r" b="b"/>
              <a:pathLst>
                <a:path w="3327400" h="10287000">
                  <a:moveTo>
                    <a:pt x="0" y="10287000"/>
                  </a:moveTo>
                  <a:lnTo>
                    <a:pt x="0" y="0"/>
                  </a:lnTo>
                  <a:lnTo>
                    <a:pt x="3327201" y="0"/>
                  </a:lnTo>
                  <a:lnTo>
                    <a:pt x="3327201" y="10287000"/>
                  </a:lnTo>
                  <a:lnTo>
                    <a:pt x="0" y="10287000"/>
                  </a:lnTo>
                  <a:close/>
                </a:path>
              </a:pathLst>
            </a:custGeom>
            <a:grpFill/>
          </p:spPr>
          <p:txBody>
            <a:bodyPr wrap="square" lIns="0" tIns="0" rIns="0" bIns="0" rtlCol="0"/>
            <a:lstStyle/>
            <a:p>
              <a:endParaRPr/>
            </a:p>
          </p:txBody>
        </p:sp>
        <p:sp>
          <p:nvSpPr>
            <p:cNvPr id="5" name="object 5">
              <a:extLst>
                <a:ext uri="{FF2B5EF4-FFF2-40B4-BE49-F238E27FC236}">
                  <a16:creationId xmlns:a16="http://schemas.microsoft.com/office/drawing/2014/main" id="{AD4CA73C-10C5-3431-459E-62F748D4F0DE}"/>
                </a:ext>
              </a:extLst>
            </p:cNvPr>
            <p:cNvSpPr/>
            <p:nvPr/>
          </p:nvSpPr>
          <p:spPr>
            <a:xfrm>
              <a:off x="2545975" y="476250"/>
              <a:ext cx="1562100" cy="1562100"/>
            </a:xfrm>
            <a:custGeom>
              <a:avLst/>
              <a:gdLst/>
              <a:ahLst/>
              <a:cxnLst/>
              <a:rect l="l" t="t" r="r" b="b"/>
              <a:pathLst>
                <a:path w="1562100" h="1562100">
                  <a:moveTo>
                    <a:pt x="780985" y="1562100"/>
                  </a:moveTo>
                  <a:lnTo>
                    <a:pt x="756602" y="1494782"/>
                  </a:lnTo>
                  <a:lnTo>
                    <a:pt x="728330" y="1429003"/>
                  </a:lnTo>
                  <a:lnTo>
                    <a:pt x="696271" y="1364984"/>
                  </a:lnTo>
                  <a:lnTo>
                    <a:pt x="660529" y="1302946"/>
                  </a:lnTo>
                  <a:lnTo>
                    <a:pt x="621231" y="1243097"/>
                  </a:lnTo>
                  <a:lnTo>
                    <a:pt x="578506" y="1185645"/>
                  </a:lnTo>
                  <a:lnTo>
                    <a:pt x="532504" y="1130782"/>
                  </a:lnTo>
                  <a:lnTo>
                    <a:pt x="483377" y="1078698"/>
                  </a:lnTo>
                  <a:lnTo>
                    <a:pt x="431297" y="1029566"/>
                  </a:lnTo>
                  <a:lnTo>
                    <a:pt x="376437" y="983560"/>
                  </a:lnTo>
                  <a:lnTo>
                    <a:pt x="318989" y="940830"/>
                  </a:lnTo>
                  <a:lnTo>
                    <a:pt x="259143" y="901527"/>
                  </a:lnTo>
                  <a:lnTo>
                    <a:pt x="197108" y="865780"/>
                  </a:lnTo>
                  <a:lnTo>
                    <a:pt x="133092" y="833716"/>
                  </a:lnTo>
                  <a:lnTo>
                    <a:pt x="67315" y="805438"/>
                  </a:lnTo>
                  <a:lnTo>
                    <a:pt x="0" y="781050"/>
                  </a:lnTo>
                  <a:lnTo>
                    <a:pt x="33850" y="769341"/>
                  </a:lnTo>
                  <a:lnTo>
                    <a:pt x="100396" y="743008"/>
                  </a:lnTo>
                  <a:lnTo>
                    <a:pt x="165348" y="712812"/>
                  </a:lnTo>
                  <a:lnTo>
                    <a:pt x="228373" y="678906"/>
                  </a:lnTo>
                  <a:lnTo>
                    <a:pt x="289366" y="641349"/>
                  </a:lnTo>
                  <a:lnTo>
                    <a:pt x="348012" y="600333"/>
                  </a:lnTo>
                  <a:lnTo>
                    <a:pt x="404214" y="555926"/>
                  </a:lnTo>
                  <a:lnTo>
                    <a:pt x="457684" y="508358"/>
                  </a:lnTo>
                  <a:lnTo>
                    <a:pt x="508331" y="457707"/>
                  </a:lnTo>
                  <a:lnTo>
                    <a:pt x="555895" y="404233"/>
                  </a:lnTo>
                  <a:lnTo>
                    <a:pt x="600297" y="348027"/>
                  </a:lnTo>
                  <a:lnTo>
                    <a:pt x="641309" y="289377"/>
                  </a:lnTo>
                  <a:lnTo>
                    <a:pt x="678861" y="228382"/>
                  </a:lnTo>
                  <a:lnTo>
                    <a:pt x="712761" y="165353"/>
                  </a:lnTo>
                  <a:lnTo>
                    <a:pt x="742952" y="100399"/>
                  </a:lnTo>
                  <a:lnTo>
                    <a:pt x="769280" y="33851"/>
                  </a:lnTo>
                  <a:lnTo>
                    <a:pt x="780985" y="0"/>
                  </a:lnTo>
                  <a:lnTo>
                    <a:pt x="792690" y="33850"/>
                  </a:lnTo>
                  <a:lnTo>
                    <a:pt x="819017" y="100398"/>
                  </a:lnTo>
                  <a:lnTo>
                    <a:pt x="849207" y="165352"/>
                  </a:lnTo>
                  <a:lnTo>
                    <a:pt x="883106" y="228380"/>
                  </a:lnTo>
                  <a:lnTo>
                    <a:pt x="920657" y="289374"/>
                  </a:lnTo>
                  <a:lnTo>
                    <a:pt x="961668" y="348024"/>
                  </a:lnTo>
                  <a:lnTo>
                    <a:pt x="1006068" y="404230"/>
                  </a:lnTo>
                  <a:lnTo>
                    <a:pt x="1053631" y="457703"/>
                  </a:lnTo>
                  <a:lnTo>
                    <a:pt x="1104276" y="508354"/>
                  </a:lnTo>
                  <a:lnTo>
                    <a:pt x="1157745" y="555923"/>
                  </a:lnTo>
                  <a:lnTo>
                    <a:pt x="1213946" y="600329"/>
                  </a:lnTo>
                  <a:lnTo>
                    <a:pt x="1272591" y="641346"/>
                  </a:lnTo>
                  <a:lnTo>
                    <a:pt x="1333582" y="678904"/>
                  </a:lnTo>
                  <a:lnTo>
                    <a:pt x="1396606" y="712810"/>
                  </a:lnTo>
                  <a:lnTo>
                    <a:pt x="1461557" y="743007"/>
                  </a:lnTo>
                  <a:lnTo>
                    <a:pt x="1528101" y="769341"/>
                  </a:lnTo>
                  <a:lnTo>
                    <a:pt x="1561951" y="781050"/>
                  </a:lnTo>
                  <a:lnTo>
                    <a:pt x="1528101" y="792758"/>
                  </a:lnTo>
                  <a:lnTo>
                    <a:pt x="1461556" y="819092"/>
                  </a:lnTo>
                  <a:lnTo>
                    <a:pt x="1396606" y="849289"/>
                  </a:lnTo>
                  <a:lnTo>
                    <a:pt x="1333582" y="883195"/>
                  </a:lnTo>
                  <a:lnTo>
                    <a:pt x="1272591" y="920753"/>
                  </a:lnTo>
                  <a:lnTo>
                    <a:pt x="1213945" y="961770"/>
                  </a:lnTo>
                  <a:lnTo>
                    <a:pt x="1157745" y="1006176"/>
                  </a:lnTo>
                  <a:lnTo>
                    <a:pt x="1104276" y="1053745"/>
                  </a:lnTo>
                  <a:lnTo>
                    <a:pt x="1053631" y="1104396"/>
                  </a:lnTo>
                  <a:lnTo>
                    <a:pt x="1006068" y="1157870"/>
                  </a:lnTo>
                  <a:lnTo>
                    <a:pt x="961668" y="1214075"/>
                  </a:lnTo>
                  <a:lnTo>
                    <a:pt x="920657" y="1272725"/>
                  </a:lnTo>
                  <a:lnTo>
                    <a:pt x="883106" y="1333720"/>
                  </a:lnTo>
                  <a:lnTo>
                    <a:pt x="849207" y="1396748"/>
                  </a:lnTo>
                  <a:lnTo>
                    <a:pt x="819017" y="1461701"/>
                  </a:lnTo>
                  <a:lnTo>
                    <a:pt x="792690" y="1528249"/>
                  </a:lnTo>
                  <a:lnTo>
                    <a:pt x="780985" y="1562100"/>
                  </a:lnTo>
                  <a:close/>
                </a:path>
              </a:pathLst>
            </a:custGeom>
            <a:solidFill>
              <a:schemeClr val="tx1">
                <a:lumMod val="65000"/>
                <a:lumOff val="35000"/>
              </a:schemeClr>
            </a:solidFill>
          </p:spPr>
          <p:txBody>
            <a:bodyPr wrap="square" lIns="0" tIns="0" rIns="0" bIns="0" rtlCol="0"/>
            <a:lstStyle/>
            <a:p>
              <a:endParaRPr dirty="0"/>
            </a:p>
          </p:txBody>
        </p:sp>
      </p:grpSp>
    </p:spTree>
    <p:extLst>
      <p:ext uri="{BB962C8B-B14F-4D97-AF65-F5344CB8AC3E}">
        <p14:creationId xmlns:p14="http://schemas.microsoft.com/office/powerpoint/2010/main" val="38466776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557ED4B-80B7-E978-11EE-6E5A4FD86A36}"/>
              </a:ext>
            </a:extLst>
          </p:cNvPr>
          <p:cNvSpPr txBox="1"/>
          <p:nvPr/>
        </p:nvSpPr>
        <p:spPr>
          <a:xfrm>
            <a:off x="3505200" y="370703"/>
            <a:ext cx="12801600" cy="1107996"/>
          </a:xfrm>
          <a:prstGeom prst="rect">
            <a:avLst/>
          </a:prstGeom>
          <a:noFill/>
        </p:spPr>
        <p:txBody>
          <a:bodyPr wrap="square" rtlCol="0">
            <a:spAutoFit/>
          </a:bodyPr>
          <a:lstStyle/>
          <a:p>
            <a:r>
              <a:rPr lang="en-US" sz="6600" dirty="0"/>
              <a:t> </a:t>
            </a:r>
            <a:r>
              <a:rPr lang="en-US" sz="6600" dirty="0">
                <a:solidFill>
                  <a:schemeClr val="accent1">
                    <a:lumMod val="50000"/>
                  </a:schemeClr>
                </a:solidFill>
              </a:rPr>
              <a:t>FFT IN VIBRATION ANALYSIS  </a:t>
            </a:r>
          </a:p>
        </p:txBody>
      </p:sp>
      <p:sp>
        <p:nvSpPr>
          <p:cNvPr id="3" name="TextBox 2">
            <a:extLst>
              <a:ext uri="{FF2B5EF4-FFF2-40B4-BE49-F238E27FC236}">
                <a16:creationId xmlns:a16="http://schemas.microsoft.com/office/drawing/2014/main" id="{CD248B0C-468E-FB95-FF27-616C1B0D8AE9}"/>
              </a:ext>
            </a:extLst>
          </p:cNvPr>
          <p:cNvSpPr txBox="1"/>
          <p:nvPr/>
        </p:nvSpPr>
        <p:spPr>
          <a:xfrm>
            <a:off x="3581399" y="2687595"/>
            <a:ext cx="14401801" cy="2585323"/>
          </a:xfrm>
          <a:prstGeom prst="rect">
            <a:avLst/>
          </a:prstGeom>
          <a:noFill/>
        </p:spPr>
        <p:txBody>
          <a:bodyPr wrap="square" rtlCol="0">
            <a:spAutoFit/>
          </a:bodyPr>
          <a:lstStyle/>
          <a:p>
            <a:r>
              <a:rPr lang="en-US" sz="2700" dirty="0">
                <a:solidFill>
                  <a:schemeClr val="accent1">
                    <a:lumMod val="75000"/>
                  </a:schemeClr>
                </a:solidFill>
              </a:rPr>
              <a:t>WHEN THE TRANSDUCER IS PLACED ON THE MACHINE, IT”’s  ELECTRICAL OUTPUT  IS A CONTINUOUS ANALOG SIGNAL REPRESENTING THE VIBRATION AT THAT LOCATION.</a:t>
            </a:r>
          </a:p>
          <a:p>
            <a:endParaRPr lang="en-US" sz="2700" dirty="0">
              <a:solidFill>
                <a:schemeClr val="accent1">
                  <a:lumMod val="75000"/>
                </a:schemeClr>
              </a:solidFill>
            </a:endParaRPr>
          </a:p>
          <a:p>
            <a:r>
              <a:rPr lang="en-US" sz="2700" dirty="0">
                <a:solidFill>
                  <a:schemeClr val="accent1">
                    <a:lumMod val="75000"/>
                  </a:schemeClr>
                </a:solidFill>
              </a:rPr>
              <a:t>It contains all of the information in either velocity, displacement or acceleration.</a:t>
            </a:r>
          </a:p>
          <a:p>
            <a:r>
              <a:rPr lang="en-US" sz="2700" dirty="0">
                <a:solidFill>
                  <a:schemeClr val="accent1">
                    <a:lumMod val="75000"/>
                  </a:schemeClr>
                </a:solidFill>
              </a:rPr>
              <a:t>If there is only a single problem in a machine, then it will be a sin wave.</a:t>
            </a:r>
          </a:p>
          <a:p>
            <a:r>
              <a:rPr lang="en-US" sz="2700" dirty="0">
                <a:solidFill>
                  <a:schemeClr val="accent1">
                    <a:lumMod val="75000"/>
                  </a:schemeClr>
                </a:solidFill>
              </a:rPr>
              <a:t>But in real world, there will be a multiple sources of vibrations .</a:t>
            </a:r>
          </a:p>
        </p:txBody>
      </p:sp>
      <p:pic>
        <p:nvPicPr>
          <p:cNvPr id="5" name="Picture 4">
            <a:extLst>
              <a:ext uri="{FF2B5EF4-FFF2-40B4-BE49-F238E27FC236}">
                <a16:creationId xmlns:a16="http://schemas.microsoft.com/office/drawing/2014/main" id="{E6F17040-3959-38B2-96C1-ED051505C2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3999" y="5680783"/>
            <a:ext cx="7866703" cy="3858012"/>
          </a:xfrm>
          <a:prstGeom prst="rect">
            <a:avLst/>
          </a:prstGeom>
        </p:spPr>
      </p:pic>
      <p:cxnSp>
        <p:nvCxnSpPr>
          <p:cNvPr id="7" name="Straight Arrow Connector 6">
            <a:extLst>
              <a:ext uri="{FF2B5EF4-FFF2-40B4-BE49-F238E27FC236}">
                <a16:creationId xmlns:a16="http://schemas.microsoft.com/office/drawing/2014/main" id="{328DDB80-3E93-0533-572D-3AF927C09C98}"/>
              </a:ext>
            </a:extLst>
          </p:cNvPr>
          <p:cNvCxnSpPr>
            <a:cxnSpLocks/>
          </p:cNvCxnSpPr>
          <p:nvPr/>
        </p:nvCxnSpPr>
        <p:spPr>
          <a:xfrm>
            <a:off x="7161067" y="5525556"/>
            <a:ext cx="1955455" cy="10657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A723FBE7-BD89-81C3-8DE8-5010C583D008}"/>
              </a:ext>
            </a:extLst>
          </p:cNvPr>
          <p:cNvSpPr/>
          <p:nvPr/>
        </p:nvSpPr>
        <p:spPr>
          <a:xfrm>
            <a:off x="3581399" y="6913322"/>
            <a:ext cx="4188941" cy="26314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700" dirty="0"/>
              <a:t>IT PRODUCES A COMPLEX WAVE</a:t>
            </a:r>
          </a:p>
        </p:txBody>
      </p:sp>
      <p:cxnSp>
        <p:nvCxnSpPr>
          <p:cNvPr id="12" name="Straight Arrow Connector 11">
            <a:extLst>
              <a:ext uri="{FF2B5EF4-FFF2-40B4-BE49-F238E27FC236}">
                <a16:creationId xmlns:a16="http://schemas.microsoft.com/office/drawing/2014/main" id="{581DE8DF-F215-596D-F1A5-1DFC20F4252A}"/>
              </a:ext>
            </a:extLst>
          </p:cNvPr>
          <p:cNvCxnSpPr>
            <a:cxnSpLocks/>
          </p:cNvCxnSpPr>
          <p:nvPr/>
        </p:nvCxnSpPr>
        <p:spPr>
          <a:xfrm flipH="1">
            <a:off x="7924800" y="8211844"/>
            <a:ext cx="138189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object 4">
            <a:extLst>
              <a:ext uri="{FF2B5EF4-FFF2-40B4-BE49-F238E27FC236}">
                <a16:creationId xmlns:a16="http://schemas.microsoft.com/office/drawing/2014/main" id="{AFAB32FD-94D9-C375-E00D-6771F6519C39}"/>
              </a:ext>
            </a:extLst>
          </p:cNvPr>
          <p:cNvSpPr/>
          <p:nvPr/>
        </p:nvSpPr>
        <p:spPr>
          <a:xfrm>
            <a:off x="-375" y="0"/>
            <a:ext cx="3327400" cy="10287000"/>
          </a:xfrm>
          <a:custGeom>
            <a:avLst/>
            <a:gdLst/>
            <a:ahLst/>
            <a:cxnLst/>
            <a:rect l="l" t="t" r="r" b="b"/>
            <a:pathLst>
              <a:path w="3327400" h="10287000">
                <a:moveTo>
                  <a:pt x="0" y="10287000"/>
                </a:moveTo>
                <a:lnTo>
                  <a:pt x="0" y="0"/>
                </a:lnTo>
                <a:lnTo>
                  <a:pt x="3327201" y="0"/>
                </a:lnTo>
                <a:lnTo>
                  <a:pt x="3327201" y="10287000"/>
                </a:lnTo>
                <a:lnTo>
                  <a:pt x="0" y="10287000"/>
                </a:lnTo>
                <a:close/>
              </a:path>
            </a:pathLst>
          </a:custGeom>
          <a:solidFill>
            <a:schemeClr val="accent1">
              <a:lumMod val="50000"/>
            </a:schemeClr>
          </a:solidFill>
        </p:spPr>
        <p:txBody>
          <a:bodyPr wrap="square" lIns="0" tIns="0" rIns="0" bIns="0" rtlCol="0"/>
          <a:lstStyle/>
          <a:p>
            <a:endParaRPr dirty="0"/>
          </a:p>
        </p:txBody>
      </p:sp>
      <p:sp>
        <p:nvSpPr>
          <p:cNvPr id="6" name="object 5">
            <a:extLst>
              <a:ext uri="{FF2B5EF4-FFF2-40B4-BE49-F238E27FC236}">
                <a16:creationId xmlns:a16="http://schemas.microsoft.com/office/drawing/2014/main" id="{E530287A-DF33-97AD-5F38-5F65C0203CB6}"/>
              </a:ext>
            </a:extLst>
          </p:cNvPr>
          <p:cNvSpPr/>
          <p:nvPr/>
        </p:nvSpPr>
        <p:spPr>
          <a:xfrm>
            <a:off x="2547467" y="631427"/>
            <a:ext cx="1562100" cy="1562100"/>
          </a:xfrm>
          <a:custGeom>
            <a:avLst/>
            <a:gdLst/>
            <a:ahLst/>
            <a:cxnLst/>
            <a:rect l="l" t="t" r="r" b="b"/>
            <a:pathLst>
              <a:path w="1562100" h="1562100">
                <a:moveTo>
                  <a:pt x="780985" y="1562100"/>
                </a:moveTo>
                <a:lnTo>
                  <a:pt x="756602" y="1494782"/>
                </a:lnTo>
                <a:lnTo>
                  <a:pt x="728330" y="1429003"/>
                </a:lnTo>
                <a:lnTo>
                  <a:pt x="696271" y="1364984"/>
                </a:lnTo>
                <a:lnTo>
                  <a:pt x="660529" y="1302946"/>
                </a:lnTo>
                <a:lnTo>
                  <a:pt x="621231" y="1243097"/>
                </a:lnTo>
                <a:lnTo>
                  <a:pt x="578506" y="1185645"/>
                </a:lnTo>
                <a:lnTo>
                  <a:pt x="532504" y="1130782"/>
                </a:lnTo>
                <a:lnTo>
                  <a:pt x="483377" y="1078698"/>
                </a:lnTo>
                <a:lnTo>
                  <a:pt x="431297" y="1029566"/>
                </a:lnTo>
                <a:lnTo>
                  <a:pt x="376437" y="983560"/>
                </a:lnTo>
                <a:lnTo>
                  <a:pt x="318989" y="940830"/>
                </a:lnTo>
                <a:lnTo>
                  <a:pt x="259143" y="901527"/>
                </a:lnTo>
                <a:lnTo>
                  <a:pt x="197108" y="865780"/>
                </a:lnTo>
                <a:lnTo>
                  <a:pt x="133092" y="833716"/>
                </a:lnTo>
                <a:lnTo>
                  <a:pt x="67315" y="805438"/>
                </a:lnTo>
                <a:lnTo>
                  <a:pt x="0" y="781050"/>
                </a:lnTo>
                <a:lnTo>
                  <a:pt x="33850" y="769341"/>
                </a:lnTo>
                <a:lnTo>
                  <a:pt x="100396" y="743008"/>
                </a:lnTo>
                <a:lnTo>
                  <a:pt x="165348" y="712812"/>
                </a:lnTo>
                <a:lnTo>
                  <a:pt x="228373" y="678906"/>
                </a:lnTo>
                <a:lnTo>
                  <a:pt x="289366" y="641349"/>
                </a:lnTo>
                <a:lnTo>
                  <a:pt x="348012" y="600333"/>
                </a:lnTo>
                <a:lnTo>
                  <a:pt x="404214" y="555926"/>
                </a:lnTo>
                <a:lnTo>
                  <a:pt x="457684" y="508358"/>
                </a:lnTo>
                <a:lnTo>
                  <a:pt x="508331" y="457707"/>
                </a:lnTo>
                <a:lnTo>
                  <a:pt x="555895" y="404233"/>
                </a:lnTo>
                <a:lnTo>
                  <a:pt x="600297" y="348027"/>
                </a:lnTo>
                <a:lnTo>
                  <a:pt x="641309" y="289377"/>
                </a:lnTo>
                <a:lnTo>
                  <a:pt x="678861" y="228382"/>
                </a:lnTo>
                <a:lnTo>
                  <a:pt x="712761" y="165353"/>
                </a:lnTo>
                <a:lnTo>
                  <a:pt x="742952" y="100399"/>
                </a:lnTo>
                <a:lnTo>
                  <a:pt x="769280" y="33851"/>
                </a:lnTo>
                <a:lnTo>
                  <a:pt x="780985" y="0"/>
                </a:lnTo>
                <a:lnTo>
                  <a:pt x="792690" y="33850"/>
                </a:lnTo>
                <a:lnTo>
                  <a:pt x="819017" y="100398"/>
                </a:lnTo>
                <a:lnTo>
                  <a:pt x="849207" y="165352"/>
                </a:lnTo>
                <a:lnTo>
                  <a:pt x="883106" y="228380"/>
                </a:lnTo>
                <a:lnTo>
                  <a:pt x="920657" y="289374"/>
                </a:lnTo>
                <a:lnTo>
                  <a:pt x="961668" y="348024"/>
                </a:lnTo>
                <a:lnTo>
                  <a:pt x="1006068" y="404230"/>
                </a:lnTo>
                <a:lnTo>
                  <a:pt x="1053631" y="457703"/>
                </a:lnTo>
                <a:lnTo>
                  <a:pt x="1104276" y="508354"/>
                </a:lnTo>
                <a:lnTo>
                  <a:pt x="1157745" y="555923"/>
                </a:lnTo>
                <a:lnTo>
                  <a:pt x="1213946" y="600329"/>
                </a:lnTo>
                <a:lnTo>
                  <a:pt x="1272591" y="641346"/>
                </a:lnTo>
                <a:lnTo>
                  <a:pt x="1333582" y="678904"/>
                </a:lnTo>
                <a:lnTo>
                  <a:pt x="1396606" y="712810"/>
                </a:lnTo>
                <a:lnTo>
                  <a:pt x="1461557" y="743007"/>
                </a:lnTo>
                <a:lnTo>
                  <a:pt x="1528101" y="769341"/>
                </a:lnTo>
                <a:lnTo>
                  <a:pt x="1561951" y="781050"/>
                </a:lnTo>
                <a:lnTo>
                  <a:pt x="1528101" y="792758"/>
                </a:lnTo>
                <a:lnTo>
                  <a:pt x="1461556" y="819092"/>
                </a:lnTo>
                <a:lnTo>
                  <a:pt x="1396606" y="849289"/>
                </a:lnTo>
                <a:lnTo>
                  <a:pt x="1333582" y="883195"/>
                </a:lnTo>
                <a:lnTo>
                  <a:pt x="1272591" y="920753"/>
                </a:lnTo>
                <a:lnTo>
                  <a:pt x="1213945" y="961770"/>
                </a:lnTo>
                <a:lnTo>
                  <a:pt x="1157745" y="1006176"/>
                </a:lnTo>
                <a:lnTo>
                  <a:pt x="1104276" y="1053745"/>
                </a:lnTo>
                <a:lnTo>
                  <a:pt x="1053631" y="1104396"/>
                </a:lnTo>
                <a:lnTo>
                  <a:pt x="1006068" y="1157870"/>
                </a:lnTo>
                <a:lnTo>
                  <a:pt x="961668" y="1214075"/>
                </a:lnTo>
                <a:lnTo>
                  <a:pt x="920657" y="1272725"/>
                </a:lnTo>
                <a:lnTo>
                  <a:pt x="883106" y="1333720"/>
                </a:lnTo>
                <a:lnTo>
                  <a:pt x="849207" y="1396748"/>
                </a:lnTo>
                <a:lnTo>
                  <a:pt x="819017" y="1461701"/>
                </a:lnTo>
                <a:lnTo>
                  <a:pt x="792690" y="1528249"/>
                </a:lnTo>
                <a:lnTo>
                  <a:pt x="780985" y="1562100"/>
                </a:lnTo>
                <a:close/>
              </a:path>
            </a:pathLst>
          </a:custGeom>
          <a:solidFill>
            <a:schemeClr val="accent1">
              <a:lumMod val="60000"/>
              <a:lumOff val="40000"/>
            </a:schemeClr>
          </a:solidFill>
        </p:spPr>
        <p:txBody>
          <a:bodyPr wrap="square" lIns="0" tIns="0" rIns="0" bIns="0" rtlCol="0"/>
          <a:lstStyle/>
          <a:p>
            <a:endParaRPr dirty="0"/>
          </a:p>
        </p:txBody>
      </p:sp>
      <p:sp>
        <p:nvSpPr>
          <p:cNvPr id="8" name="Rectangle 7">
            <a:extLst>
              <a:ext uri="{FF2B5EF4-FFF2-40B4-BE49-F238E27FC236}">
                <a16:creationId xmlns:a16="http://schemas.microsoft.com/office/drawing/2014/main" id="{09FB8002-F316-F284-4A09-015F4C072839}"/>
              </a:ext>
            </a:extLst>
          </p:cNvPr>
          <p:cNvSpPr/>
          <p:nvPr/>
        </p:nvSpPr>
        <p:spPr>
          <a:xfrm>
            <a:off x="9753600" y="9654687"/>
            <a:ext cx="6364306" cy="523220"/>
          </a:xfrm>
          <a:prstGeom prst="rect">
            <a:avLst/>
          </a:prstGeom>
          <a:noFill/>
        </p:spPr>
        <p:txBody>
          <a:bodyPr wrap="none" lIns="91440" tIns="45720" rIns="91440" bIns="45720">
            <a:spAutoFit/>
          </a:bodyPr>
          <a:lstStyle/>
          <a:p>
            <a:pPr algn="ctr"/>
            <a:r>
              <a:rPr lang="en-US" sz="2800" b="0" cap="none" spc="0" dirty="0">
                <a:ln w="0"/>
                <a:solidFill>
                  <a:schemeClr val="tx1"/>
                </a:solidFill>
                <a:effectLst>
                  <a:outerShdw blurRad="38100" dist="19050" dir="2700000" algn="tl" rotWithShape="0">
                    <a:schemeClr val="dk1">
                      <a:alpha val="40000"/>
                    </a:schemeClr>
                  </a:outerShdw>
                </a:effectLst>
              </a:rPr>
              <a:t>S</a:t>
            </a:r>
            <a:r>
              <a:rPr lang="en-US" sz="2000" b="0" cap="none" spc="0" dirty="0">
                <a:ln w="0"/>
                <a:solidFill>
                  <a:schemeClr val="tx1"/>
                </a:solidFill>
                <a:effectLst>
                  <a:outerShdw blurRad="38100" dist="19050" dir="2700000" algn="tl" rotWithShape="0">
                    <a:schemeClr val="dk1">
                      <a:alpha val="40000"/>
                    </a:schemeClr>
                  </a:outerShdw>
                </a:effectLst>
              </a:rPr>
              <a:t>ource :https://www.youtube.com/watch?v=owOgIZivmC8</a:t>
            </a:r>
          </a:p>
        </p:txBody>
      </p:sp>
    </p:spTree>
    <p:extLst>
      <p:ext uri="{BB962C8B-B14F-4D97-AF65-F5344CB8AC3E}">
        <p14:creationId xmlns:p14="http://schemas.microsoft.com/office/powerpoint/2010/main" val="3689304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D5E187E-5FFC-BDC1-455C-26F954B0DA42}"/>
              </a:ext>
            </a:extLst>
          </p:cNvPr>
          <p:cNvPicPr>
            <a:picLocks noChangeAspect="1"/>
          </p:cNvPicPr>
          <p:nvPr/>
        </p:nvPicPr>
        <p:blipFill>
          <a:blip r:embed="rId2">
            <a:duotone>
              <a:prstClr val="black"/>
              <a:srgbClr val="D9C3A5">
                <a:tint val="50000"/>
                <a:satMod val="180000"/>
              </a:srgbClr>
            </a:duotone>
            <a:extLst>
              <a:ext uri="{28A0092B-C50C-407E-A947-70E740481C1C}">
                <a14:useLocalDpi xmlns:a14="http://schemas.microsoft.com/office/drawing/2010/main" val="0"/>
              </a:ext>
            </a:extLst>
          </a:blip>
          <a:stretch>
            <a:fillRect/>
          </a:stretch>
        </p:blipFill>
        <p:spPr>
          <a:xfrm>
            <a:off x="4108074" y="1104900"/>
            <a:ext cx="13494125" cy="2585323"/>
          </a:xfrm>
          <a:prstGeom prst="rect">
            <a:avLst/>
          </a:prstGeom>
        </p:spPr>
      </p:pic>
      <p:sp>
        <p:nvSpPr>
          <p:cNvPr id="4" name="TextBox 3">
            <a:extLst>
              <a:ext uri="{FF2B5EF4-FFF2-40B4-BE49-F238E27FC236}">
                <a16:creationId xmlns:a16="http://schemas.microsoft.com/office/drawing/2014/main" id="{B375A033-4635-8100-8C98-58B146B3066E}"/>
              </a:ext>
            </a:extLst>
          </p:cNvPr>
          <p:cNvSpPr txBox="1"/>
          <p:nvPr/>
        </p:nvSpPr>
        <p:spPr>
          <a:xfrm>
            <a:off x="2743200" y="190500"/>
            <a:ext cx="13868400" cy="738664"/>
          </a:xfrm>
          <a:prstGeom prst="rect">
            <a:avLst/>
          </a:prstGeom>
          <a:noFill/>
        </p:spPr>
        <p:txBody>
          <a:bodyPr wrap="square" rtlCol="0">
            <a:spAutoFit/>
          </a:bodyPr>
          <a:lstStyle/>
          <a:p>
            <a:r>
              <a:rPr lang="en-US" sz="4200" dirty="0"/>
              <a:t>       </a:t>
            </a:r>
            <a:r>
              <a:rPr lang="en-US" sz="4200" dirty="0">
                <a:solidFill>
                  <a:schemeClr val="accent5">
                    <a:lumMod val="75000"/>
                  </a:schemeClr>
                </a:solidFill>
              </a:rPr>
              <a:t>COMPLEX WAVEFORM IN TIME DOMAIN:</a:t>
            </a:r>
          </a:p>
        </p:txBody>
      </p:sp>
      <p:sp>
        <p:nvSpPr>
          <p:cNvPr id="5" name="TextBox 4">
            <a:extLst>
              <a:ext uri="{FF2B5EF4-FFF2-40B4-BE49-F238E27FC236}">
                <a16:creationId xmlns:a16="http://schemas.microsoft.com/office/drawing/2014/main" id="{357C124C-4E27-6163-0C18-5DF083122D4E}"/>
              </a:ext>
            </a:extLst>
          </p:cNvPr>
          <p:cNvSpPr txBox="1"/>
          <p:nvPr/>
        </p:nvSpPr>
        <p:spPr>
          <a:xfrm>
            <a:off x="3657600" y="3989338"/>
            <a:ext cx="14097000" cy="2308324"/>
          </a:xfrm>
          <a:prstGeom prst="rect">
            <a:avLst/>
          </a:prstGeom>
          <a:noFill/>
        </p:spPr>
        <p:txBody>
          <a:bodyPr wrap="square">
            <a:spAutoFit/>
          </a:bodyPr>
          <a:lstStyle/>
          <a:p>
            <a:r>
              <a:rPr lang="en-US" sz="2400" dirty="0">
                <a:solidFill>
                  <a:schemeClr val="tx2">
                    <a:lumMod val="75000"/>
                  </a:schemeClr>
                </a:solidFill>
              </a:rPr>
              <a:t>In vibration analysis for machine vibrations, Fast Fourier Transform (FFT) is a powerful tool for efficiently analyzing complex waveforms generated by the machine's vibrations. Here's how it works:</a:t>
            </a:r>
          </a:p>
          <a:p>
            <a:r>
              <a:rPr lang="en-US" sz="2400" dirty="0">
                <a:solidFill>
                  <a:schemeClr val="tx2">
                    <a:lumMod val="75000"/>
                  </a:schemeClr>
                </a:solidFill>
              </a:rPr>
              <a:t>Data Collection: Vibration data is collected from sensors placed on the machine. This data represents the complex waveform of the machine's vibrations over a period of time.</a:t>
            </a:r>
          </a:p>
          <a:p>
            <a:r>
              <a:rPr lang="en-US" sz="2400" dirty="0">
                <a:solidFill>
                  <a:schemeClr val="tx2">
                    <a:lumMod val="75000"/>
                  </a:schemeClr>
                </a:solidFill>
              </a:rPr>
              <a:t>Preprocessing: Before applying FFT, the raw vibration data may undergo preprocessing steps such as filtering to remove noise or artifacts that could distort the analysis.</a:t>
            </a:r>
          </a:p>
        </p:txBody>
      </p:sp>
      <p:sp>
        <p:nvSpPr>
          <p:cNvPr id="7" name="TextBox 6">
            <a:extLst>
              <a:ext uri="{FF2B5EF4-FFF2-40B4-BE49-F238E27FC236}">
                <a16:creationId xmlns:a16="http://schemas.microsoft.com/office/drawing/2014/main" id="{11333937-AB1E-58BA-1428-806E4C3BC867}"/>
              </a:ext>
            </a:extLst>
          </p:cNvPr>
          <p:cNvSpPr txBox="1"/>
          <p:nvPr/>
        </p:nvSpPr>
        <p:spPr>
          <a:xfrm>
            <a:off x="3653589" y="6438900"/>
            <a:ext cx="13944600" cy="3785652"/>
          </a:xfrm>
          <a:prstGeom prst="rect">
            <a:avLst/>
          </a:prstGeom>
          <a:noFill/>
        </p:spPr>
        <p:txBody>
          <a:bodyPr wrap="square">
            <a:spAutoFit/>
          </a:bodyPr>
          <a:lstStyle/>
          <a:p>
            <a:r>
              <a:rPr lang="en-US" sz="2400" dirty="0">
                <a:solidFill>
                  <a:schemeClr val="tx2">
                    <a:lumMod val="50000"/>
                  </a:schemeClr>
                </a:solidFill>
              </a:rPr>
              <a:t>FFT Calculation: The FFT algorithm is applied to the preprocessed vibration data. FFT transforms the data from the time domain to the frequency domain, revealing the frequency components present in the vibration signal.</a:t>
            </a:r>
          </a:p>
          <a:p>
            <a:r>
              <a:rPr lang="en-US" sz="2400" dirty="0">
                <a:solidFill>
                  <a:schemeClr val="tx2">
                    <a:lumMod val="50000"/>
                  </a:schemeClr>
                </a:solidFill>
              </a:rPr>
              <a:t>Frequency Analysis: Once transformed, the frequency spectrum obtained from the FFT provides valuable insights into the dominant frequencies and their amplitudes in the machine's vibrations.</a:t>
            </a:r>
          </a:p>
          <a:p>
            <a:endParaRPr lang="en-US" sz="2400" dirty="0">
              <a:solidFill>
                <a:schemeClr val="tx2">
                  <a:lumMod val="50000"/>
                </a:schemeClr>
              </a:solidFill>
            </a:endParaRPr>
          </a:p>
          <a:p>
            <a:r>
              <a:rPr lang="en-US" sz="2400" dirty="0">
                <a:solidFill>
                  <a:schemeClr val="tx2">
                    <a:lumMod val="50000"/>
                  </a:schemeClr>
                </a:solidFill>
              </a:rPr>
              <a:t>Interpretation: Engineers analyze the frequency spectrum to identify any abnormal peaks or patterns that could indicate underlying issues such as mechanical faults, resonance, or imbalance in the machine</a:t>
            </a:r>
          </a:p>
          <a:p>
            <a:r>
              <a:rPr lang="en-US" sz="2400" dirty="0">
                <a:solidFill>
                  <a:schemeClr val="tx2">
                    <a:lumMod val="50000"/>
                  </a:schemeClr>
                </a:solidFill>
              </a:rPr>
              <a:t>Diagnosis and Maintenance: Based on the analysis, engineers can diagnose the root causes of vibration problems and plan appropriate maintenance or corrective actions to address them, preventing potential failures and optimizing the machine's performance and lifespan</a:t>
            </a:r>
          </a:p>
        </p:txBody>
      </p:sp>
      <p:grpSp>
        <p:nvGrpSpPr>
          <p:cNvPr id="8" name="object 3">
            <a:extLst>
              <a:ext uri="{FF2B5EF4-FFF2-40B4-BE49-F238E27FC236}">
                <a16:creationId xmlns:a16="http://schemas.microsoft.com/office/drawing/2014/main" id="{6049BBDF-55D4-9F11-9D57-FDE517CDE883}"/>
              </a:ext>
            </a:extLst>
          </p:cNvPr>
          <p:cNvGrpSpPr/>
          <p:nvPr/>
        </p:nvGrpSpPr>
        <p:grpSpPr>
          <a:xfrm>
            <a:off x="-375" y="0"/>
            <a:ext cx="4108450" cy="10287000"/>
            <a:chOff x="-375" y="0"/>
            <a:chExt cx="4108450" cy="10287000"/>
          </a:xfrm>
          <a:solidFill>
            <a:schemeClr val="accent5">
              <a:lumMod val="40000"/>
              <a:lumOff val="60000"/>
            </a:schemeClr>
          </a:solidFill>
        </p:grpSpPr>
        <p:sp>
          <p:nvSpPr>
            <p:cNvPr id="9" name="object 4">
              <a:extLst>
                <a:ext uri="{FF2B5EF4-FFF2-40B4-BE49-F238E27FC236}">
                  <a16:creationId xmlns:a16="http://schemas.microsoft.com/office/drawing/2014/main" id="{3BB925EA-7F2F-6FC7-D54A-0F9482A79EDD}"/>
                </a:ext>
              </a:extLst>
            </p:cNvPr>
            <p:cNvSpPr/>
            <p:nvPr/>
          </p:nvSpPr>
          <p:spPr>
            <a:xfrm>
              <a:off x="-375" y="0"/>
              <a:ext cx="3327400" cy="10287000"/>
            </a:xfrm>
            <a:custGeom>
              <a:avLst/>
              <a:gdLst/>
              <a:ahLst/>
              <a:cxnLst/>
              <a:rect l="l" t="t" r="r" b="b"/>
              <a:pathLst>
                <a:path w="3327400" h="10287000">
                  <a:moveTo>
                    <a:pt x="0" y="10287000"/>
                  </a:moveTo>
                  <a:lnTo>
                    <a:pt x="0" y="0"/>
                  </a:lnTo>
                  <a:lnTo>
                    <a:pt x="3327201" y="0"/>
                  </a:lnTo>
                  <a:lnTo>
                    <a:pt x="3327201" y="10287000"/>
                  </a:lnTo>
                  <a:lnTo>
                    <a:pt x="0" y="10287000"/>
                  </a:lnTo>
                  <a:close/>
                </a:path>
              </a:pathLst>
            </a:custGeom>
            <a:grpFill/>
          </p:spPr>
          <p:txBody>
            <a:bodyPr wrap="square" lIns="0" tIns="0" rIns="0" bIns="0" rtlCol="0"/>
            <a:lstStyle/>
            <a:p>
              <a:endParaRPr/>
            </a:p>
          </p:txBody>
        </p:sp>
        <p:sp>
          <p:nvSpPr>
            <p:cNvPr id="10" name="object 5">
              <a:extLst>
                <a:ext uri="{FF2B5EF4-FFF2-40B4-BE49-F238E27FC236}">
                  <a16:creationId xmlns:a16="http://schemas.microsoft.com/office/drawing/2014/main" id="{5620A0A9-443E-2006-FB50-4DD500F9BD32}"/>
                </a:ext>
              </a:extLst>
            </p:cNvPr>
            <p:cNvSpPr/>
            <p:nvPr/>
          </p:nvSpPr>
          <p:spPr>
            <a:xfrm>
              <a:off x="2545975" y="476250"/>
              <a:ext cx="1562100" cy="1562100"/>
            </a:xfrm>
            <a:custGeom>
              <a:avLst/>
              <a:gdLst/>
              <a:ahLst/>
              <a:cxnLst/>
              <a:rect l="l" t="t" r="r" b="b"/>
              <a:pathLst>
                <a:path w="1562100" h="1562100">
                  <a:moveTo>
                    <a:pt x="780985" y="1562100"/>
                  </a:moveTo>
                  <a:lnTo>
                    <a:pt x="756602" y="1494782"/>
                  </a:lnTo>
                  <a:lnTo>
                    <a:pt x="728330" y="1429003"/>
                  </a:lnTo>
                  <a:lnTo>
                    <a:pt x="696271" y="1364984"/>
                  </a:lnTo>
                  <a:lnTo>
                    <a:pt x="660529" y="1302946"/>
                  </a:lnTo>
                  <a:lnTo>
                    <a:pt x="621231" y="1243097"/>
                  </a:lnTo>
                  <a:lnTo>
                    <a:pt x="578506" y="1185645"/>
                  </a:lnTo>
                  <a:lnTo>
                    <a:pt x="532504" y="1130782"/>
                  </a:lnTo>
                  <a:lnTo>
                    <a:pt x="483377" y="1078698"/>
                  </a:lnTo>
                  <a:lnTo>
                    <a:pt x="431297" y="1029566"/>
                  </a:lnTo>
                  <a:lnTo>
                    <a:pt x="376437" y="983560"/>
                  </a:lnTo>
                  <a:lnTo>
                    <a:pt x="318989" y="940830"/>
                  </a:lnTo>
                  <a:lnTo>
                    <a:pt x="259143" y="901527"/>
                  </a:lnTo>
                  <a:lnTo>
                    <a:pt x="197108" y="865780"/>
                  </a:lnTo>
                  <a:lnTo>
                    <a:pt x="133092" y="833716"/>
                  </a:lnTo>
                  <a:lnTo>
                    <a:pt x="67315" y="805438"/>
                  </a:lnTo>
                  <a:lnTo>
                    <a:pt x="0" y="781050"/>
                  </a:lnTo>
                  <a:lnTo>
                    <a:pt x="33850" y="769341"/>
                  </a:lnTo>
                  <a:lnTo>
                    <a:pt x="100396" y="743008"/>
                  </a:lnTo>
                  <a:lnTo>
                    <a:pt x="165348" y="712812"/>
                  </a:lnTo>
                  <a:lnTo>
                    <a:pt x="228373" y="678906"/>
                  </a:lnTo>
                  <a:lnTo>
                    <a:pt x="289366" y="641349"/>
                  </a:lnTo>
                  <a:lnTo>
                    <a:pt x="348012" y="600333"/>
                  </a:lnTo>
                  <a:lnTo>
                    <a:pt x="404214" y="555926"/>
                  </a:lnTo>
                  <a:lnTo>
                    <a:pt x="457684" y="508358"/>
                  </a:lnTo>
                  <a:lnTo>
                    <a:pt x="508331" y="457707"/>
                  </a:lnTo>
                  <a:lnTo>
                    <a:pt x="555895" y="404233"/>
                  </a:lnTo>
                  <a:lnTo>
                    <a:pt x="600297" y="348027"/>
                  </a:lnTo>
                  <a:lnTo>
                    <a:pt x="641309" y="289377"/>
                  </a:lnTo>
                  <a:lnTo>
                    <a:pt x="678861" y="228382"/>
                  </a:lnTo>
                  <a:lnTo>
                    <a:pt x="712761" y="165353"/>
                  </a:lnTo>
                  <a:lnTo>
                    <a:pt x="742952" y="100399"/>
                  </a:lnTo>
                  <a:lnTo>
                    <a:pt x="769280" y="33851"/>
                  </a:lnTo>
                  <a:lnTo>
                    <a:pt x="780985" y="0"/>
                  </a:lnTo>
                  <a:lnTo>
                    <a:pt x="792690" y="33850"/>
                  </a:lnTo>
                  <a:lnTo>
                    <a:pt x="819017" y="100398"/>
                  </a:lnTo>
                  <a:lnTo>
                    <a:pt x="849207" y="165352"/>
                  </a:lnTo>
                  <a:lnTo>
                    <a:pt x="883106" y="228380"/>
                  </a:lnTo>
                  <a:lnTo>
                    <a:pt x="920657" y="289374"/>
                  </a:lnTo>
                  <a:lnTo>
                    <a:pt x="961668" y="348024"/>
                  </a:lnTo>
                  <a:lnTo>
                    <a:pt x="1006068" y="404230"/>
                  </a:lnTo>
                  <a:lnTo>
                    <a:pt x="1053631" y="457703"/>
                  </a:lnTo>
                  <a:lnTo>
                    <a:pt x="1104276" y="508354"/>
                  </a:lnTo>
                  <a:lnTo>
                    <a:pt x="1157745" y="555923"/>
                  </a:lnTo>
                  <a:lnTo>
                    <a:pt x="1213946" y="600329"/>
                  </a:lnTo>
                  <a:lnTo>
                    <a:pt x="1272591" y="641346"/>
                  </a:lnTo>
                  <a:lnTo>
                    <a:pt x="1333582" y="678904"/>
                  </a:lnTo>
                  <a:lnTo>
                    <a:pt x="1396606" y="712810"/>
                  </a:lnTo>
                  <a:lnTo>
                    <a:pt x="1461557" y="743007"/>
                  </a:lnTo>
                  <a:lnTo>
                    <a:pt x="1528101" y="769341"/>
                  </a:lnTo>
                  <a:lnTo>
                    <a:pt x="1561951" y="781050"/>
                  </a:lnTo>
                  <a:lnTo>
                    <a:pt x="1528101" y="792758"/>
                  </a:lnTo>
                  <a:lnTo>
                    <a:pt x="1461556" y="819092"/>
                  </a:lnTo>
                  <a:lnTo>
                    <a:pt x="1396606" y="849289"/>
                  </a:lnTo>
                  <a:lnTo>
                    <a:pt x="1333582" y="883195"/>
                  </a:lnTo>
                  <a:lnTo>
                    <a:pt x="1272591" y="920753"/>
                  </a:lnTo>
                  <a:lnTo>
                    <a:pt x="1213945" y="961770"/>
                  </a:lnTo>
                  <a:lnTo>
                    <a:pt x="1157745" y="1006176"/>
                  </a:lnTo>
                  <a:lnTo>
                    <a:pt x="1104276" y="1053745"/>
                  </a:lnTo>
                  <a:lnTo>
                    <a:pt x="1053631" y="1104396"/>
                  </a:lnTo>
                  <a:lnTo>
                    <a:pt x="1006068" y="1157870"/>
                  </a:lnTo>
                  <a:lnTo>
                    <a:pt x="961668" y="1214075"/>
                  </a:lnTo>
                  <a:lnTo>
                    <a:pt x="920657" y="1272725"/>
                  </a:lnTo>
                  <a:lnTo>
                    <a:pt x="883106" y="1333720"/>
                  </a:lnTo>
                  <a:lnTo>
                    <a:pt x="849207" y="1396748"/>
                  </a:lnTo>
                  <a:lnTo>
                    <a:pt x="819017" y="1461701"/>
                  </a:lnTo>
                  <a:lnTo>
                    <a:pt x="792690" y="1528249"/>
                  </a:lnTo>
                  <a:lnTo>
                    <a:pt x="780985" y="1562100"/>
                  </a:lnTo>
                  <a:close/>
                </a:path>
              </a:pathLst>
            </a:custGeom>
            <a:solidFill>
              <a:schemeClr val="tx2">
                <a:lumMod val="75000"/>
              </a:schemeClr>
            </a:solidFill>
          </p:spPr>
          <p:txBody>
            <a:bodyPr wrap="square" lIns="0" tIns="0" rIns="0" bIns="0" rtlCol="0"/>
            <a:lstStyle/>
            <a:p>
              <a:endParaRPr dirty="0"/>
            </a:p>
          </p:txBody>
        </p:sp>
      </p:grpSp>
    </p:spTree>
    <p:extLst>
      <p:ext uri="{BB962C8B-B14F-4D97-AF65-F5344CB8AC3E}">
        <p14:creationId xmlns:p14="http://schemas.microsoft.com/office/powerpoint/2010/main" val="8503589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302641" y="10146"/>
            <a:ext cx="14961235" cy="10287000"/>
          </a:xfrm>
          <a:custGeom>
            <a:avLst/>
            <a:gdLst/>
            <a:ahLst/>
            <a:cxnLst/>
            <a:rect l="l" t="t" r="r" b="b"/>
            <a:pathLst>
              <a:path w="14961235" h="10287000">
                <a:moveTo>
                  <a:pt x="0" y="10286999"/>
                </a:moveTo>
                <a:lnTo>
                  <a:pt x="14961172" y="10286999"/>
                </a:lnTo>
                <a:lnTo>
                  <a:pt x="14961172" y="0"/>
                </a:lnTo>
                <a:lnTo>
                  <a:pt x="0" y="0"/>
                </a:lnTo>
                <a:lnTo>
                  <a:pt x="0" y="10286999"/>
                </a:lnTo>
                <a:close/>
              </a:path>
            </a:pathLst>
          </a:custGeom>
          <a:solidFill>
            <a:srgbClr val="F7F5EC"/>
          </a:solidFill>
        </p:spPr>
        <p:txBody>
          <a:bodyPr wrap="square" lIns="0" tIns="0" rIns="0" bIns="0" rtlCol="0"/>
          <a:lstStyle/>
          <a:p>
            <a:endParaRPr/>
          </a:p>
        </p:txBody>
      </p:sp>
      <p:grpSp>
        <p:nvGrpSpPr>
          <p:cNvPr id="3" name="object 3"/>
          <p:cNvGrpSpPr/>
          <p:nvPr/>
        </p:nvGrpSpPr>
        <p:grpSpPr>
          <a:xfrm>
            <a:off x="-375" y="0"/>
            <a:ext cx="4110354" cy="10287000"/>
            <a:chOff x="-375" y="0"/>
            <a:chExt cx="4110354" cy="10287000"/>
          </a:xfrm>
          <a:solidFill>
            <a:schemeClr val="tx2"/>
          </a:solidFill>
        </p:grpSpPr>
        <p:sp>
          <p:nvSpPr>
            <p:cNvPr id="4" name="object 4"/>
            <p:cNvSpPr/>
            <p:nvPr/>
          </p:nvSpPr>
          <p:spPr>
            <a:xfrm>
              <a:off x="-375" y="0"/>
              <a:ext cx="3327400" cy="10287000"/>
            </a:xfrm>
            <a:custGeom>
              <a:avLst/>
              <a:gdLst/>
              <a:ahLst/>
              <a:cxnLst/>
              <a:rect l="l" t="t" r="r" b="b"/>
              <a:pathLst>
                <a:path w="3327400" h="10287000">
                  <a:moveTo>
                    <a:pt x="0" y="10287000"/>
                  </a:moveTo>
                  <a:lnTo>
                    <a:pt x="0" y="0"/>
                  </a:lnTo>
                  <a:lnTo>
                    <a:pt x="3327201" y="0"/>
                  </a:lnTo>
                  <a:lnTo>
                    <a:pt x="3327201" y="10287000"/>
                  </a:lnTo>
                  <a:lnTo>
                    <a:pt x="0" y="10287000"/>
                  </a:lnTo>
                  <a:close/>
                </a:path>
              </a:pathLst>
            </a:custGeom>
            <a:solidFill>
              <a:schemeClr val="tx2">
                <a:lumMod val="40000"/>
                <a:lumOff val="60000"/>
              </a:schemeClr>
            </a:solidFill>
          </p:spPr>
          <p:txBody>
            <a:bodyPr wrap="square" lIns="0" tIns="0" rIns="0" bIns="0" rtlCol="0"/>
            <a:lstStyle/>
            <a:p>
              <a:endParaRPr dirty="0"/>
            </a:p>
          </p:txBody>
        </p:sp>
        <p:sp>
          <p:nvSpPr>
            <p:cNvPr id="5" name="object 5"/>
            <p:cNvSpPr/>
            <p:nvPr/>
          </p:nvSpPr>
          <p:spPr>
            <a:xfrm>
              <a:off x="2547467" y="631427"/>
              <a:ext cx="1562100" cy="1562100"/>
            </a:xfrm>
            <a:custGeom>
              <a:avLst/>
              <a:gdLst/>
              <a:ahLst/>
              <a:cxnLst/>
              <a:rect l="l" t="t" r="r" b="b"/>
              <a:pathLst>
                <a:path w="1562100" h="1562100">
                  <a:moveTo>
                    <a:pt x="780985" y="1562100"/>
                  </a:moveTo>
                  <a:lnTo>
                    <a:pt x="756602" y="1494782"/>
                  </a:lnTo>
                  <a:lnTo>
                    <a:pt x="728330" y="1429003"/>
                  </a:lnTo>
                  <a:lnTo>
                    <a:pt x="696271" y="1364984"/>
                  </a:lnTo>
                  <a:lnTo>
                    <a:pt x="660529" y="1302946"/>
                  </a:lnTo>
                  <a:lnTo>
                    <a:pt x="621231" y="1243097"/>
                  </a:lnTo>
                  <a:lnTo>
                    <a:pt x="578506" y="1185645"/>
                  </a:lnTo>
                  <a:lnTo>
                    <a:pt x="532504" y="1130782"/>
                  </a:lnTo>
                  <a:lnTo>
                    <a:pt x="483377" y="1078698"/>
                  </a:lnTo>
                  <a:lnTo>
                    <a:pt x="431297" y="1029566"/>
                  </a:lnTo>
                  <a:lnTo>
                    <a:pt x="376437" y="983560"/>
                  </a:lnTo>
                  <a:lnTo>
                    <a:pt x="318989" y="940830"/>
                  </a:lnTo>
                  <a:lnTo>
                    <a:pt x="259143" y="901527"/>
                  </a:lnTo>
                  <a:lnTo>
                    <a:pt x="197108" y="865780"/>
                  </a:lnTo>
                  <a:lnTo>
                    <a:pt x="133092" y="833716"/>
                  </a:lnTo>
                  <a:lnTo>
                    <a:pt x="67315" y="805438"/>
                  </a:lnTo>
                  <a:lnTo>
                    <a:pt x="0" y="781050"/>
                  </a:lnTo>
                  <a:lnTo>
                    <a:pt x="33850" y="769341"/>
                  </a:lnTo>
                  <a:lnTo>
                    <a:pt x="100396" y="743008"/>
                  </a:lnTo>
                  <a:lnTo>
                    <a:pt x="165348" y="712812"/>
                  </a:lnTo>
                  <a:lnTo>
                    <a:pt x="228373" y="678906"/>
                  </a:lnTo>
                  <a:lnTo>
                    <a:pt x="289366" y="641349"/>
                  </a:lnTo>
                  <a:lnTo>
                    <a:pt x="348012" y="600333"/>
                  </a:lnTo>
                  <a:lnTo>
                    <a:pt x="404214" y="555926"/>
                  </a:lnTo>
                  <a:lnTo>
                    <a:pt x="457684" y="508358"/>
                  </a:lnTo>
                  <a:lnTo>
                    <a:pt x="508331" y="457707"/>
                  </a:lnTo>
                  <a:lnTo>
                    <a:pt x="555895" y="404233"/>
                  </a:lnTo>
                  <a:lnTo>
                    <a:pt x="600297" y="348027"/>
                  </a:lnTo>
                  <a:lnTo>
                    <a:pt x="641309" y="289377"/>
                  </a:lnTo>
                  <a:lnTo>
                    <a:pt x="678861" y="228382"/>
                  </a:lnTo>
                  <a:lnTo>
                    <a:pt x="712761" y="165353"/>
                  </a:lnTo>
                  <a:lnTo>
                    <a:pt x="742952" y="100399"/>
                  </a:lnTo>
                  <a:lnTo>
                    <a:pt x="769280" y="33851"/>
                  </a:lnTo>
                  <a:lnTo>
                    <a:pt x="780985" y="0"/>
                  </a:lnTo>
                  <a:lnTo>
                    <a:pt x="792690" y="33850"/>
                  </a:lnTo>
                  <a:lnTo>
                    <a:pt x="819017" y="100398"/>
                  </a:lnTo>
                  <a:lnTo>
                    <a:pt x="849207" y="165352"/>
                  </a:lnTo>
                  <a:lnTo>
                    <a:pt x="883106" y="228380"/>
                  </a:lnTo>
                  <a:lnTo>
                    <a:pt x="920657" y="289374"/>
                  </a:lnTo>
                  <a:lnTo>
                    <a:pt x="961668" y="348024"/>
                  </a:lnTo>
                  <a:lnTo>
                    <a:pt x="1006068" y="404230"/>
                  </a:lnTo>
                  <a:lnTo>
                    <a:pt x="1053631" y="457703"/>
                  </a:lnTo>
                  <a:lnTo>
                    <a:pt x="1104276" y="508354"/>
                  </a:lnTo>
                  <a:lnTo>
                    <a:pt x="1157745" y="555923"/>
                  </a:lnTo>
                  <a:lnTo>
                    <a:pt x="1213946" y="600329"/>
                  </a:lnTo>
                  <a:lnTo>
                    <a:pt x="1272591" y="641346"/>
                  </a:lnTo>
                  <a:lnTo>
                    <a:pt x="1333582" y="678904"/>
                  </a:lnTo>
                  <a:lnTo>
                    <a:pt x="1396606" y="712810"/>
                  </a:lnTo>
                  <a:lnTo>
                    <a:pt x="1461557" y="743007"/>
                  </a:lnTo>
                  <a:lnTo>
                    <a:pt x="1528101" y="769341"/>
                  </a:lnTo>
                  <a:lnTo>
                    <a:pt x="1561951" y="781050"/>
                  </a:lnTo>
                  <a:lnTo>
                    <a:pt x="1528101" y="792758"/>
                  </a:lnTo>
                  <a:lnTo>
                    <a:pt x="1461556" y="819092"/>
                  </a:lnTo>
                  <a:lnTo>
                    <a:pt x="1396606" y="849289"/>
                  </a:lnTo>
                  <a:lnTo>
                    <a:pt x="1333582" y="883195"/>
                  </a:lnTo>
                  <a:lnTo>
                    <a:pt x="1272591" y="920753"/>
                  </a:lnTo>
                  <a:lnTo>
                    <a:pt x="1213945" y="961770"/>
                  </a:lnTo>
                  <a:lnTo>
                    <a:pt x="1157745" y="1006176"/>
                  </a:lnTo>
                  <a:lnTo>
                    <a:pt x="1104276" y="1053745"/>
                  </a:lnTo>
                  <a:lnTo>
                    <a:pt x="1053631" y="1104396"/>
                  </a:lnTo>
                  <a:lnTo>
                    <a:pt x="1006068" y="1157870"/>
                  </a:lnTo>
                  <a:lnTo>
                    <a:pt x="961668" y="1214075"/>
                  </a:lnTo>
                  <a:lnTo>
                    <a:pt x="920657" y="1272725"/>
                  </a:lnTo>
                  <a:lnTo>
                    <a:pt x="883106" y="1333720"/>
                  </a:lnTo>
                  <a:lnTo>
                    <a:pt x="849207" y="1396748"/>
                  </a:lnTo>
                  <a:lnTo>
                    <a:pt x="819017" y="1461701"/>
                  </a:lnTo>
                  <a:lnTo>
                    <a:pt x="792690" y="1528249"/>
                  </a:lnTo>
                  <a:lnTo>
                    <a:pt x="780985" y="1562100"/>
                  </a:lnTo>
                  <a:close/>
                </a:path>
              </a:pathLst>
            </a:custGeom>
            <a:solidFill>
              <a:schemeClr val="tx2">
                <a:lumMod val="75000"/>
              </a:schemeClr>
            </a:solidFill>
          </p:spPr>
          <p:txBody>
            <a:bodyPr wrap="square" lIns="0" tIns="0" rIns="0" bIns="0" rtlCol="0"/>
            <a:lstStyle/>
            <a:p>
              <a:endParaRPr dirty="0"/>
            </a:p>
          </p:txBody>
        </p:sp>
      </p:grpSp>
      <p:sp>
        <p:nvSpPr>
          <p:cNvPr id="6" name="object 6"/>
          <p:cNvSpPr txBox="1">
            <a:spLocks noGrp="1"/>
          </p:cNvSpPr>
          <p:nvPr>
            <p:ph type="title"/>
          </p:nvPr>
        </p:nvSpPr>
        <p:spPr>
          <a:xfrm>
            <a:off x="4648200" y="952500"/>
            <a:ext cx="10515600" cy="1028487"/>
          </a:xfrm>
          <a:prstGeom prst="rect">
            <a:avLst/>
          </a:prstGeom>
        </p:spPr>
        <p:txBody>
          <a:bodyPr vert="horz" wrap="square" lIns="0" tIns="12700" rIns="0" bIns="0" rtlCol="0">
            <a:spAutoFit/>
          </a:bodyPr>
          <a:lstStyle/>
          <a:p>
            <a:pPr marL="12700">
              <a:lnSpc>
                <a:spcPct val="100000"/>
              </a:lnSpc>
              <a:spcBef>
                <a:spcPts val="100"/>
              </a:spcBef>
            </a:pPr>
            <a:r>
              <a:rPr sz="6600" b="1" u="sng" spc="140" dirty="0">
                <a:solidFill>
                  <a:schemeClr val="tx2"/>
                </a:solidFill>
                <a:latin typeface="Trebuchet MS"/>
                <a:cs typeface="Trebuchet MS"/>
              </a:rPr>
              <a:t>Some</a:t>
            </a:r>
            <a:r>
              <a:rPr sz="6600" b="1" u="sng" spc="204" dirty="0">
                <a:solidFill>
                  <a:schemeClr val="tx2"/>
                </a:solidFill>
                <a:latin typeface="Trebuchet MS"/>
                <a:cs typeface="Trebuchet MS"/>
              </a:rPr>
              <a:t> </a:t>
            </a:r>
            <a:r>
              <a:rPr lang="en-US" sz="6600" b="1" u="sng" spc="204" dirty="0">
                <a:solidFill>
                  <a:schemeClr val="tx2"/>
                </a:solidFill>
                <a:latin typeface="Trebuchet MS"/>
                <a:cs typeface="Trebuchet MS"/>
              </a:rPr>
              <a:t>more </a:t>
            </a:r>
            <a:r>
              <a:rPr sz="6600" b="1" u="sng" spc="155" dirty="0">
                <a:solidFill>
                  <a:schemeClr val="tx2"/>
                </a:solidFill>
                <a:latin typeface="Trebuchet MS"/>
                <a:cs typeface="Trebuchet MS"/>
              </a:rPr>
              <a:t>applications</a:t>
            </a:r>
            <a:endParaRPr sz="6600" u="sng" dirty="0">
              <a:solidFill>
                <a:schemeClr val="tx2"/>
              </a:solidFill>
              <a:latin typeface="Trebuchet MS"/>
              <a:cs typeface="Trebuchet MS"/>
            </a:endParaRPr>
          </a:p>
        </p:txBody>
      </p:sp>
      <p:sp>
        <p:nvSpPr>
          <p:cNvPr id="7" name="object 7"/>
          <p:cNvSpPr txBox="1">
            <a:spLocks noGrp="1"/>
          </p:cNvSpPr>
          <p:nvPr>
            <p:ph type="body" idx="1"/>
          </p:nvPr>
        </p:nvSpPr>
        <p:spPr>
          <a:prstGeom prst="rect">
            <a:avLst/>
          </a:prstGeom>
        </p:spPr>
        <p:txBody>
          <a:bodyPr vert="horz" wrap="square" lIns="0" tIns="12065" rIns="0" bIns="0" rtlCol="0">
            <a:spAutoFit/>
          </a:bodyPr>
          <a:lstStyle/>
          <a:p>
            <a:pPr marL="4251960" marR="5080">
              <a:lnSpc>
                <a:spcPct val="115399"/>
              </a:lnSpc>
              <a:spcBef>
                <a:spcPts val="95"/>
              </a:spcBef>
            </a:pPr>
            <a:r>
              <a:rPr spc="-10" dirty="0">
                <a:solidFill>
                  <a:schemeClr val="tx2">
                    <a:lumMod val="75000"/>
                  </a:schemeClr>
                </a:solidFill>
              </a:rPr>
              <a:t>The</a:t>
            </a:r>
            <a:r>
              <a:rPr spc="-130" dirty="0">
                <a:solidFill>
                  <a:schemeClr val="tx2">
                    <a:lumMod val="75000"/>
                  </a:schemeClr>
                </a:solidFill>
              </a:rPr>
              <a:t> </a:t>
            </a:r>
            <a:r>
              <a:rPr spc="35" dirty="0">
                <a:solidFill>
                  <a:schemeClr val="tx2">
                    <a:lumMod val="75000"/>
                  </a:schemeClr>
                </a:solidFill>
              </a:rPr>
              <a:t>Fast</a:t>
            </a:r>
            <a:r>
              <a:rPr spc="-130" dirty="0">
                <a:solidFill>
                  <a:schemeClr val="tx2">
                    <a:lumMod val="75000"/>
                  </a:schemeClr>
                </a:solidFill>
              </a:rPr>
              <a:t> </a:t>
            </a:r>
            <a:r>
              <a:rPr spc="15" dirty="0">
                <a:solidFill>
                  <a:schemeClr val="tx2">
                    <a:lumMod val="75000"/>
                  </a:schemeClr>
                </a:solidFill>
              </a:rPr>
              <a:t>Fourier</a:t>
            </a:r>
            <a:r>
              <a:rPr spc="-130" dirty="0">
                <a:solidFill>
                  <a:schemeClr val="tx2">
                    <a:lumMod val="75000"/>
                  </a:schemeClr>
                </a:solidFill>
              </a:rPr>
              <a:t> </a:t>
            </a:r>
            <a:r>
              <a:rPr dirty="0">
                <a:solidFill>
                  <a:schemeClr val="tx2">
                    <a:lumMod val="75000"/>
                  </a:schemeClr>
                </a:solidFill>
              </a:rPr>
              <a:t>Transform</a:t>
            </a:r>
            <a:r>
              <a:rPr spc="-125" dirty="0">
                <a:solidFill>
                  <a:schemeClr val="tx2">
                    <a:lumMod val="75000"/>
                  </a:schemeClr>
                </a:solidFill>
              </a:rPr>
              <a:t> </a:t>
            </a:r>
            <a:r>
              <a:rPr spc="10" dirty="0">
                <a:solidFill>
                  <a:schemeClr val="tx2">
                    <a:lumMod val="75000"/>
                  </a:schemeClr>
                </a:solidFill>
              </a:rPr>
              <a:t>(FFT)</a:t>
            </a:r>
            <a:r>
              <a:rPr spc="-130" dirty="0">
                <a:solidFill>
                  <a:schemeClr val="tx2">
                    <a:lumMod val="75000"/>
                  </a:schemeClr>
                </a:solidFill>
              </a:rPr>
              <a:t> </a:t>
            </a:r>
            <a:r>
              <a:rPr spc="-5" dirty="0">
                <a:solidFill>
                  <a:schemeClr val="tx2">
                    <a:lumMod val="75000"/>
                  </a:schemeClr>
                </a:solidFill>
              </a:rPr>
              <a:t>algorithm</a:t>
            </a:r>
            <a:r>
              <a:rPr spc="-130" dirty="0">
                <a:solidFill>
                  <a:schemeClr val="tx2">
                    <a:lumMod val="75000"/>
                  </a:schemeClr>
                </a:solidFill>
              </a:rPr>
              <a:t> </a:t>
            </a:r>
            <a:r>
              <a:rPr spc="-30" dirty="0">
                <a:solidFill>
                  <a:schemeClr val="tx2">
                    <a:lumMod val="75000"/>
                  </a:schemeClr>
                </a:solidFill>
              </a:rPr>
              <a:t>is</a:t>
            </a:r>
            <a:r>
              <a:rPr spc="-125" dirty="0">
                <a:solidFill>
                  <a:schemeClr val="tx2">
                    <a:lumMod val="75000"/>
                  </a:schemeClr>
                </a:solidFill>
              </a:rPr>
              <a:t> </a:t>
            </a:r>
            <a:r>
              <a:rPr spc="30" dirty="0">
                <a:solidFill>
                  <a:schemeClr val="tx2">
                    <a:lumMod val="75000"/>
                  </a:schemeClr>
                </a:solidFill>
              </a:rPr>
              <a:t>widely</a:t>
            </a:r>
            <a:r>
              <a:rPr spc="-130" dirty="0">
                <a:solidFill>
                  <a:schemeClr val="tx2">
                    <a:lumMod val="75000"/>
                  </a:schemeClr>
                </a:solidFill>
              </a:rPr>
              <a:t> </a:t>
            </a:r>
            <a:r>
              <a:rPr spc="15" dirty="0">
                <a:solidFill>
                  <a:schemeClr val="tx2">
                    <a:lumMod val="75000"/>
                  </a:schemeClr>
                </a:solidFill>
              </a:rPr>
              <a:t>used</a:t>
            </a:r>
            <a:r>
              <a:rPr spc="-130" dirty="0">
                <a:solidFill>
                  <a:schemeClr val="tx2">
                    <a:lumMod val="75000"/>
                  </a:schemeClr>
                </a:solidFill>
              </a:rPr>
              <a:t> </a:t>
            </a:r>
            <a:r>
              <a:rPr spc="-15" dirty="0">
                <a:solidFill>
                  <a:schemeClr val="tx2">
                    <a:lumMod val="75000"/>
                  </a:schemeClr>
                </a:solidFill>
              </a:rPr>
              <a:t>in</a:t>
            </a:r>
            <a:r>
              <a:rPr spc="-130" dirty="0">
                <a:solidFill>
                  <a:schemeClr val="tx2">
                    <a:lumMod val="75000"/>
                  </a:schemeClr>
                </a:solidFill>
              </a:rPr>
              <a:t> </a:t>
            </a:r>
            <a:r>
              <a:rPr spc="15" dirty="0">
                <a:solidFill>
                  <a:schemeClr val="tx2">
                    <a:lumMod val="75000"/>
                  </a:schemeClr>
                </a:solidFill>
              </a:rPr>
              <a:t>various</a:t>
            </a:r>
            <a:r>
              <a:rPr spc="-125" dirty="0">
                <a:solidFill>
                  <a:schemeClr val="tx2">
                    <a:lumMod val="75000"/>
                  </a:schemeClr>
                </a:solidFill>
              </a:rPr>
              <a:t> </a:t>
            </a:r>
            <a:r>
              <a:rPr spc="10" dirty="0">
                <a:solidFill>
                  <a:schemeClr val="tx2">
                    <a:lumMod val="75000"/>
                  </a:schemeClr>
                </a:solidFill>
              </a:rPr>
              <a:t>fields</a:t>
            </a:r>
            <a:r>
              <a:rPr spc="-130" dirty="0">
                <a:solidFill>
                  <a:schemeClr val="tx2">
                    <a:lumMod val="75000"/>
                  </a:schemeClr>
                </a:solidFill>
              </a:rPr>
              <a:t> </a:t>
            </a:r>
            <a:r>
              <a:rPr spc="25" dirty="0">
                <a:solidFill>
                  <a:schemeClr val="tx2">
                    <a:lumMod val="75000"/>
                  </a:schemeClr>
                </a:solidFill>
              </a:rPr>
              <a:t>for</a:t>
            </a:r>
            <a:r>
              <a:rPr spc="-130" dirty="0">
                <a:solidFill>
                  <a:schemeClr val="tx2">
                    <a:lumMod val="75000"/>
                  </a:schemeClr>
                </a:solidFill>
              </a:rPr>
              <a:t> </a:t>
            </a:r>
            <a:r>
              <a:rPr spc="25" dirty="0">
                <a:solidFill>
                  <a:schemeClr val="tx2">
                    <a:lumMod val="75000"/>
                  </a:schemeClr>
                </a:solidFill>
              </a:rPr>
              <a:t>efficient</a:t>
            </a:r>
            <a:r>
              <a:rPr spc="-125" dirty="0">
                <a:solidFill>
                  <a:schemeClr val="tx2">
                    <a:lumMod val="75000"/>
                  </a:schemeClr>
                </a:solidFill>
              </a:rPr>
              <a:t> </a:t>
            </a:r>
            <a:r>
              <a:rPr spc="25" dirty="0">
                <a:solidFill>
                  <a:schemeClr val="tx2">
                    <a:lumMod val="75000"/>
                  </a:schemeClr>
                </a:solidFill>
              </a:rPr>
              <a:t>computation</a:t>
            </a:r>
            <a:r>
              <a:rPr spc="-130" dirty="0">
                <a:solidFill>
                  <a:schemeClr val="tx2">
                    <a:lumMod val="75000"/>
                  </a:schemeClr>
                </a:solidFill>
              </a:rPr>
              <a:t> </a:t>
            </a:r>
            <a:r>
              <a:rPr spc="25" dirty="0">
                <a:solidFill>
                  <a:schemeClr val="tx2">
                    <a:lumMod val="75000"/>
                  </a:schemeClr>
                </a:solidFill>
              </a:rPr>
              <a:t>of</a:t>
            </a:r>
            <a:r>
              <a:rPr spc="-130" dirty="0">
                <a:solidFill>
                  <a:schemeClr val="tx2">
                    <a:lumMod val="75000"/>
                  </a:schemeClr>
                </a:solidFill>
              </a:rPr>
              <a:t> </a:t>
            </a:r>
            <a:r>
              <a:rPr spc="40" dirty="0">
                <a:solidFill>
                  <a:schemeClr val="tx2">
                    <a:lumMod val="75000"/>
                  </a:schemeClr>
                </a:solidFill>
              </a:rPr>
              <a:t>the </a:t>
            </a:r>
            <a:r>
              <a:rPr spc="-600" dirty="0">
                <a:solidFill>
                  <a:schemeClr val="tx2">
                    <a:lumMod val="75000"/>
                  </a:schemeClr>
                </a:solidFill>
              </a:rPr>
              <a:t> </a:t>
            </a:r>
            <a:r>
              <a:rPr spc="30" dirty="0">
                <a:solidFill>
                  <a:schemeClr val="tx2">
                    <a:lumMod val="75000"/>
                  </a:schemeClr>
                </a:solidFill>
              </a:rPr>
              <a:t>Discrete</a:t>
            </a:r>
            <a:r>
              <a:rPr spc="-135" dirty="0">
                <a:solidFill>
                  <a:schemeClr val="tx2">
                    <a:lumMod val="75000"/>
                  </a:schemeClr>
                </a:solidFill>
              </a:rPr>
              <a:t> </a:t>
            </a:r>
            <a:r>
              <a:rPr spc="15" dirty="0">
                <a:solidFill>
                  <a:schemeClr val="tx2">
                    <a:lumMod val="75000"/>
                  </a:schemeClr>
                </a:solidFill>
              </a:rPr>
              <a:t>Fourier</a:t>
            </a:r>
            <a:r>
              <a:rPr spc="-130" dirty="0">
                <a:solidFill>
                  <a:schemeClr val="tx2">
                    <a:lumMod val="75000"/>
                  </a:schemeClr>
                </a:solidFill>
              </a:rPr>
              <a:t> </a:t>
            </a:r>
            <a:r>
              <a:rPr dirty="0">
                <a:solidFill>
                  <a:schemeClr val="tx2">
                    <a:lumMod val="75000"/>
                  </a:schemeClr>
                </a:solidFill>
              </a:rPr>
              <a:t>Transform</a:t>
            </a:r>
            <a:r>
              <a:rPr spc="-135" dirty="0">
                <a:solidFill>
                  <a:schemeClr val="tx2">
                    <a:lumMod val="75000"/>
                  </a:schemeClr>
                </a:solidFill>
              </a:rPr>
              <a:t> </a:t>
            </a:r>
            <a:r>
              <a:rPr spc="5" dirty="0">
                <a:solidFill>
                  <a:schemeClr val="tx2">
                    <a:lumMod val="75000"/>
                  </a:schemeClr>
                </a:solidFill>
              </a:rPr>
              <a:t>(DFT)</a:t>
            </a:r>
            <a:r>
              <a:rPr spc="-130" dirty="0">
                <a:solidFill>
                  <a:schemeClr val="tx2">
                    <a:lumMod val="75000"/>
                  </a:schemeClr>
                </a:solidFill>
              </a:rPr>
              <a:t> </a:t>
            </a:r>
            <a:r>
              <a:rPr spc="20" dirty="0">
                <a:solidFill>
                  <a:schemeClr val="tx2">
                    <a:lumMod val="75000"/>
                  </a:schemeClr>
                </a:solidFill>
              </a:rPr>
              <a:t>and</a:t>
            </a:r>
            <a:r>
              <a:rPr spc="-135" dirty="0">
                <a:solidFill>
                  <a:schemeClr val="tx2">
                    <a:lumMod val="75000"/>
                  </a:schemeClr>
                </a:solidFill>
              </a:rPr>
              <a:t> </a:t>
            </a:r>
            <a:r>
              <a:rPr spc="5" dirty="0">
                <a:solidFill>
                  <a:schemeClr val="tx2">
                    <a:lumMod val="75000"/>
                  </a:schemeClr>
                </a:solidFill>
              </a:rPr>
              <a:t>its</a:t>
            </a:r>
            <a:r>
              <a:rPr spc="-130" dirty="0">
                <a:solidFill>
                  <a:schemeClr val="tx2">
                    <a:lumMod val="75000"/>
                  </a:schemeClr>
                </a:solidFill>
              </a:rPr>
              <a:t> </a:t>
            </a:r>
            <a:r>
              <a:rPr spc="5" dirty="0">
                <a:solidFill>
                  <a:schemeClr val="tx2">
                    <a:lumMod val="75000"/>
                  </a:schemeClr>
                </a:solidFill>
              </a:rPr>
              <a:t>inverse.</a:t>
            </a:r>
            <a:r>
              <a:rPr spc="-135" dirty="0">
                <a:solidFill>
                  <a:schemeClr val="tx2">
                    <a:lumMod val="75000"/>
                  </a:schemeClr>
                </a:solidFill>
              </a:rPr>
              <a:t> </a:t>
            </a:r>
            <a:r>
              <a:rPr spc="40" dirty="0">
                <a:solidFill>
                  <a:schemeClr val="tx2">
                    <a:lumMod val="75000"/>
                  </a:schemeClr>
                </a:solidFill>
              </a:rPr>
              <a:t>Here</a:t>
            </a:r>
            <a:r>
              <a:rPr spc="-130" dirty="0">
                <a:solidFill>
                  <a:schemeClr val="tx2">
                    <a:lumMod val="75000"/>
                  </a:schemeClr>
                </a:solidFill>
              </a:rPr>
              <a:t> </a:t>
            </a:r>
            <a:r>
              <a:rPr spc="25" dirty="0">
                <a:solidFill>
                  <a:schemeClr val="tx2">
                    <a:lumMod val="75000"/>
                  </a:schemeClr>
                </a:solidFill>
              </a:rPr>
              <a:t>are</a:t>
            </a:r>
            <a:r>
              <a:rPr spc="-135" dirty="0">
                <a:solidFill>
                  <a:schemeClr val="tx2">
                    <a:lumMod val="75000"/>
                  </a:schemeClr>
                </a:solidFill>
              </a:rPr>
              <a:t> </a:t>
            </a:r>
            <a:r>
              <a:rPr spc="5" dirty="0">
                <a:solidFill>
                  <a:schemeClr val="tx2">
                    <a:lumMod val="75000"/>
                  </a:schemeClr>
                </a:solidFill>
              </a:rPr>
              <a:t>some</a:t>
            </a:r>
            <a:r>
              <a:rPr spc="-130" dirty="0">
                <a:solidFill>
                  <a:schemeClr val="tx2">
                    <a:lumMod val="75000"/>
                  </a:schemeClr>
                </a:solidFill>
              </a:rPr>
              <a:t> </a:t>
            </a:r>
            <a:r>
              <a:rPr spc="20" dirty="0">
                <a:solidFill>
                  <a:schemeClr val="tx2">
                    <a:lumMod val="75000"/>
                  </a:schemeClr>
                </a:solidFill>
              </a:rPr>
              <a:t>common</a:t>
            </a:r>
            <a:r>
              <a:rPr spc="-135" dirty="0">
                <a:solidFill>
                  <a:schemeClr val="tx2">
                    <a:lumMod val="75000"/>
                  </a:schemeClr>
                </a:solidFill>
              </a:rPr>
              <a:t> </a:t>
            </a:r>
            <a:r>
              <a:rPr spc="15" dirty="0">
                <a:solidFill>
                  <a:schemeClr val="tx2">
                    <a:lumMod val="75000"/>
                  </a:schemeClr>
                </a:solidFill>
              </a:rPr>
              <a:t>applications</a:t>
            </a:r>
            <a:r>
              <a:rPr spc="-130" dirty="0">
                <a:solidFill>
                  <a:schemeClr val="tx2">
                    <a:lumMod val="75000"/>
                  </a:schemeClr>
                </a:solidFill>
              </a:rPr>
              <a:t> </a:t>
            </a:r>
            <a:r>
              <a:rPr spc="25" dirty="0">
                <a:solidFill>
                  <a:schemeClr val="tx2">
                    <a:lumMod val="75000"/>
                  </a:schemeClr>
                </a:solidFill>
              </a:rPr>
              <a:t>of</a:t>
            </a:r>
            <a:r>
              <a:rPr spc="-130" dirty="0">
                <a:solidFill>
                  <a:schemeClr val="tx2">
                    <a:lumMod val="75000"/>
                  </a:schemeClr>
                </a:solidFill>
              </a:rPr>
              <a:t> </a:t>
            </a:r>
            <a:r>
              <a:rPr spc="-15" dirty="0">
                <a:solidFill>
                  <a:schemeClr val="tx2">
                    <a:lumMod val="75000"/>
                  </a:schemeClr>
                </a:solidFill>
              </a:rPr>
              <a:t>FFT:</a:t>
            </a:r>
          </a:p>
          <a:p>
            <a:pPr marL="4239260">
              <a:lnSpc>
                <a:spcPct val="100000"/>
              </a:lnSpc>
              <a:spcBef>
                <a:spcPts val="10"/>
              </a:spcBef>
            </a:pPr>
            <a:endParaRPr sz="1750" dirty="0">
              <a:solidFill>
                <a:schemeClr val="tx2">
                  <a:lumMod val="75000"/>
                </a:schemeClr>
              </a:solidFill>
            </a:endParaRPr>
          </a:p>
          <a:p>
            <a:pPr marL="4678045" marR="657225" indent="-224790">
              <a:lnSpc>
                <a:spcPct val="115399"/>
              </a:lnSpc>
              <a:buAutoNum type="arabicPeriod"/>
              <a:tabLst>
                <a:tab pos="4678680" algn="l"/>
              </a:tabLst>
            </a:pPr>
            <a:r>
              <a:rPr dirty="0">
                <a:solidFill>
                  <a:schemeClr val="tx2">
                    <a:lumMod val="75000"/>
                  </a:schemeClr>
                </a:solidFill>
              </a:rPr>
              <a:t>Signal</a:t>
            </a:r>
            <a:r>
              <a:rPr spc="-125" dirty="0">
                <a:solidFill>
                  <a:schemeClr val="tx2">
                    <a:lumMod val="75000"/>
                  </a:schemeClr>
                </a:solidFill>
              </a:rPr>
              <a:t> </a:t>
            </a:r>
            <a:r>
              <a:rPr spc="5" dirty="0">
                <a:solidFill>
                  <a:schemeClr val="tx2">
                    <a:lumMod val="75000"/>
                  </a:schemeClr>
                </a:solidFill>
              </a:rPr>
              <a:t>Processing:</a:t>
            </a:r>
            <a:r>
              <a:rPr spc="-120" dirty="0">
                <a:solidFill>
                  <a:schemeClr val="tx2">
                    <a:lumMod val="75000"/>
                  </a:schemeClr>
                </a:solidFill>
              </a:rPr>
              <a:t> </a:t>
            </a:r>
            <a:r>
              <a:rPr spc="15" dirty="0">
                <a:solidFill>
                  <a:schemeClr val="tx2">
                    <a:lumMod val="75000"/>
                  </a:schemeClr>
                </a:solidFill>
              </a:rPr>
              <a:t>FFT</a:t>
            </a:r>
            <a:r>
              <a:rPr spc="-120" dirty="0">
                <a:solidFill>
                  <a:schemeClr val="tx2">
                    <a:lumMod val="75000"/>
                  </a:schemeClr>
                </a:solidFill>
              </a:rPr>
              <a:t> </a:t>
            </a:r>
            <a:r>
              <a:rPr spc="20" dirty="0">
                <a:solidFill>
                  <a:schemeClr val="tx2">
                    <a:lumMod val="75000"/>
                  </a:schemeClr>
                </a:solidFill>
              </a:rPr>
              <a:t>enables</a:t>
            </a:r>
            <a:r>
              <a:rPr spc="-120" dirty="0">
                <a:solidFill>
                  <a:schemeClr val="tx2">
                    <a:lumMod val="75000"/>
                  </a:schemeClr>
                </a:solidFill>
              </a:rPr>
              <a:t> </a:t>
            </a:r>
            <a:r>
              <a:rPr spc="40" dirty="0">
                <a:solidFill>
                  <a:schemeClr val="tx2">
                    <a:lumMod val="75000"/>
                  </a:schemeClr>
                </a:solidFill>
              </a:rPr>
              <a:t>the</a:t>
            </a:r>
            <a:r>
              <a:rPr spc="-120" dirty="0">
                <a:solidFill>
                  <a:schemeClr val="tx2">
                    <a:lumMod val="75000"/>
                  </a:schemeClr>
                </a:solidFill>
              </a:rPr>
              <a:t> </a:t>
            </a:r>
            <a:r>
              <a:rPr spc="-5" dirty="0">
                <a:solidFill>
                  <a:schemeClr val="tx2">
                    <a:lumMod val="75000"/>
                  </a:schemeClr>
                </a:solidFill>
              </a:rPr>
              <a:t>analysis,</a:t>
            </a:r>
            <a:r>
              <a:rPr spc="-120" dirty="0">
                <a:solidFill>
                  <a:schemeClr val="tx2">
                    <a:lumMod val="75000"/>
                  </a:schemeClr>
                </a:solidFill>
              </a:rPr>
              <a:t> </a:t>
            </a:r>
            <a:r>
              <a:rPr spc="-15" dirty="0">
                <a:solidFill>
                  <a:schemeClr val="tx2">
                    <a:lumMod val="75000"/>
                  </a:schemeClr>
                </a:solidFill>
              </a:rPr>
              <a:t>filtering,</a:t>
            </a:r>
            <a:r>
              <a:rPr spc="-125" dirty="0">
                <a:solidFill>
                  <a:schemeClr val="tx2">
                    <a:lumMod val="75000"/>
                  </a:schemeClr>
                </a:solidFill>
              </a:rPr>
              <a:t> </a:t>
            </a:r>
            <a:r>
              <a:rPr spc="20" dirty="0">
                <a:solidFill>
                  <a:schemeClr val="tx2">
                    <a:lumMod val="75000"/>
                  </a:schemeClr>
                </a:solidFill>
              </a:rPr>
              <a:t>and</a:t>
            </a:r>
            <a:r>
              <a:rPr spc="-120" dirty="0">
                <a:solidFill>
                  <a:schemeClr val="tx2">
                    <a:lumMod val="75000"/>
                  </a:schemeClr>
                </a:solidFill>
              </a:rPr>
              <a:t> </a:t>
            </a:r>
            <a:r>
              <a:rPr spc="10" dirty="0">
                <a:solidFill>
                  <a:schemeClr val="tx2">
                    <a:lumMod val="75000"/>
                  </a:schemeClr>
                </a:solidFill>
              </a:rPr>
              <a:t>modification</a:t>
            </a:r>
            <a:r>
              <a:rPr spc="-120" dirty="0">
                <a:solidFill>
                  <a:schemeClr val="tx2">
                    <a:lumMod val="75000"/>
                  </a:schemeClr>
                </a:solidFill>
              </a:rPr>
              <a:t> </a:t>
            </a:r>
            <a:r>
              <a:rPr spc="25" dirty="0">
                <a:solidFill>
                  <a:schemeClr val="tx2">
                    <a:lumMod val="75000"/>
                  </a:schemeClr>
                </a:solidFill>
              </a:rPr>
              <a:t>of</a:t>
            </a:r>
            <a:r>
              <a:rPr spc="-120" dirty="0">
                <a:solidFill>
                  <a:schemeClr val="tx2">
                    <a:lumMod val="75000"/>
                  </a:schemeClr>
                </a:solidFill>
              </a:rPr>
              <a:t> </a:t>
            </a:r>
            <a:r>
              <a:rPr spc="-25" dirty="0">
                <a:solidFill>
                  <a:schemeClr val="tx2">
                    <a:lumMod val="75000"/>
                  </a:schemeClr>
                </a:solidFill>
              </a:rPr>
              <a:t>signals</a:t>
            </a:r>
            <a:r>
              <a:rPr spc="-120" dirty="0">
                <a:solidFill>
                  <a:schemeClr val="tx2">
                    <a:lumMod val="75000"/>
                  </a:schemeClr>
                </a:solidFill>
              </a:rPr>
              <a:t> </a:t>
            </a:r>
            <a:r>
              <a:rPr spc="-15" dirty="0">
                <a:solidFill>
                  <a:schemeClr val="tx2">
                    <a:lumMod val="75000"/>
                  </a:schemeClr>
                </a:solidFill>
              </a:rPr>
              <a:t>in</a:t>
            </a:r>
            <a:r>
              <a:rPr spc="-120" dirty="0">
                <a:solidFill>
                  <a:schemeClr val="tx2">
                    <a:lumMod val="75000"/>
                  </a:schemeClr>
                </a:solidFill>
              </a:rPr>
              <a:t> </a:t>
            </a:r>
            <a:r>
              <a:rPr spc="40" dirty="0">
                <a:solidFill>
                  <a:schemeClr val="tx2">
                    <a:lumMod val="75000"/>
                  </a:schemeClr>
                </a:solidFill>
              </a:rPr>
              <a:t>the</a:t>
            </a:r>
            <a:r>
              <a:rPr spc="-120" dirty="0">
                <a:solidFill>
                  <a:schemeClr val="tx2">
                    <a:lumMod val="75000"/>
                  </a:schemeClr>
                </a:solidFill>
              </a:rPr>
              <a:t> </a:t>
            </a:r>
            <a:r>
              <a:rPr spc="40" dirty="0">
                <a:solidFill>
                  <a:schemeClr val="tx2">
                    <a:lumMod val="75000"/>
                  </a:schemeClr>
                </a:solidFill>
              </a:rPr>
              <a:t>frequency </a:t>
            </a:r>
            <a:r>
              <a:rPr spc="-605" dirty="0">
                <a:solidFill>
                  <a:schemeClr val="tx2">
                    <a:lumMod val="75000"/>
                  </a:schemeClr>
                </a:solidFill>
              </a:rPr>
              <a:t> </a:t>
            </a:r>
            <a:r>
              <a:rPr spc="-10" dirty="0">
                <a:solidFill>
                  <a:schemeClr val="tx2">
                    <a:lumMod val="75000"/>
                  </a:schemeClr>
                </a:solidFill>
              </a:rPr>
              <a:t>domain.</a:t>
            </a:r>
          </a:p>
          <a:p>
            <a:pPr marL="4678045" marR="151765" indent="-228600">
              <a:lnSpc>
                <a:spcPct val="115399"/>
              </a:lnSpc>
              <a:buAutoNum type="arabicPeriod"/>
              <a:tabLst>
                <a:tab pos="4678680" algn="l"/>
              </a:tabLst>
            </a:pPr>
            <a:r>
              <a:rPr spc="-10" dirty="0">
                <a:solidFill>
                  <a:schemeClr val="tx2">
                    <a:lumMod val="75000"/>
                  </a:schemeClr>
                </a:solidFill>
              </a:rPr>
              <a:t>Image</a:t>
            </a:r>
            <a:r>
              <a:rPr spc="-125" dirty="0">
                <a:solidFill>
                  <a:schemeClr val="tx2">
                    <a:lumMod val="75000"/>
                  </a:schemeClr>
                </a:solidFill>
              </a:rPr>
              <a:t> </a:t>
            </a:r>
            <a:r>
              <a:rPr spc="20" dirty="0">
                <a:solidFill>
                  <a:schemeClr val="tx2">
                    <a:lumMod val="75000"/>
                  </a:schemeClr>
                </a:solidFill>
              </a:rPr>
              <a:t>and</a:t>
            </a:r>
            <a:r>
              <a:rPr spc="-120" dirty="0">
                <a:solidFill>
                  <a:schemeClr val="tx2">
                    <a:lumMod val="75000"/>
                  </a:schemeClr>
                </a:solidFill>
              </a:rPr>
              <a:t> </a:t>
            </a:r>
            <a:r>
              <a:rPr spc="20" dirty="0">
                <a:solidFill>
                  <a:schemeClr val="tx2">
                    <a:lumMod val="75000"/>
                  </a:schemeClr>
                </a:solidFill>
              </a:rPr>
              <a:t>Video</a:t>
            </a:r>
            <a:r>
              <a:rPr spc="-125" dirty="0">
                <a:solidFill>
                  <a:schemeClr val="tx2">
                    <a:lumMod val="75000"/>
                  </a:schemeClr>
                </a:solidFill>
              </a:rPr>
              <a:t> </a:t>
            </a:r>
            <a:r>
              <a:rPr spc="-5" dirty="0">
                <a:solidFill>
                  <a:schemeClr val="tx2">
                    <a:lumMod val="75000"/>
                  </a:schemeClr>
                </a:solidFill>
              </a:rPr>
              <a:t>Compression:</a:t>
            </a:r>
            <a:r>
              <a:rPr spc="-120" dirty="0">
                <a:solidFill>
                  <a:schemeClr val="tx2">
                    <a:lumMod val="75000"/>
                  </a:schemeClr>
                </a:solidFill>
              </a:rPr>
              <a:t> </a:t>
            </a:r>
            <a:r>
              <a:rPr spc="-20" dirty="0">
                <a:solidFill>
                  <a:schemeClr val="tx2">
                    <a:lumMod val="75000"/>
                  </a:schemeClr>
                </a:solidFill>
              </a:rPr>
              <a:t>Transform-based</a:t>
            </a:r>
            <a:r>
              <a:rPr spc="-125" dirty="0">
                <a:solidFill>
                  <a:schemeClr val="tx2">
                    <a:lumMod val="75000"/>
                  </a:schemeClr>
                </a:solidFill>
              </a:rPr>
              <a:t> </a:t>
            </a:r>
            <a:r>
              <a:rPr spc="-25" dirty="0">
                <a:solidFill>
                  <a:schemeClr val="tx2">
                    <a:lumMod val="75000"/>
                  </a:schemeClr>
                </a:solidFill>
              </a:rPr>
              <a:t>image</a:t>
            </a:r>
            <a:r>
              <a:rPr spc="-120" dirty="0">
                <a:solidFill>
                  <a:schemeClr val="tx2">
                    <a:lumMod val="75000"/>
                  </a:schemeClr>
                </a:solidFill>
              </a:rPr>
              <a:t> </a:t>
            </a:r>
            <a:r>
              <a:rPr spc="20" dirty="0">
                <a:solidFill>
                  <a:schemeClr val="tx2">
                    <a:lumMod val="75000"/>
                  </a:schemeClr>
                </a:solidFill>
              </a:rPr>
              <a:t>and</a:t>
            </a:r>
            <a:r>
              <a:rPr spc="-125" dirty="0">
                <a:solidFill>
                  <a:schemeClr val="tx2">
                    <a:lumMod val="75000"/>
                  </a:schemeClr>
                </a:solidFill>
              </a:rPr>
              <a:t> </a:t>
            </a:r>
            <a:r>
              <a:rPr spc="35" dirty="0">
                <a:solidFill>
                  <a:schemeClr val="tx2">
                    <a:lumMod val="75000"/>
                  </a:schemeClr>
                </a:solidFill>
              </a:rPr>
              <a:t>video</a:t>
            </a:r>
            <a:r>
              <a:rPr spc="-120" dirty="0">
                <a:solidFill>
                  <a:schemeClr val="tx2">
                    <a:lumMod val="75000"/>
                  </a:schemeClr>
                </a:solidFill>
              </a:rPr>
              <a:t> </a:t>
            </a:r>
            <a:r>
              <a:rPr spc="10" dirty="0">
                <a:solidFill>
                  <a:schemeClr val="tx2">
                    <a:lumMod val="75000"/>
                  </a:schemeClr>
                </a:solidFill>
              </a:rPr>
              <a:t>compression</a:t>
            </a:r>
            <a:r>
              <a:rPr spc="-125" dirty="0">
                <a:solidFill>
                  <a:schemeClr val="tx2">
                    <a:lumMod val="75000"/>
                  </a:schemeClr>
                </a:solidFill>
              </a:rPr>
              <a:t> </a:t>
            </a:r>
            <a:r>
              <a:rPr spc="10" dirty="0">
                <a:solidFill>
                  <a:schemeClr val="tx2">
                    <a:lumMod val="75000"/>
                  </a:schemeClr>
                </a:solidFill>
              </a:rPr>
              <a:t>techniques,</a:t>
            </a:r>
            <a:r>
              <a:rPr spc="-120" dirty="0">
                <a:solidFill>
                  <a:schemeClr val="tx2">
                    <a:lumMod val="75000"/>
                  </a:schemeClr>
                </a:solidFill>
              </a:rPr>
              <a:t> </a:t>
            </a:r>
            <a:r>
              <a:rPr spc="-35" dirty="0">
                <a:solidFill>
                  <a:schemeClr val="tx2">
                    <a:lumMod val="75000"/>
                  </a:schemeClr>
                </a:solidFill>
              </a:rPr>
              <a:t>like</a:t>
            </a:r>
            <a:r>
              <a:rPr spc="-125" dirty="0">
                <a:solidFill>
                  <a:schemeClr val="tx2">
                    <a:lumMod val="75000"/>
                  </a:schemeClr>
                </a:solidFill>
              </a:rPr>
              <a:t> </a:t>
            </a:r>
            <a:r>
              <a:rPr spc="215" dirty="0">
                <a:solidFill>
                  <a:schemeClr val="tx2">
                    <a:lumMod val="75000"/>
                  </a:schemeClr>
                </a:solidFill>
              </a:rPr>
              <a:t>JPEG </a:t>
            </a:r>
            <a:r>
              <a:rPr spc="-600" dirty="0">
                <a:solidFill>
                  <a:schemeClr val="tx2">
                    <a:lumMod val="75000"/>
                  </a:schemeClr>
                </a:solidFill>
              </a:rPr>
              <a:t> </a:t>
            </a:r>
            <a:r>
              <a:rPr spc="20" dirty="0">
                <a:solidFill>
                  <a:schemeClr val="tx2">
                    <a:lumMod val="75000"/>
                  </a:schemeClr>
                </a:solidFill>
              </a:rPr>
              <a:t>and</a:t>
            </a:r>
            <a:r>
              <a:rPr spc="-135" dirty="0">
                <a:solidFill>
                  <a:schemeClr val="tx2">
                    <a:lumMod val="75000"/>
                  </a:schemeClr>
                </a:solidFill>
              </a:rPr>
              <a:t> </a:t>
            </a:r>
            <a:r>
              <a:rPr spc="75" dirty="0">
                <a:solidFill>
                  <a:schemeClr val="tx2">
                    <a:lumMod val="75000"/>
                  </a:schemeClr>
                </a:solidFill>
              </a:rPr>
              <a:t>MPEG,</a:t>
            </a:r>
            <a:r>
              <a:rPr spc="-135" dirty="0">
                <a:solidFill>
                  <a:schemeClr val="tx2">
                    <a:lumMod val="75000"/>
                  </a:schemeClr>
                </a:solidFill>
              </a:rPr>
              <a:t> </a:t>
            </a:r>
            <a:r>
              <a:rPr spc="30" dirty="0">
                <a:solidFill>
                  <a:schemeClr val="tx2">
                    <a:lumMod val="75000"/>
                  </a:schemeClr>
                </a:solidFill>
              </a:rPr>
              <a:t>employ</a:t>
            </a:r>
            <a:r>
              <a:rPr spc="-130" dirty="0">
                <a:solidFill>
                  <a:schemeClr val="tx2">
                    <a:lumMod val="75000"/>
                  </a:schemeClr>
                </a:solidFill>
              </a:rPr>
              <a:t> </a:t>
            </a:r>
            <a:r>
              <a:rPr spc="15" dirty="0">
                <a:solidFill>
                  <a:schemeClr val="tx2">
                    <a:lumMod val="75000"/>
                  </a:schemeClr>
                </a:solidFill>
              </a:rPr>
              <a:t>FFT</a:t>
            </a:r>
            <a:r>
              <a:rPr spc="-135" dirty="0">
                <a:solidFill>
                  <a:schemeClr val="tx2">
                    <a:lumMod val="75000"/>
                  </a:schemeClr>
                </a:solidFill>
              </a:rPr>
              <a:t> </a:t>
            </a:r>
            <a:r>
              <a:rPr spc="45" dirty="0">
                <a:solidFill>
                  <a:schemeClr val="tx2">
                    <a:lumMod val="75000"/>
                  </a:schemeClr>
                </a:solidFill>
              </a:rPr>
              <a:t>to</a:t>
            </a:r>
            <a:r>
              <a:rPr spc="-135" dirty="0">
                <a:solidFill>
                  <a:schemeClr val="tx2">
                    <a:lumMod val="75000"/>
                  </a:schemeClr>
                </a:solidFill>
              </a:rPr>
              <a:t> </a:t>
            </a:r>
            <a:r>
              <a:rPr spc="50" dirty="0">
                <a:solidFill>
                  <a:schemeClr val="tx2">
                    <a:lumMod val="75000"/>
                  </a:schemeClr>
                </a:solidFill>
              </a:rPr>
              <a:t>convert</a:t>
            </a:r>
            <a:r>
              <a:rPr spc="-130" dirty="0">
                <a:solidFill>
                  <a:schemeClr val="tx2">
                    <a:lumMod val="75000"/>
                  </a:schemeClr>
                </a:solidFill>
              </a:rPr>
              <a:t> </a:t>
            </a:r>
            <a:r>
              <a:rPr spc="40" dirty="0">
                <a:solidFill>
                  <a:schemeClr val="tx2">
                    <a:lumMod val="75000"/>
                  </a:schemeClr>
                </a:solidFill>
              </a:rPr>
              <a:t>the</a:t>
            </a:r>
            <a:r>
              <a:rPr spc="-135" dirty="0">
                <a:solidFill>
                  <a:schemeClr val="tx2">
                    <a:lumMod val="75000"/>
                  </a:schemeClr>
                </a:solidFill>
              </a:rPr>
              <a:t> </a:t>
            </a:r>
            <a:r>
              <a:rPr spc="15" dirty="0">
                <a:solidFill>
                  <a:schemeClr val="tx2">
                    <a:lumMod val="75000"/>
                  </a:schemeClr>
                </a:solidFill>
              </a:rPr>
              <a:t>spatial</a:t>
            </a:r>
            <a:r>
              <a:rPr spc="-135" dirty="0">
                <a:solidFill>
                  <a:schemeClr val="tx2">
                    <a:lumMod val="75000"/>
                  </a:schemeClr>
                </a:solidFill>
              </a:rPr>
              <a:t> </a:t>
            </a:r>
            <a:r>
              <a:rPr spc="5" dirty="0">
                <a:solidFill>
                  <a:schemeClr val="tx2">
                    <a:lumMod val="75000"/>
                  </a:schemeClr>
                </a:solidFill>
              </a:rPr>
              <a:t>domain</a:t>
            </a:r>
            <a:r>
              <a:rPr spc="-130" dirty="0">
                <a:solidFill>
                  <a:schemeClr val="tx2">
                    <a:lumMod val="75000"/>
                  </a:schemeClr>
                </a:solidFill>
              </a:rPr>
              <a:t> </a:t>
            </a:r>
            <a:r>
              <a:rPr spc="35" dirty="0">
                <a:solidFill>
                  <a:schemeClr val="tx2">
                    <a:lumMod val="75000"/>
                  </a:schemeClr>
                </a:solidFill>
              </a:rPr>
              <a:t>data</a:t>
            </a:r>
            <a:r>
              <a:rPr spc="-135" dirty="0">
                <a:solidFill>
                  <a:schemeClr val="tx2">
                    <a:lumMod val="75000"/>
                  </a:schemeClr>
                </a:solidFill>
              </a:rPr>
              <a:t> </a:t>
            </a:r>
            <a:r>
              <a:rPr spc="15" dirty="0">
                <a:solidFill>
                  <a:schemeClr val="tx2">
                    <a:lumMod val="75000"/>
                  </a:schemeClr>
                </a:solidFill>
              </a:rPr>
              <a:t>into</a:t>
            </a:r>
            <a:r>
              <a:rPr spc="-130" dirty="0">
                <a:solidFill>
                  <a:schemeClr val="tx2">
                    <a:lumMod val="75000"/>
                  </a:schemeClr>
                </a:solidFill>
              </a:rPr>
              <a:t> </a:t>
            </a:r>
            <a:r>
              <a:rPr spc="40" dirty="0">
                <a:solidFill>
                  <a:schemeClr val="tx2">
                    <a:lumMod val="75000"/>
                  </a:schemeClr>
                </a:solidFill>
              </a:rPr>
              <a:t>the</a:t>
            </a:r>
            <a:r>
              <a:rPr spc="-135" dirty="0">
                <a:solidFill>
                  <a:schemeClr val="tx2">
                    <a:lumMod val="75000"/>
                  </a:schemeClr>
                </a:solidFill>
              </a:rPr>
              <a:t> </a:t>
            </a:r>
            <a:r>
              <a:rPr spc="40" dirty="0">
                <a:solidFill>
                  <a:schemeClr val="tx2">
                    <a:lumMod val="75000"/>
                  </a:schemeClr>
                </a:solidFill>
              </a:rPr>
              <a:t>frequency</a:t>
            </a:r>
            <a:r>
              <a:rPr spc="-135" dirty="0">
                <a:solidFill>
                  <a:schemeClr val="tx2">
                    <a:lumMod val="75000"/>
                  </a:schemeClr>
                </a:solidFill>
              </a:rPr>
              <a:t> </a:t>
            </a:r>
            <a:r>
              <a:rPr spc="-10" dirty="0">
                <a:solidFill>
                  <a:schemeClr val="tx2">
                    <a:lumMod val="75000"/>
                  </a:schemeClr>
                </a:solidFill>
              </a:rPr>
              <a:t>domain.</a:t>
            </a:r>
          </a:p>
          <a:p>
            <a:pPr marL="4678045" marR="381635" indent="-236854">
              <a:lnSpc>
                <a:spcPct val="115399"/>
              </a:lnSpc>
              <a:buAutoNum type="arabicPeriod"/>
              <a:tabLst>
                <a:tab pos="4678680" algn="l"/>
              </a:tabLst>
            </a:pPr>
            <a:r>
              <a:rPr spc="10" dirty="0">
                <a:solidFill>
                  <a:schemeClr val="tx2">
                    <a:lumMod val="75000"/>
                  </a:schemeClr>
                </a:solidFill>
              </a:rPr>
              <a:t>Communication</a:t>
            </a:r>
            <a:r>
              <a:rPr spc="-120" dirty="0">
                <a:solidFill>
                  <a:schemeClr val="tx2">
                    <a:lumMod val="75000"/>
                  </a:schemeClr>
                </a:solidFill>
              </a:rPr>
              <a:t> </a:t>
            </a:r>
            <a:r>
              <a:rPr spc="25" dirty="0">
                <a:solidFill>
                  <a:schemeClr val="tx2">
                    <a:lumMod val="75000"/>
                  </a:schemeClr>
                </a:solidFill>
              </a:rPr>
              <a:t>Systems:</a:t>
            </a:r>
            <a:r>
              <a:rPr spc="-114" dirty="0">
                <a:solidFill>
                  <a:schemeClr val="tx2">
                    <a:lumMod val="75000"/>
                  </a:schemeClr>
                </a:solidFill>
              </a:rPr>
              <a:t> </a:t>
            </a:r>
            <a:r>
              <a:rPr spc="15" dirty="0">
                <a:solidFill>
                  <a:schemeClr val="tx2">
                    <a:lumMod val="75000"/>
                  </a:schemeClr>
                </a:solidFill>
              </a:rPr>
              <a:t>FFT</a:t>
            </a:r>
            <a:r>
              <a:rPr spc="-120" dirty="0">
                <a:solidFill>
                  <a:schemeClr val="tx2">
                    <a:lumMod val="75000"/>
                  </a:schemeClr>
                </a:solidFill>
              </a:rPr>
              <a:t> </a:t>
            </a:r>
            <a:r>
              <a:rPr spc="-30" dirty="0">
                <a:solidFill>
                  <a:schemeClr val="tx2">
                    <a:lumMod val="75000"/>
                  </a:schemeClr>
                </a:solidFill>
              </a:rPr>
              <a:t>is</a:t>
            </a:r>
            <a:r>
              <a:rPr spc="-114" dirty="0">
                <a:solidFill>
                  <a:schemeClr val="tx2">
                    <a:lumMod val="75000"/>
                  </a:schemeClr>
                </a:solidFill>
              </a:rPr>
              <a:t> </a:t>
            </a:r>
            <a:r>
              <a:rPr spc="10" dirty="0">
                <a:solidFill>
                  <a:schemeClr val="tx2">
                    <a:lumMod val="75000"/>
                  </a:schemeClr>
                </a:solidFill>
              </a:rPr>
              <a:t>essential</a:t>
            </a:r>
            <a:r>
              <a:rPr spc="-114" dirty="0">
                <a:solidFill>
                  <a:schemeClr val="tx2">
                    <a:lumMod val="75000"/>
                  </a:schemeClr>
                </a:solidFill>
              </a:rPr>
              <a:t> </a:t>
            </a:r>
            <a:r>
              <a:rPr spc="-15" dirty="0">
                <a:solidFill>
                  <a:schemeClr val="tx2">
                    <a:lumMod val="75000"/>
                  </a:schemeClr>
                </a:solidFill>
              </a:rPr>
              <a:t>in</a:t>
            </a:r>
            <a:r>
              <a:rPr spc="-120" dirty="0">
                <a:solidFill>
                  <a:schemeClr val="tx2">
                    <a:lumMod val="75000"/>
                  </a:schemeClr>
                </a:solidFill>
              </a:rPr>
              <a:t> </a:t>
            </a:r>
            <a:r>
              <a:rPr spc="15" dirty="0">
                <a:solidFill>
                  <a:schemeClr val="tx2">
                    <a:lumMod val="75000"/>
                  </a:schemeClr>
                </a:solidFill>
              </a:rPr>
              <a:t>menables</a:t>
            </a:r>
            <a:r>
              <a:rPr spc="-114" dirty="0">
                <a:solidFill>
                  <a:schemeClr val="tx2">
                    <a:lumMod val="75000"/>
                  </a:schemeClr>
                </a:solidFill>
              </a:rPr>
              <a:t> </a:t>
            </a:r>
            <a:r>
              <a:rPr spc="25" dirty="0">
                <a:solidFill>
                  <a:schemeClr val="tx2">
                    <a:lumMod val="75000"/>
                  </a:schemeClr>
                </a:solidFill>
              </a:rPr>
              <a:t>spectrum</a:t>
            </a:r>
            <a:r>
              <a:rPr spc="-120" dirty="0">
                <a:solidFill>
                  <a:schemeClr val="tx2">
                    <a:lumMod val="75000"/>
                  </a:schemeClr>
                </a:solidFill>
              </a:rPr>
              <a:t> </a:t>
            </a:r>
            <a:r>
              <a:rPr spc="-5" dirty="0">
                <a:solidFill>
                  <a:schemeClr val="tx2">
                    <a:lumMod val="75000"/>
                  </a:schemeClr>
                </a:solidFill>
              </a:rPr>
              <a:t>analysis,</a:t>
            </a:r>
            <a:r>
              <a:rPr spc="-114" dirty="0">
                <a:solidFill>
                  <a:schemeClr val="tx2">
                    <a:lumMod val="75000"/>
                  </a:schemeClr>
                </a:solidFill>
              </a:rPr>
              <a:t> </a:t>
            </a:r>
            <a:r>
              <a:rPr spc="25" dirty="0">
                <a:solidFill>
                  <a:schemeClr val="tx2">
                    <a:lumMod val="75000"/>
                  </a:schemeClr>
                </a:solidFill>
              </a:rPr>
              <a:t>channel</a:t>
            </a:r>
            <a:r>
              <a:rPr spc="-114" dirty="0">
                <a:solidFill>
                  <a:schemeClr val="tx2">
                    <a:lumMod val="75000"/>
                  </a:schemeClr>
                </a:solidFill>
              </a:rPr>
              <a:t> </a:t>
            </a:r>
            <a:r>
              <a:rPr spc="-15" dirty="0">
                <a:solidFill>
                  <a:schemeClr val="tx2">
                    <a:lumMod val="75000"/>
                  </a:schemeClr>
                </a:solidFill>
              </a:rPr>
              <a:t>equalization,</a:t>
            </a:r>
            <a:r>
              <a:rPr spc="-120" dirty="0">
                <a:solidFill>
                  <a:schemeClr val="tx2">
                    <a:lumMod val="75000"/>
                  </a:schemeClr>
                </a:solidFill>
              </a:rPr>
              <a:t> </a:t>
            </a:r>
            <a:r>
              <a:rPr spc="20" dirty="0">
                <a:solidFill>
                  <a:schemeClr val="tx2">
                    <a:lumMod val="75000"/>
                  </a:schemeClr>
                </a:solidFill>
              </a:rPr>
              <a:t>and </a:t>
            </a:r>
            <a:r>
              <a:rPr spc="-600" dirty="0">
                <a:solidFill>
                  <a:schemeClr val="tx2">
                    <a:lumMod val="75000"/>
                  </a:schemeClr>
                </a:solidFill>
              </a:rPr>
              <a:t> </a:t>
            </a:r>
            <a:r>
              <a:rPr spc="15" dirty="0">
                <a:solidFill>
                  <a:schemeClr val="tx2">
                    <a:lumMod val="75000"/>
                  </a:schemeClr>
                </a:solidFill>
              </a:rPr>
              <a:t>demodulation</a:t>
            </a:r>
            <a:r>
              <a:rPr spc="-135" dirty="0">
                <a:solidFill>
                  <a:schemeClr val="tx2">
                    <a:lumMod val="75000"/>
                  </a:schemeClr>
                </a:solidFill>
              </a:rPr>
              <a:t> </a:t>
            </a:r>
            <a:r>
              <a:rPr spc="25" dirty="0">
                <a:solidFill>
                  <a:schemeClr val="tx2">
                    <a:lumMod val="75000"/>
                  </a:schemeClr>
                </a:solidFill>
              </a:rPr>
              <a:t>techniqu</a:t>
            </a:r>
            <a:r>
              <a:rPr spc="-135" dirty="0">
                <a:solidFill>
                  <a:schemeClr val="tx2">
                    <a:lumMod val="75000"/>
                  </a:schemeClr>
                </a:solidFill>
              </a:rPr>
              <a:t> </a:t>
            </a:r>
            <a:r>
              <a:rPr spc="-35" dirty="0">
                <a:solidFill>
                  <a:schemeClr val="tx2">
                    <a:lumMod val="75000"/>
                  </a:schemeClr>
                </a:solidFill>
              </a:rPr>
              <a:t>like</a:t>
            </a:r>
            <a:r>
              <a:rPr spc="-135" dirty="0">
                <a:solidFill>
                  <a:schemeClr val="tx2">
                    <a:lumMod val="75000"/>
                  </a:schemeClr>
                </a:solidFill>
              </a:rPr>
              <a:t> </a:t>
            </a:r>
            <a:r>
              <a:rPr spc="55" dirty="0">
                <a:solidFill>
                  <a:schemeClr val="tx2">
                    <a:lumMod val="75000"/>
                  </a:schemeClr>
                </a:solidFill>
              </a:rPr>
              <a:t>OFDM</a:t>
            </a:r>
            <a:r>
              <a:rPr spc="-130" dirty="0">
                <a:solidFill>
                  <a:schemeClr val="tx2">
                    <a:lumMod val="75000"/>
                  </a:schemeClr>
                </a:solidFill>
              </a:rPr>
              <a:t> </a:t>
            </a:r>
            <a:r>
              <a:rPr spc="5" dirty="0">
                <a:solidFill>
                  <a:schemeClr val="tx2">
                    <a:lumMod val="75000"/>
                  </a:schemeClr>
                </a:solidFill>
              </a:rPr>
              <a:t>(Orthogonal</a:t>
            </a:r>
            <a:r>
              <a:rPr spc="-135" dirty="0">
                <a:solidFill>
                  <a:schemeClr val="tx2">
                    <a:lumMod val="75000"/>
                  </a:schemeClr>
                </a:solidFill>
              </a:rPr>
              <a:t> </a:t>
            </a:r>
            <a:r>
              <a:rPr spc="45" dirty="0">
                <a:solidFill>
                  <a:schemeClr val="tx2">
                    <a:lumMod val="75000"/>
                  </a:schemeClr>
                </a:solidFill>
              </a:rPr>
              <a:t>Frequency</a:t>
            </a:r>
            <a:r>
              <a:rPr spc="-135" dirty="0">
                <a:solidFill>
                  <a:schemeClr val="tx2">
                    <a:lumMod val="75000"/>
                  </a:schemeClr>
                </a:solidFill>
              </a:rPr>
              <a:t> </a:t>
            </a:r>
            <a:r>
              <a:rPr spc="5" dirty="0">
                <a:solidFill>
                  <a:schemeClr val="tx2">
                    <a:lumMod val="75000"/>
                  </a:schemeClr>
                </a:solidFill>
              </a:rPr>
              <a:t>Division</a:t>
            </a:r>
            <a:r>
              <a:rPr spc="-135" dirty="0">
                <a:solidFill>
                  <a:schemeClr val="tx2">
                    <a:lumMod val="75000"/>
                  </a:schemeClr>
                </a:solidFill>
              </a:rPr>
              <a:t> </a:t>
            </a:r>
            <a:r>
              <a:rPr spc="-20" dirty="0">
                <a:solidFill>
                  <a:schemeClr val="tx2">
                    <a:lumMod val="75000"/>
                  </a:schemeClr>
                </a:solidFill>
              </a:rPr>
              <a:t>Multiplexing).</a:t>
            </a:r>
          </a:p>
          <a:p>
            <a:pPr marL="4678045" marR="57785" indent="-243204">
              <a:lnSpc>
                <a:spcPct val="115399"/>
              </a:lnSpc>
              <a:buAutoNum type="arabicPeriod"/>
              <a:tabLst>
                <a:tab pos="4678680" algn="l"/>
              </a:tabLst>
            </a:pPr>
            <a:r>
              <a:rPr spc="60" dirty="0">
                <a:solidFill>
                  <a:schemeClr val="tx2">
                    <a:lumMod val="75000"/>
                  </a:schemeClr>
                </a:solidFill>
              </a:rPr>
              <a:t>Speech</a:t>
            </a:r>
            <a:r>
              <a:rPr spc="-130" dirty="0">
                <a:solidFill>
                  <a:schemeClr val="tx2">
                    <a:lumMod val="75000"/>
                  </a:schemeClr>
                </a:solidFill>
              </a:rPr>
              <a:t> </a:t>
            </a:r>
            <a:r>
              <a:rPr dirty="0">
                <a:solidFill>
                  <a:schemeClr val="tx2">
                    <a:lumMod val="75000"/>
                  </a:schemeClr>
                </a:solidFill>
              </a:rPr>
              <a:t>Recognition:</a:t>
            </a:r>
            <a:r>
              <a:rPr spc="-125" dirty="0">
                <a:solidFill>
                  <a:schemeClr val="tx2">
                    <a:lumMod val="75000"/>
                  </a:schemeClr>
                </a:solidFill>
              </a:rPr>
              <a:t> </a:t>
            </a:r>
            <a:r>
              <a:rPr spc="15" dirty="0">
                <a:solidFill>
                  <a:schemeClr val="tx2">
                    <a:lumMod val="75000"/>
                  </a:schemeClr>
                </a:solidFill>
              </a:rPr>
              <a:t>FFT</a:t>
            </a:r>
            <a:r>
              <a:rPr spc="-130" dirty="0">
                <a:solidFill>
                  <a:schemeClr val="tx2">
                    <a:lumMod val="75000"/>
                  </a:schemeClr>
                </a:solidFill>
              </a:rPr>
              <a:t> </a:t>
            </a:r>
            <a:r>
              <a:rPr spc="-30" dirty="0">
                <a:solidFill>
                  <a:schemeClr val="tx2">
                    <a:lumMod val="75000"/>
                  </a:schemeClr>
                </a:solidFill>
              </a:rPr>
              <a:t>is</a:t>
            </a:r>
            <a:r>
              <a:rPr spc="-125" dirty="0">
                <a:solidFill>
                  <a:schemeClr val="tx2">
                    <a:lumMod val="75000"/>
                  </a:schemeClr>
                </a:solidFill>
              </a:rPr>
              <a:t> </a:t>
            </a:r>
            <a:r>
              <a:rPr spc="-15" dirty="0">
                <a:solidFill>
                  <a:schemeClr val="tx2">
                    <a:lumMod val="75000"/>
                  </a:schemeClr>
                </a:solidFill>
              </a:rPr>
              <a:t>utilized</a:t>
            </a:r>
            <a:r>
              <a:rPr spc="-130" dirty="0">
                <a:solidFill>
                  <a:schemeClr val="tx2">
                    <a:lumMod val="75000"/>
                  </a:schemeClr>
                </a:solidFill>
              </a:rPr>
              <a:t> </a:t>
            </a:r>
            <a:r>
              <a:rPr spc="45" dirty="0">
                <a:solidFill>
                  <a:schemeClr val="tx2">
                    <a:lumMod val="75000"/>
                  </a:schemeClr>
                </a:solidFill>
              </a:rPr>
              <a:t>to</a:t>
            </a:r>
            <a:r>
              <a:rPr spc="-125" dirty="0">
                <a:solidFill>
                  <a:schemeClr val="tx2">
                    <a:lumMod val="75000"/>
                  </a:schemeClr>
                </a:solidFill>
              </a:rPr>
              <a:t> </a:t>
            </a:r>
            <a:r>
              <a:rPr spc="15" dirty="0">
                <a:solidFill>
                  <a:schemeClr val="tx2">
                    <a:lumMod val="75000"/>
                  </a:schemeClr>
                </a:solidFill>
              </a:rPr>
              <a:t>extract</a:t>
            </a:r>
            <a:r>
              <a:rPr spc="-125" dirty="0">
                <a:solidFill>
                  <a:schemeClr val="tx2">
                    <a:lumMod val="75000"/>
                  </a:schemeClr>
                </a:solidFill>
              </a:rPr>
              <a:t> </a:t>
            </a:r>
            <a:r>
              <a:rPr spc="40" dirty="0">
                <a:solidFill>
                  <a:schemeClr val="tx2">
                    <a:lumMod val="75000"/>
                  </a:schemeClr>
                </a:solidFill>
              </a:rPr>
              <a:t>relevant</a:t>
            </a:r>
            <a:r>
              <a:rPr spc="-130" dirty="0">
                <a:solidFill>
                  <a:schemeClr val="tx2">
                    <a:lumMod val="75000"/>
                  </a:schemeClr>
                </a:solidFill>
              </a:rPr>
              <a:t> </a:t>
            </a:r>
            <a:r>
              <a:rPr spc="10" dirty="0">
                <a:solidFill>
                  <a:schemeClr val="tx2">
                    <a:lumMod val="75000"/>
                  </a:schemeClr>
                </a:solidFill>
              </a:rPr>
              <a:t>features.</a:t>
            </a:r>
            <a:r>
              <a:rPr spc="-125" dirty="0">
                <a:solidFill>
                  <a:schemeClr val="tx2">
                    <a:lumMod val="75000"/>
                  </a:schemeClr>
                </a:solidFill>
              </a:rPr>
              <a:t> </a:t>
            </a:r>
            <a:r>
              <a:rPr spc="-5" dirty="0">
                <a:solidFill>
                  <a:schemeClr val="tx2">
                    <a:lumMod val="75000"/>
                  </a:schemeClr>
                </a:solidFill>
              </a:rPr>
              <a:t>These</a:t>
            </a:r>
            <a:r>
              <a:rPr spc="-130" dirty="0">
                <a:solidFill>
                  <a:schemeClr val="tx2">
                    <a:lumMod val="75000"/>
                  </a:schemeClr>
                </a:solidFill>
              </a:rPr>
              <a:t> </a:t>
            </a:r>
            <a:r>
              <a:rPr spc="25" dirty="0">
                <a:solidFill>
                  <a:schemeClr val="tx2">
                    <a:lumMod val="75000"/>
                  </a:schemeClr>
                </a:solidFill>
              </a:rPr>
              <a:t>features</a:t>
            </a:r>
            <a:r>
              <a:rPr spc="-125" dirty="0">
                <a:solidFill>
                  <a:schemeClr val="tx2">
                    <a:lumMod val="75000"/>
                  </a:schemeClr>
                </a:solidFill>
              </a:rPr>
              <a:t> </a:t>
            </a:r>
            <a:r>
              <a:rPr spc="25" dirty="0">
                <a:solidFill>
                  <a:schemeClr val="tx2">
                    <a:lumMod val="75000"/>
                  </a:schemeClr>
                </a:solidFill>
              </a:rPr>
              <a:t>are</a:t>
            </a:r>
            <a:r>
              <a:rPr spc="-125" dirty="0">
                <a:solidFill>
                  <a:schemeClr val="tx2">
                    <a:lumMod val="75000"/>
                  </a:schemeClr>
                </a:solidFill>
              </a:rPr>
              <a:t> </a:t>
            </a:r>
            <a:r>
              <a:rPr spc="35" dirty="0">
                <a:solidFill>
                  <a:schemeClr val="tx2">
                    <a:lumMod val="75000"/>
                  </a:schemeClr>
                </a:solidFill>
              </a:rPr>
              <a:t>then</a:t>
            </a:r>
            <a:r>
              <a:rPr spc="-130" dirty="0">
                <a:solidFill>
                  <a:schemeClr val="tx2">
                    <a:lumMod val="75000"/>
                  </a:schemeClr>
                </a:solidFill>
              </a:rPr>
              <a:t> </a:t>
            </a:r>
            <a:r>
              <a:rPr spc="15" dirty="0">
                <a:solidFill>
                  <a:schemeClr val="tx2">
                    <a:lumMod val="75000"/>
                  </a:schemeClr>
                </a:solidFill>
              </a:rPr>
              <a:t>used</a:t>
            </a:r>
            <a:r>
              <a:rPr spc="-125" dirty="0">
                <a:solidFill>
                  <a:schemeClr val="tx2">
                    <a:lumMod val="75000"/>
                  </a:schemeClr>
                </a:solidFill>
              </a:rPr>
              <a:t> </a:t>
            </a:r>
            <a:r>
              <a:rPr spc="25" dirty="0">
                <a:solidFill>
                  <a:schemeClr val="tx2">
                    <a:lumMod val="75000"/>
                  </a:schemeClr>
                </a:solidFill>
              </a:rPr>
              <a:t>for</a:t>
            </a:r>
            <a:r>
              <a:rPr spc="-130" dirty="0">
                <a:solidFill>
                  <a:schemeClr val="tx2">
                    <a:lumMod val="75000"/>
                  </a:schemeClr>
                </a:solidFill>
              </a:rPr>
              <a:t> </a:t>
            </a:r>
            <a:r>
              <a:rPr spc="-20" dirty="0">
                <a:solidFill>
                  <a:schemeClr val="tx2">
                    <a:lumMod val="75000"/>
                  </a:schemeClr>
                </a:solidFill>
              </a:rPr>
              <a:t>tasks </a:t>
            </a:r>
            <a:r>
              <a:rPr spc="-600" dirty="0">
                <a:solidFill>
                  <a:schemeClr val="tx2">
                    <a:lumMod val="75000"/>
                  </a:schemeClr>
                </a:solidFill>
              </a:rPr>
              <a:t> </a:t>
            </a:r>
            <a:r>
              <a:rPr spc="-35" dirty="0">
                <a:solidFill>
                  <a:schemeClr val="tx2">
                    <a:lumMod val="75000"/>
                  </a:schemeClr>
                </a:solidFill>
              </a:rPr>
              <a:t>like</a:t>
            </a:r>
            <a:r>
              <a:rPr spc="-135" dirty="0">
                <a:solidFill>
                  <a:schemeClr val="tx2">
                    <a:lumMod val="75000"/>
                  </a:schemeClr>
                </a:solidFill>
              </a:rPr>
              <a:t> </a:t>
            </a:r>
            <a:r>
              <a:rPr spc="35" dirty="0">
                <a:solidFill>
                  <a:schemeClr val="tx2">
                    <a:lumMod val="75000"/>
                  </a:schemeClr>
                </a:solidFill>
              </a:rPr>
              <a:t>speech</a:t>
            </a:r>
            <a:r>
              <a:rPr spc="-135" dirty="0">
                <a:solidFill>
                  <a:schemeClr val="tx2">
                    <a:lumMod val="75000"/>
                  </a:schemeClr>
                </a:solidFill>
              </a:rPr>
              <a:t> </a:t>
            </a:r>
            <a:r>
              <a:rPr spc="-5" dirty="0">
                <a:solidFill>
                  <a:schemeClr val="tx2">
                    <a:lumMod val="75000"/>
                  </a:schemeClr>
                </a:solidFill>
              </a:rPr>
              <a:t>recognition,</a:t>
            </a:r>
            <a:r>
              <a:rPr spc="-135" dirty="0">
                <a:solidFill>
                  <a:schemeClr val="tx2">
                    <a:lumMod val="75000"/>
                  </a:schemeClr>
                </a:solidFill>
              </a:rPr>
              <a:t> </a:t>
            </a:r>
            <a:r>
              <a:rPr spc="-5" dirty="0">
                <a:solidFill>
                  <a:schemeClr val="tx2">
                    <a:lumMod val="75000"/>
                  </a:schemeClr>
                </a:solidFill>
              </a:rPr>
              <a:t>speaker</a:t>
            </a:r>
            <a:r>
              <a:rPr spc="-135" dirty="0">
                <a:solidFill>
                  <a:schemeClr val="tx2">
                    <a:lumMod val="75000"/>
                  </a:schemeClr>
                </a:solidFill>
              </a:rPr>
              <a:t> </a:t>
            </a:r>
            <a:r>
              <a:rPr spc="10" dirty="0">
                <a:solidFill>
                  <a:schemeClr val="tx2">
                    <a:lumMod val="75000"/>
                  </a:schemeClr>
                </a:solidFill>
              </a:rPr>
              <a:t>identification,</a:t>
            </a:r>
            <a:r>
              <a:rPr spc="-135" dirty="0">
                <a:solidFill>
                  <a:schemeClr val="tx2">
                    <a:lumMod val="75000"/>
                  </a:schemeClr>
                </a:solidFill>
              </a:rPr>
              <a:t> </a:t>
            </a:r>
            <a:r>
              <a:rPr spc="20" dirty="0">
                <a:solidFill>
                  <a:schemeClr val="tx2">
                    <a:lumMod val="75000"/>
                  </a:schemeClr>
                </a:solidFill>
              </a:rPr>
              <a:t>and</a:t>
            </a:r>
            <a:r>
              <a:rPr spc="-135" dirty="0">
                <a:solidFill>
                  <a:schemeClr val="tx2">
                    <a:lumMod val="75000"/>
                  </a:schemeClr>
                </a:solidFill>
              </a:rPr>
              <a:t> </a:t>
            </a:r>
            <a:r>
              <a:rPr spc="35" dirty="0">
                <a:solidFill>
                  <a:schemeClr val="tx2">
                    <a:lumMod val="75000"/>
                  </a:schemeClr>
                </a:solidFill>
              </a:rPr>
              <a:t>speech</a:t>
            </a:r>
            <a:r>
              <a:rPr spc="-135" dirty="0">
                <a:solidFill>
                  <a:schemeClr val="tx2">
                    <a:lumMod val="75000"/>
                  </a:schemeClr>
                </a:solidFill>
              </a:rPr>
              <a:t> </a:t>
            </a:r>
            <a:r>
              <a:rPr spc="5" dirty="0">
                <a:solidFill>
                  <a:schemeClr val="tx2">
                    <a:lumMod val="75000"/>
                  </a:schemeClr>
                </a:solidFill>
              </a:rPr>
              <a:t>synthesis.</a:t>
            </a:r>
          </a:p>
          <a:p>
            <a:pPr marL="4678045" marR="119380" indent="-239395">
              <a:lnSpc>
                <a:spcPct val="115399"/>
              </a:lnSpc>
              <a:buAutoNum type="arabicPeriod"/>
              <a:tabLst>
                <a:tab pos="4678680" algn="l"/>
              </a:tabLst>
            </a:pPr>
            <a:r>
              <a:rPr spc="35" dirty="0">
                <a:solidFill>
                  <a:schemeClr val="tx2">
                    <a:lumMod val="75000"/>
                  </a:schemeClr>
                </a:solidFill>
              </a:rPr>
              <a:t>Medical</a:t>
            </a:r>
            <a:r>
              <a:rPr spc="-125" dirty="0">
                <a:solidFill>
                  <a:schemeClr val="tx2">
                    <a:lumMod val="75000"/>
                  </a:schemeClr>
                </a:solidFill>
              </a:rPr>
              <a:t> </a:t>
            </a:r>
            <a:r>
              <a:rPr spc="-45" dirty="0">
                <a:solidFill>
                  <a:schemeClr val="tx2">
                    <a:lumMod val="75000"/>
                  </a:schemeClr>
                </a:solidFill>
              </a:rPr>
              <a:t>Imaging:</a:t>
            </a:r>
            <a:r>
              <a:rPr spc="-125" dirty="0">
                <a:solidFill>
                  <a:schemeClr val="tx2">
                    <a:lumMod val="75000"/>
                  </a:schemeClr>
                </a:solidFill>
              </a:rPr>
              <a:t> </a:t>
            </a:r>
            <a:r>
              <a:rPr spc="5" dirty="0">
                <a:solidFill>
                  <a:schemeClr val="tx2">
                    <a:lumMod val="75000"/>
                  </a:schemeClr>
                </a:solidFill>
              </a:rPr>
              <a:t>Techniques</a:t>
            </a:r>
            <a:r>
              <a:rPr spc="-120" dirty="0">
                <a:solidFill>
                  <a:schemeClr val="tx2">
                    <a:lumMod val="75000"/>
                  </a:schemeClr>
                </a:solidFill>
              </a:rPr>
              <a:t> </a:t>
            </a:r>
            <a:r>
              <a:rPr spc="-35" dirty="0">
                <a:solidFill>
                  <a:schemeClr val="tx2">
                    <a:lumMod val="75000"/>
                  </a:schemeClr>
                </a:solidFill>
              </a:rPr>
              <a:t>like</a:t>
            </a:r>
            <a:r>
              <a:rPr spc="-125" dirty="0">
                <a:solidFill>
                  <a:schemeClr val="tx2">
                    <a:lumMod val="75000"/>
                  </a:schemeClr>
                </a:solidFill>
              </a:rPr>
              <a:t> </a:t>
            </a:r>
            <a:r>
              <a:rPr spc="20" dirty="0">
                <a:solidFill>
                  <a:schemeClr val="tx2">
                    <a:lumMod val="75000"/>
                  </a:schemeClr>
                </a:solidFill>
              </a:rPr>
              <a:t>Magnetic</a:t>
            </a:r>
            <a:r>
              <a:rPr spc="-125" dirty="0">
                <a:solidFill>
                  <a:schemeClr val="tx2">
                    <a:lumMod val="75000"/>
                  </a:schemeClr>
                </a:solidFill>
              </a:rPr>
              <a:t> </a:t>
            </a:r>
            <a:r>
              <a:rPr spc="30" dirty="0">
                <a:solidFill>
                  <a:schemeClr val="tx2">
                    <a:lumMod val="75000"/>
                  </a:schemeClr>
                </a:solidFill>
              </a:rPr>
              <a:t>Resonance</a:t>
            </a:r>
            <a:r>
              <a:rPr spc="-120" dirty="0">
                <a:solidFill>
                  <a:schemeClr val="tx2">
                    <a:lumMod val="75000"/>
                  </a:schemeClr>
                </a:solidFill>
              </a:rPr>
              <a:t> </a:t>
            </a:r>
            <a:r>
              <a:rPr spc="-40" dirty="0">
                <a:solidFill>
                  <a:schemeClr val="tx2">
                    <a:lumMod val="75000"/>
                  </a:schemeClr>
                </a:solidFill>
              </a:rPr>
              <a:t>Imaging</a:t>
            </a:r>
            <a:r>
              <a:rPr spc="-125" dirty="0">
                <a:solidFill>
                  <a:schemeClr val="tx2">
                    <a:lumMod val="75000"/>
                  </a:schemeClr>
                </a:solidFill>
              </a:rPr>
              <a:t> </a:t>
            </a:r>
            <a:r>
              <a:rPr spc="40" dirty="0">
                <a:solidFill>
                  <a:schemeClr val="tx2">
                    <a:lumMod val="75000"/>
                  </a:schemeClr>
                </a:solidFill>
              </a:rPr>
              <a:t>(MRI)</a:t>
            </a:r>
            <a:r>
              <a:rPr spc="-125" dirty="0">
                <a:solidFill>
                  <a:schemeClr val="tx2">
                    <a:lumMod val="75000"/>
                  </a:schemeClr>
                </a:solidFill>
              </a:rPr>
              <a:t> </a:t>
            </a:r>
            <a:r>
              <a:rPr spc="20" dirty="0">
                <a:solidFill>
                  <a:schemeClr val="tx2">
                    <a:lumMod val="75000"/>
                  </a:schemeClr>
                </a:solidFill>
              </a:rPr>
              <a:t>and</a:t>
            </a:r>
            <a:r>
              <a:rPr spc="-120" dirty="0">
                <a:solidFill>
                  <a:schemeClr val="tx2">
                    <a:lumMod val="75000"/>
                  </a:schemeClr>
                </a:solidFill>
              </a:rPr>
              <a:t> </a:t>
            </a:r>
            <a:r>
              <a:rPr spc="25" dirty="0">
                <a:solidFill>
                  <a:schemeClr val="tx2">
                    <a:lumMod val="75000"/>
                  </a:schemeClr>
                </a:solidFill>
              </a:rPr>
              <a:t>Computed</a:t>
            </a:r>
            <a:r>
              <a:rPr spc="-125" dirty="0">
                <a:solidFill>
                  <a:schemeClr val="tx2">
                    <a:lumMod val="75000"/>
                  </a:schemeClr>
                </a:solidFill>
              </a:rPr>
              <a:t> </a:t>
            </a:r>
            <a:r>
              <a:rPr spc="-5" dirty="0">
                <a:solidFill>
                  <a:schemeClr val="tx2">
                    <a:lumMod val="75000"/>
                  </a:schemeClr>
                </a:solidFill>
              </a:rPr>
              <a:t>Tomography</a:t>
            </a:r>
            <a:r>
              <a:rPr spc="-125" dirty="0">
                <a:solidFill>
                  <a:schemeClr val="tx2">
                    <a:lumMod val="75000"/>
                  </a:schemeClr>
                </a:solidFill>
              </a:rPr>
              <a:t> </a:t>
            </a:r>
            <a:r>
              <a:rPr spc="-15" dirty="0">
                <a:solidFill>
                  <a:schemeClr val="tx2">
                    <a:lumMod val="75000"/>
                  </a:schemeClr>
                </a:solidFill>
              </a:rPr>
              <a:t>(CT) </a:t>
            </a:r>
            <a:r>
              <a:rPr spc="-600" dirty="0">
                <a:solidFill>
                  <a:schemeClr val="tx2">
                    <a:lumMod val="75000"/>
                  </a:schemeClr>
                </a:solidFill>
              </a:rPr>
              <a:t> </a:t>
            </a:r>
            <a:r>
              <a:rPr spc="35" dirty="0">
                <a:solidFill>
                  <a:schemeClr val="tx2">
                    <a:lumMod val="75000"/>
                  </a:schemeClr>
                </a:solidFill>
              </a:rPr>
              <a:t>heavily</a:t>
            </a:r>
            <a:r>
              <a:rPr spc="-135" dirty="0">
                <a:solidFill>
                  <a:schemeClr val="tx2">
                    <a:lumMod val="75000"/>
                  </a:schemeClr>
                </a:solidFill>
              </a:rPr>
              <a:t> </a:t>
            </a:r>
            <a:r>
              <a:rPr spc="40" dirty="0">
                <a:solidFill>
                  <a:schemeClr val="tx2">
                    <a:lumMod val="75000"/>
                  </a:schemeClr>
                </a:solidFill>
              </a:rPr>
              <a:t>rely</a:t>
            </a:r>
            <a:r>
              <a:rPr spc="-135" dirty="0">
                <a:solidFill>
                  <a:schemeClr val="tx2">
                    <a:lumMod val="75000"/>
                  </a:schemeClr>
                </a:solidFill>
              </a:rPr>
              <a:t> </a:t>
            </a:r>
            <a:r>
              <a:rPr spc="15" dirty="0">
                <a:solidFill>
                  <a:schemeClr val="tx2">
                    <a:lumMod val="75000"/>
                  </a:schemeClr>
                </a:solidFill>
              </a:rPr>
              <a:t>on</a:t>
            </a:r>
            <a:r>
              <a:rPr spc="-135" dirty="0">
                <a:solidFill>
                  <a:schemeClr val="tx2">
                    <a:lumMod val="75000"/>
                  </a:schemeClr>
                </a:solidFill>
              </a:rPr>
              <a:t> </a:t>
            </a:r>
            <a:r>
              <a:rPr spc="15" dirty="0">
                <a:solidFill>
                  <a:schemeClr val="tx2">
                    <a:lumMod val="75000"/>
                  </a:schemeClr>
                </a:solidFill>
              </a:rPr>
              <a:t>FFT</a:t>
            </a:r>
            <a:r>
              <a:rPr spc="-135" dirty="0">
                <a:solidFill>
                  <a:schemeClr val="tx2">
                    <a:lumMod val="75000"/>
                  </a:schemeClr>
                </a:solidFill>
              </a:rPr>
              <a:t> </a:t>
            </a:r>
            <a:r>
              <a:rPr spc="25" dirty="0">
                <a:solidFill>
                  <a:schemeClr val="tx2">
                    <a:lumMod val="75000"/>
                  </a:schemeClr>
                </a:solidFill>
              </a:rPr>
              <a:t>for</a:t>
            </a:r>
            <a:r>
              <a:rPr spc="-135" dirty="0">
                <a:solidFill>
                  <a:schemeClr val="tx2">
                    <a:lumMod val="75000"/>
                  </a:schemeClr>
                </a:solidFill>
              </a:rPr>
              <a:t> </a:t>
            </a:r>
            <a:r>
              <a:rPr spc="-25" dirty="0">
                <a:solidFill>
                  <a:schemeClr val="tx2">
                    <a:lumMod val="75000"/>
                  </a:schemeClr>
                </a:solidFill>
              </a:rPr>
              <a:t>image</a:t>
            </a:r>
            <a:r>
              <a:rPr spc="-135" dirty="0">
                <a:solidFill>
                  <a:schemeClr val="tx2">
                    <a:lumMod val="75000"/>
                  </a:schemeClr>
                </a:solidFill>
              </a:rPr>
              <a:t> </a:t>
            </a:r>
            <a:r>
              <a:rPr spc="25" dirty="0">
                <a:solidFill>
                  <a:schemeClr val="tx2">
                    <a:lumMod val="75000"/>
                  </a:schemeClr>
                </a:solidFill>
              </a:rPr>
              <a:t>reconstruction</a:t>
            </a:r>
            <a:r>
              <a:rPr spc="-135" dirty="0">
                <a:solidFill>
                  <a:schemeClr val="tx2">
                    <a:lumMod val="75000"/>
                  </a:schemeClr>
                </a:solidFill>
              </a:rPr>
              <a:t> </a:t>
            </a:r>
            <a:r>
              <a:rPr spc="20" dirty="0">
                <a:solidFill>
                  <a:schemeClr val="tx2">
                    <a:lumMod val="75000"/>
                  </a:schemeClr>
                </a:solidFill>
              </a:rPr>
              <a:t>and</a:t>
            </a:r>
            <a:r>
              <a:rPr spc="-135" dirty="0">
                <a:solidFill>
                  <a:schemeClr val="tx2">
                    <a:lumMod val="75000"/>
                  </a:schemeClr>
                </a:solidFill>
              </a:rPr>
              <a:t> </a:t>
            </a:r>
            <a:r>
              <a:rPr spc="20" dirty="0">
                <a:solidFill>
                  <a:schemeClr val="tx2">
                    <a:lumMod val="75000"/>
                  </a:schemeClr>
                </a:solidFill>
              </a:rPr>
              <a:t>enhancement.</a:t>
            </a:r>
          </a:p>
          <a:p>
            <a:pPr marL="4678045" marR="637540" indent="-252729">
              <a:lnSpc>
                <a:spcPct val="115399"/>
              </a:lnSpc>
              <a:buAutoNum type="arabicPeriod"/>
              <a:tabLst>
                <a:tab pos="4678680" algn="l"/>
              </a:tabLst>
            </a:pPr>
            <a:r>
              <a:rPr spc="30" dirty="0">
                <a:solidFill>
                  <a:schemeClr val="tx2">
                    <a:lumMod val="75000"/>
                  </a:schemeClr>
                </a:solidFill>
              </a:rPr>
              <a:t>Radar</a:t>
            </a:r>
            <a:r>
              <a:rPr spc="-130" dirty="0">
                <a:solidFill>
                  <a:schemeClr val="tx2">
                    <a:lumMod val="75000"/>
                  </a:schemeClr>
                </a:solidFill>
              </a:rPr>
              <a:t> </a:t>
            </a:r>
            <a:r>
              <a:rPr spc="20" dirty="0">
                <a:solidFill>
                  <a:schemeClr val="tx2">
                    <a:lumMod val="75000"/>
                  </a:schemeClr>
                </a:solidFill>
              </a:rPr>
              <a:t>and</a:t>
            </a:r>
            <a:r>
              <a:rPr spc="-125" dirty="0">
                <a:solidFill>
                  <a:schemeClr val="tx2">
                    <a:lumMod val="75000"/>
                  </a:schemeClr>
                </a:solidFill>
              </a:rPr>
              <a:t> </a:t>
            </a:r>
            <a:r>
              <a:rPr spc="40" dirty="0">
                <a:solidFill>
                  <a:schemeClr val="tx2">
                    <a:lumMod val="75000"/>
                  </a:schemeClr>
                </a:solidFill>
              </a:rPr>
              <a:t>Sonar</a:t>
            </a:r>
            <a:r>
              <a:rPr spc="-130" dirty="0">
                <a:solidFill>
                  <a:schemeClr val="tx2">
                    <a:lumMod val="75000"/>
                  </a:schemeClr>
                </a:solidFill>
              </a:rPr>
              <a:t> </a:t>
            </a:r>
            <a:r>
              <a:rPr spc="25" dirty="0">
                <a:solidFill>
                  <a:schemeClr val="tx2">
                    <a:lumMod val="75000"/>
                  </a:schemeClr>
                </a:solidFill>
              </a:rPr>
              <a:t>Systems:</a:t>
            </a:r>
            <a:r>
              <a:rPr spc="-125" dirty="0">
                <a:solidFill>
                  <a:schemeClr val="tx2">
                    <a:lumMod val="75000"/>
                  </a:schemeClr>
                </a:solidFill>
              </a:rPr>
              <a:t> </a:t>
            </a:r>
            <a:r>
              <a:rPr spc="15" dirty="0">
                <a:solidFill>
                  <a:schemeClr val="tx2">
                    <a:lumMod val="75000"/>
                  </a:schemeClr>
                </a:solidFill>
              </a:rPr>
              <a:t>FFT</a:t>
            </a:r>
            <a:r>
              <a:rPr spc="-130" dirty="0">
                <a:solidFill>
                  <a:schemeClr val="tx2">
                    <a:lumMod val="75000"/>
                  </a:schemeClr>
                </a:solidFill>
              </a:rPr>
              <a:t> </a:t>
            </a:r>
            <a:r>
              <a:rPr spc="30" dirty="0">
                <a:solidFill>
                  <a:schemeClr val="tx2">
                    <a:lumMod val="75000"/>
                  </a:schemeClr>
                </a:solidFill>
              </a:rPr>
              <a:t>plays</a:t>
            </a:r>
            <a:r>
              <a:rPr spc="-125" dirty="0">
                <a:solidFill>
                  <a:schemeClr val="tx2">
                    <a:lumMod val="75000"/>
                  </a:schemeClr>
                </a:solidFill>
              </a:rPr>
              <a:t> </a:t>
            </a:r>
            <a:r>
              <a:rPr spc="20" dirty="0">
                <a:solidFill>
                  <a:schemeClr val="tx2">
                    <a:lumMod val="75000"/>
                  </a:schemeClr>
                </a:solidFill>
              </a:rPr>
              <a:t>a</a:t>
            </a:r>
            <a:r>
              <a:rPr spc="-130" dirty="0">
                <a:solidFill>
                  <a:schemeClr val="tx2">
                    <a:lumMod val="75000"/>
                  </a:schemeClr>
                </a:solidFill>
              </a:rPr>
              <a:t> </a:t>
            </a:r>
            <a:r>
              <a:rPr spc="25" dirty="0">
                <a:solidFill>
                  <a:schemeClr val="tx2">
                    <a:lumMod val="75000"/>
                  </a:schemeClr>
                </a:solidFill>
              </a:rPr>
              <a:t>crucial</a:t>
            </a:r>
            <a:r>
              <a:rPr spc="-125" dirty="0">
                <a:solidFill>
                  <a:schemeClr val="tx2">
                    <a:lumMod val="75000"/>
                  </a:schemeClr>
                </a:solidFill>
              </a:rPr>
              <a:t> </a:t>
            </a:r>
            <a:r>
              <a:rPr spc="20" dirty="0">
                <a:solidFill>
                  <a:schemeClr val="tx2">
                    <a:lumMod val="75000"/>
                  </a:schemeClr>
                </a:solidFill>
              </a:rPr>
              <a:t>role</a:t>
            </a:r>
            <a:r>
              <a:rPr spc="-125" dirty="0">
                <a:solidFill>
                  <a:schemeClr val="tx2">
                    <a:lumMod val="75000"/>
                  </a:schemeClr>
                </a:solidFill>
              </a:rPr>
              <a:t> </a:t>
            </a:r>
            <a:r>
              <a:rPr spc="-15" dirty="0">
                <a:solidFill>
                  <a:schemeClr val="tx2">
                    <a:lumMod val="75000"/>
                  </a:schemeClr>
                </a:solidFill>
              </a:rPr>
              <a:t>in</a:t>
            </a:r>
            <a:r>
              <a:rPr spc="-130" dirty="0">
                <a:solidFill>
                  <a:schemeClr val="tx2">
                    <a:lumMod val="75000"/>
                  </a:schemeClr>
                </a:solidFill>
              </a:rPr>
              <a:t> </a:t>
            </a:r>
            <a:r>
              <a:rPr dirty="0">
                <a:solidFill>
                  <a:schemeClr val="tx2">
                    <a:lumMod val="75000"/>
                  </a:schemeClr>
                </a:solidFill>
              </a:rPr>
              <a:t>processing</a:t>
            </a:r>
            <a:r>
              <a:rPr spc="-125" dirty="0">
                <a:solidFill>
                  <a:schemeClr val="tx2">
                    <a:lumMod val="75000"/>
                  </a:schemeClr>
                </a:solidFill>
              </a:rPr>
              <a:t> </a:t>
            </a:r>
            <a:r>
              <a:rPr spc="20" dirty="0">
                <a:solidFill>
                  <a:schemeClr val="tx2">
                    <a:lumMod val="75000"/>
                  </a:schemeClr>
                </a:solidFill>
              </a:rPr>
              <a:t>radar</a:t>
            </a:r>
            <a:r>
              <a:rPr spc="-130" dirty="0">
                <a:solidFill>
                  <a:schemeClr val="tx2">
                    <a:lumMod val="75000"/>
                  </a:schemeClr>
                </a:solidFill>
              </a:rPr>
              <a:t> </a:t>
            </a:r>
            <a:r>
              <a:rPr spc="20" dirty="0">
                <a:solidFill>
                  <a:schemeClr val="tx2">
                    <a:lumMod val="75000"/>
                  </a:schemeClr>
                </a:solidFill>
              </a:rPr>
              <a:t>and</a:t>
            </a:r>
            <a:r>
              <a:rPr spc="-125" dirty="0">
                <a:solidFill>
                  <a:schemeClr val="tx2">
                    <a:lumMod val="75000"/>
                  </a:schemeClr>
                </a:solidFill>
              </a:rPr>
              <a:t> </a:t>
            </a:r>
            <a:r>
              <a:rPr spc="10" dirty="0">
                <a:solidFill>
                  <a:schemeClr val="tx2">
                    <a:lumMod val="75000"/>
                  </a:schemeClr>
                </a:solidFill>
              </a:rPr>
              <a:t>sonar</a:t>
            </a:r>
            <a:r>
              <a:rPr spc="-130" dirty="0">
                <a:solidFill>
                  <a:schemeClr val="tx2">
                    <a:lumMod val="75000"/>
                  </a:schemeClr>
                </a:solidFill>
              </a:rPr>
              <a:t> </a:t>
            </a:r>
            <a:r>
              <a:rPr spc="-25" dirty="0">
                <a:solidFill>
                  <a:schemeClr val="tx2">
                    <a:lumMod val="75000"/>
                  </a:schemeClr>
                </a:solidFill>
              </a:rPr>
              <a:t>signals</a:t>
            </a:r>
            <a:r>
              <a:rPr spc="-125" dirty="0">
                <a:solidFill>
                  <a:schemeClr val="tx2">
                    <a:lumMod val="75000"/>
                  </a:schemeClr>
                </a:solidFill>
              </a:rPr>
              <a:t> </a:t>
            </a:r>
            <a:r>
              <a:rPr spc="25" dirty="0">
                <a:solidFill>
                  <a:schemeClr val="tx2">
                    <a:lumMod val="75000"/>
                  </a:schemeClr>
                </a:solidFill>
              </a:rPr>
              <a:t>for</a:t>
            </a:r>
            <a:r>
              <a:rPr spc="-125" dirty="0">
                <a:solidFill>
                  <a:schemeClr val="tx2">
                    <a:lumMod val="75000"/>
                  </a:schemeClr>
                </a:solidFill>
              </a:rPr>
              <a:t> </a:t>
            </a:r>
            <a:r>
              <a:rPr spc="15" dirty="0">
                <a:solidFill>
                  <a:schemeClr val="tx2">
                    <a:lumMod val="75000"/>
                  </a:schemeClr>
                </a:solidFill>
              </a:rPr>
              <a:t>target </a:t>
            </a:r>
            <a:r>
              <a:rPr spc="-605" dirty="0">
                <a:solidFill>
                  <a:schemeClr val="tx2">
                    <a:lumMod val="75000"/>
                  </a:schemeClr>
                </a:solidFill>
              </a:rPr>
              <a:t> </a:t>
            </a:r>
            <a:r>
              <a:rPr spc="25" dirty="0">
                <a:solidFill>
                  <a:schemeClr val="tx2">
                    <a:lumMod val="75000"/>
                  </a:schemeClr>
                </a:solidFill>
              </a:rPr>
              <a:t>detection,</a:t>
            </a:r>
            <a:r>
              <a:rPr spc="-135" dirty="0">
                <a:solidFill>
                  <a:schemeClr val="tx2">
                    <a:lumMod val="75000"/>
                  </a:schemeClr>
                </a:solidFill>
              </a:rPr>
              <a:t> </a:t>
            </a:r>
            <a:r>
              <a:rPr spc="-10" dirty="0">
                <a:solidFill>
                  <a:schemeClr val="tx2">
                    <a:lumMod val="75000"/>
                  </a:schemeClr>
                </a:solidFill>
              </a:rPr>
              <a:t>range</a:t>
            </a:r>
            <a:r>
              <a:rPr spc="-135" dirty="0">
                <a:solidFill>
                  <a:schemeClr val="tx2">
                    <a:lumMod val="75000"/>
                  </a:schemeClr>
                </a:solidFill>
              </a:rPr>
              <a:t> </a:t>
            </a:r>
            <a:r>
              <a:rPr dirty="0">
                <a:solidFill>
                  <a:schemeClr val="tx2">
                    <a:lumMod val="75000"/>
                  </a:schemeClr>
                </a:solidFill>
              </a:rPr>
              <a:t>estimation,</a:t>
            </a:r>
            <a:r>
              <a:rPr spc="-135" dirty="0">
                <a:solidFill>
                  <a:schemeClr val="tx2">
                    <a:lumMod val="75000"/>
                  </a:schemeClr>
                </a:solidFill>
              </a:rPr>
              <a:t> </a:t>
            </a:r>
            <a:r>
              <a:rPr spc="20" dirty="0">
                <a:solidFill>
                  <a:schemeClr val="tx2">
                    <a:lumMod val="75000"/>
                  </a:schemeClr>
                </a:solidFill>
              </a:rPr>
              <a:t>and</a:t>
            </a:r>
            <a:r>
              <a:rPr spc="-135" dirty="0">
                <a:solidFill>
                  <a:schemeClr val="tx2">
                    <a:lumMod val="75000"/>
                  </a:schemeClr>
                </a:solidFill>
              </a:rPr>
              <a:t> </a:t>
            </a:r>
            <a:r>
              <a:rPr spc="25" dirty="0">
                <a:solidFill>
                  <a:schemeClr val="tx2">
                    <a:lumMod val="75000"/>
                  </a:schemeClr>
                </a:solidFill>
              </a:rPr>
              <a:t>Doppler</a:t>
            </a:r>
            <a:r>
              <a:rPr spc="-135" dirty="0">
                <a:solidFill>
                  <a:schemeClr val="tx2">
                    <a:lumMod val="75000"/>
                  </a:schemeClr>
                </a:solidFill>
              </a:rPr>
              <a:t> </a:t>
            </a:r>
            <a:r>
              <a:rPr spc="-5" dirty="0">
                <a:solidFill>
                  <a:schemeClr val="tx2">
                    <a:lumMod val="75000"/>
                  </a:schemeClr>
                </a:solidFill>
              </a:rPr>
              <a:t>analysis.</a:t>
            </a:r>
          </a:p>
          <a:p>
            <a:pPr marL="4678045" marR="868044" indent="-214629">
              <a:lnSpc>
                <a:spcPct val="115399"/>
              </a:lnSpc>
              <a:buAutoNum type="arabicPeriod"/>
              <a:tabLst>
                <a:tab pos="4678680" algn="l"/>
              </a:tabLst>
            </a:pPr>
            <a:r>
              <a:rPr spc="20" dirty="0">
                <a:solidFill>
                  <a:schemeClr val="tx2">
                    <a:lumMod val="75000"/>
                  </a:schemeClr>
                </a:solidFill>
              </a:rPr>
              <a:t>Astrophysics</a:t>
            </a:r>
            <a:r>
              <a:rPr spc="-125" dirty="0">
                <a:solidFill>
                  <a:schemeClr val="tx2">
                    <a:lumMod val="75000"/>
                  </a:schemeClr>
                </a:solidFill>
              </a:rPr>
              <a:t> </a:t>
            </a:r>
            <a:r>
              <a:rPr spc="20" dirty="0">
                <a:solidFill>
                  <a:schemeClr val="tx2">
                    <a:lumMod val="75000"/>
                  </a:schemeClr>
                </a:solidFill>
              </a:rPr>
              <a:t>and</a:t>
            </a:r>
            <a:r>
              <a:rPr spc="-125" dirty="0">
                <a:solidFill>
                  <a:schemeClr val="tx2">
                    <a:lumMod val="75000"/>
                  </a:schemeClr>
                </a:solidFill>
              </a:rPr>
              <a:t> </a:t>
            </a:r>
            <a:r>
              <a:rPr spc="-10" dirty="0">
                <a:solidFill>
                  <a:schemeClr val="tx2">
                    <a:lumMod val="75000"/>
                  </a:schemeClr>
                </a:solidFill>
              </a:rPr>
              <a:t>Cosmology:</a:t>
            </a:r>
            <a:r>
              <a:rPr spc="-125" dirty="0">
                <a:solidFill>
                  <a:schemeClr val="tx2">
                    <a:lumMod val="75000"/>
                  </a:schemeClr>
                </a:solidFill>
              </a:rPr>
              <a:t> </a:t>
            </a:r>
            <a:r>
              <a:rPr spc="20" dirty="0">
                <a:solidFill>
                  <a:schemeClr val="tx2">
                    <a:lumMod val="75000"/>
                  </a:schemeClr>
                </a:solidFill>
              </a:rPr>
              <a:t>In</a:t>
            </a:r>
            <a:r>
              <a:rPr spc="-125" dirty="0">
                <a:solidFill>
                  <a:schemeClr val="tx2">
                    <a:lumMod val="75000"/>
                  </a:schemeClr>
                </a:solidFill>
              </a:rPr>
              <a:t> </a:t>
            </a:r>
            <a:r>
              <a:rPr spc="40" dirty="0">
                <a:solidFill>
                  <a:schemeClr val="tx2">
                    <a:lumMod val="75000"/>
                  </a:schemeClr>
                </a:solidFill>
              </a:rPr>
              <a:t>the</a:t>
            </a:r>
            <a:r>
              <a:rPr spc="-120" dirty="0">
                <a:solidFill>
                  <a:schemeClr val="tx2">
                    <a:lumMod val="75000"/>
                  </a:schemeClr>
                </a:solidFill>
              </a:rPr>
              <a:t> </a:t>
            </a:r>
            <a:r>
              <a:rPr spc="15" dirty="0">
                <a:solidFill>
                  <a:schemeClr val="tx2">
                    <a:lumMod val="75000"/>
                  </a:schemeClr>
                </a:solidFill>
              </a:rPr>
              <a:t>field</a:t>
            </a:r>
            <a:r>
              <a:rPr spc="-125" dirty="0">
                <a:solidFill>
                  <a:schemeClr val="tx2">
                    <a:lumMod val="75000"/>
                  </a:schemeClr>
                </a:solidFill>
              </a:rPr>
              <a:t> </a:t>
            </a:r>
            <a:r>
              <a:rPr spc="25" dirty="0">
                <a:solidFill>
                  <a:schemeClr val="tx2">
                    <a:lumMod val="75000"/>
                  </a:schemeClr>
                </a:solidFill>
              </a:rPr>
              <a:t>of</a:t>
            </a:r>
            <a:r>
              <a:rPr spc="-125" dirty="0">
                <a:solidFill>
                  <a:schemeClr val="tx2">
                    <a:lumMod val="75000"/>
                  </a:schemeClr>
                </a:solidFill>
              </a:rPr>
              <a:t> </a:t>
            </a:r>
            <a:r>
              <a:rPr spc="10" dirty="0">
                <a:solidFill>
                  <a:schemeClr val="tx2">
                    <a:lumMod val="75000"/>
                  </a:schemeClr>
                </a:solidFill>
              </a:rPr>
              <a:t>astrophysics,</a:t>
            </a:r>
            <a:r>
              <a:rPr spc="-125" dirty="0">
                <a:solidFill>
                  <a:schemeClr val="tx2">
                    <a:lumMod val="75000"/>
                  </a:schemeClr>
                </a:solidFill>
              </a:rPr>
              <a:t> </a:t>
            </a:r>
            <a:r>
              <a:rPr spc="15" dirty="0">
                <a:solidFill>
                  <a:schemeClr val="tx2">
                    <a:lumMod val="75000"/>
                  </a:schemeClr>
                </a:solidFill>
              </a:rPr>
              <a:t>FFT</a:t>
            </a:r>
            <a:r>
              <a:rPr spc="-125" dirty="0">
                <a:solidFill>
                  <a:schemeClr val="tx2">
                    <a:lumMod val="75000"/>
                  </a:schemeClr>
                </a:solidFill>
              </a:rPr>
              <a:t> </a:t>
            </a:r>
            <a:r>
              <a:rPr spc="-30" dirty="0">
                <a:solidFill>
                  <a:schemeClr val="tx2">
                    <a:lumMod val="75000"/>
                  </a:schemeClr>
                </a:solidFill>
              </a:rPr>
              <a:t>is</a:t>
            </a:r>
            <a:r>
              <a:rPr spc="-120" dirty="0">
                <a:solidFill>
                  <a:schemeClr val="tx2">
                    <a:lumMod val="75000"/>
                  </a:schemeClr>
                </a:solidFill>
              </a:rPr>
              <a:t> </a:t>
            </a:r>
            <a:r>
              <a:rPr spc="-15" dirty="0">
                <a:solidFill>
                  <a:schemeClr val="tx2">
                    <a:lumMod val="75000"/>
                  </a:schemeClr>
                </a:solidFill>
              </a:rPr>
              <a:t>utilized</a:t>
            </a:r>
            <a:r>
              <a:rPr spc="-125" dirty="0">
                <a:solidFill>
                  <a:schemeClr val="tx2">
                    <a:lumMod val="75000"/>
                  </a:schemeClr>
                </a:solidFill>
              </a:rPr>
              <a:t> </a:t>
            </a:r>
            <a:r>
              <a:rPr spc="-15" dirty="0">
                <a:solidFill>
                  <a:schemeClr val="tx2">
                    <a:lumMod val="75000"/>
                  </a:schemeClr>
                </a:solidFill>
              </a:rPr>
              <a:t>in</a:t>
            </a:r>
            <a:r>
              <a:rPr spc="-125" dirty="0">
                <a:solidFill>
                  <a:schemeClr val="tx2">
                    <a:lumMod val="75000"/>
                  </a:schemeClr>
                </a:solidFill>
              </a:rPr>
              <a:t> </a:t>
            </a:r>
            <a:r>
              <a:rPr spc="15" dirty="0">
                <a:solidFill>
                  <a:schemeClr val="tx2">
                    <a:lumMod val="75000"/>
                  </a:schemeClr>
                </a:solidFill>
              </a:rPr>
              <a:t>various</a:t>
            </a:r>
            <a:r>
              <a:rPr spc="-125" dirty="0">
                <a:solidFill>
                  <a:schemeClr val="tx2">
                    <a:lumMod val="75000"/>
                  </a:schemeClr>
                </a:solidFill>
              </a:rPr>
              <a:t> </a:t>
            </a:r>
            <a:r>
              <a:rPr spc="5" dirty="0">
                <a:solidFill>
                  <a:schemeClr val="tx2">
                    <a:lumMod val="75000"/>
                  </a:schemeClr>
                </a:solidFill>
              </a:rPr>
              <a:t>applications, </a:t>
            </a:r>
            <a:r>
              <a:rPr spc="-600" dirty="0">
                <a:solidFill>
                  <a:schemeClr val="tx2">
                    <a:lumMod val="75000"/>
                  </a:schemeClr>
                </a:solidFill>
              </a:rPr>
              <a:t> </a:t>
            </a:r>
            <a:r>
              <a:rPr spc="-10" dirty="0">
                <a:solidFill>
                  <a:schemeClr val="tx2">
                    <a:lumMod val="75000"/>
                  </a:schemeClr>
                </a:solidFill>
              </a:rPr>
              <a:t>including</a:t>
            </a:r>
            <a:r>
              <a:rPr spc="-125" dirty="0">
                <a:solidFill>
                  <a:schemeClr val="tx2">
                    <a:lumMod val="75000"/>
                  </a:schemeClr>
                </a:solidFill>
              </a:rPr>
              <a:t> </a:t>
            </a:r>
            <a:r>
              <a:rPr spc="40" dirty="0">
                <a:solidFill>
                  <a:schemeClr val="tx2">
                    <a:lumMod val="75000"/>
                  </a:schemeClr>
                </a:solidFill>
              </a:rPr>
              <a:t>the</a:t>
            </a:r>
            <a:r>
              <a:rPr spc="-125" dirty="0">
                <a:solidFill>
                  <a:schemeClr val="tx2">
                    <a:lumMod val="75000"/>
                  </a:schemeClr>
                </a:solidFill>
              </a:rPr>
              <a:t> </a:t>
            </a:r>
            <a:r>
              <a:rPr spc="10" dirty="0">
                <a:solidFill>
                  <a:schemeClr val="tx2">
                    <a:lumMod val="75000"/>
                  </a:schemeClr>
                </a:solidFill>
              </a:rPr>
              <a:t>analysis</a:t>
            </a:r>
            <a:r>
              <a:rPr spc="-125" dirty="0">
                <a:solidFill>
                  <a:schemeClr val="tx2">
                    <a:lumMod val="75000"/>
                  </a:schemeClr>
                </a:solidFill>
              </a:rPr>
              <a:t> </a:t>
            </a:r>
            <a:r>
              <a:rPr spc="25" dirty="0">
                <a:solidFill>
                  <a:schemeClr val="tx2">
                    <a:lumMod val="75000"/>
                  </a:schemeClr>
                </a:solidFill>
              </a:rPr>
              <a:t>of</a:t>
            </a:r>
            <a:r>
              <a:rPr spc="-125" dirty="0">
                <a:solidFill>
                  <a:schemeClr val="tx2">
                    <a:lumMod val="75000"/>
                  </a:schemeClr>
                </a:solidFill>
              </a:rPr>
              <a:t> </a:t>
            </a:r>
            <a:r>
              <a:rPr spc="15" dirty="0">
                <a:solidFill>
                  <a:schemeClr val="tx2">
                    <a:lumMod val="75000"/>
                  </a:schemeClr>
                </a:solidFill>
              </a:rPr>
              <a:t>astronomical</a:t>
            </a:r>
            <a:r>
              <a:rPr spc="-125" dirty="0">
                <a:solidFill>
                  <a:schemeClr val="tx2">
                    <a:lumMod val="75000"/>
                  </a:schemeClr>
                </a:solidFill>
              </a:rPr>
              <a:t> </a:t>
            </a:r>
            <a:r>
              <a:rPr spc="10" dirty="0">
                <a:solidFill>
                  <a:schemeClr val="tx2">
                    <a:lumMod val="75000"/>
                  </a:schemeClr>
                </a:solidFill>
              </a:rPr>
              <a:t>data,</a:t>
            </a:r>
            <a:r>
              <a:rPr spc="-125" dirty="0">
                <a:solidFill>
                  <a:schemeClr val="tx2">
                    <a:lumMod val="75000"/>
                  </a:schemeClr>
                </a:solidFill>
              </a:rPr>
              <a:t> </a:t>
            </a:r>
            <a:r>
              <a:rPr spc="10" dirty="0">
                <a:solidFill>
                  <a:schemeClr val="tx2">
                    <a:lumMod val="75000"/>
                  </a:schemeClr>
                </a:solidFill>
              </a:rPr>
              <a:t>gravitational</a:t>
            </a:r>
            <a:r>
              <a:rPr spc="-120" dirty="0">
                <a:solidFill>
                  <a:schemeClr val="tx2">
                    <a:lumMod val="75000"/>
                  </a:schemeClr>
                </a:solidFill>
              </a:rPr>
              <a:t> </a:t>
            </a:r>
            <a:r>
              <a:rPr spc="55" dirty="0">
                <a:solidFill>
                  <a:schemeClr val="tx2">
                    <a:lumMod val="75000"/>
                  </a:schemeClr>
                </a:solidFill>
              </a:rPr>
              <a:t>wave</a:t>
            </a:r>
            <a:r>
              <a:rPr spc="-125" dirty="0">
                <a:solidFill>
                  <a:schemeClr val="tx2">
                    <a:lumMod val="75000"/>
                  </a:schemeClr>
                </a:solidFill>
              </a:rPr>
              <a:t> </a:t>
            </a:r>
            <a:r>
              <a:rPr spc="25" dirty="0">
                <a:solidFill>
                  <a:schemeClr val="tx2">
                    <a:lumMod val="75000"/>
                  </a:schemeClr>
                </a:solidFill>
              </a:rPr>
              <a:t>detection,</a:t>
            </a:r>
            <a:r>
              <a:rPr spc="-125" dirty="0">
                <a:solidFill>
                  <a:schemeClr val="tx2">
                    <a:lumMod val="75000"/>
                  </a:schemeClr>
                </a:solidFill>
              </a:rPr>
              <a:t> </a:t>
            </a:r>
            <a:r>
              <a:rPr spc="20" dirty="0">
                <a:solidFill>
                  <a:schemeClr val="tx2">
                    <a:lumMod val="75000"/>
                  </a:schemeClr>
                </a:solidFill>
              </a:rPr>
              <a:t>and</a:t>
            </a:r>
            <a:r>
              <a:rPr spc="-125" dirty="0">
                <a:solidFill>
                  <a:schemeClr val="tx2">
                    <a:lumMod val="75000"/>
                  </a:schemeClr>
                </a:solidFill>
              </a:rPr>
              <a:t> </a:t>
            </a:r>
            <a:r>
              <a:rPr spc="10" dirty="0">
                <a:solidFill>
                  <a:schemeClr val="tx2">
                    <a:lumMod val="75000"/>
                  </a:schemeClr>
                </a:solidFill>
              </a:rPr>
              <a:t>radio</a:t>
            </a:r>
            <a:r>
              <a:rPr spc="-125" dirty="0">
                <a:solidFill>
                  <a:schemeClr val="tx2">
                    <a:lumMod val="75000"/>
                  </a:schemeClr>
                </a:solidFill>
              </a:rPr>
              <a:t> </a:t>
            </a:r>
            <a:r>
              <a:rPr spc="10" dirty="0">
                <a:solidFill>
                  <a:schemeClr val="tx2">
                    <a:lumMod val="75000"/>
                  </a:schemeClr>
                </a:solidFill>
              </a:rPr>
              <a:t>astronomy.</a:t>
            </a:r>
          </a:p>
          <a:p>
            <a:pPr marL="4678045" marR="63500" indent="-242570">
              <a:lnSpc>
                <a:spcPct val="115399"/>
              </a:lnSpc>
              <a:buAutoNum type="arabicPeriod"/>
              <a:tabLst>
                <a:tab pos="4678680" algn="l"/>
              </a:tabLst>
            </a:pPr>
            <a:r>
              <a:rPr spc="35" dirty="0">
                <a:solidFill>
                  <a:schemeClr val="tx2">
                    <a:lumMod val="75000"/>
                  </a:schemeClr>
                </a:solidFill>
              </a:rPr>
              <a:t>Data</a:t>
            </a:r>
            <a:r>
              <a:rPr spc="-130" dirty="0">
                <a:solidFill>
                  <a:schemeClr val="tx2">
                    <a:lumMod val="75000"/>
                  </a:schemeClr>
                </a:solidFill>
              </a:rPr>
              <a:t> </a:t>
            </a:r>
            <a:r>
              <a:rPr spc="-10" dirty="0">
                <a:solidFill>
                  <a:schemeClr val="tx2">
                    <a:lumMod val="75000"/>
                  </a:schemeClr>
                </a:solidFill>
              </a:rPr>
              <a:t>Analysis:</a:t>
            </a:r>
            <a:r>
              <a:rPr spc="-125" dirty="0">
                <a:solidFill>
                  <a:schemeClr val="tx2">
                    <a:lumMod val="75000"/>
                  </a:schemeClr>
                </a:solidFill>
              </a:rPr>
              <a:t> </a:t>
            </a:r>
            <a:r>
              <a:rPr spc="15" dirty="0">
                <a:solidFill>
                  <a:schemeClr val="tx2">
                    <a:lumMod val="75000"/>
                  </a:schemeClr>
                </a:solidFill>
              </a:rPr>
              <a:t>FFT</a:t>
            </a:r>
            <a:r>
              <a:rPr spc="-125" dirty="0">
                <a:solidFill>
                  <a:schemeClr val="tx2">
                    <a:lumMod val="75000"/>
                  </a:schemeClr>
                </a:solidFill>
              </a:rPr>
              <a:t> </a:t>
            </a:r>
            <a:r>
              <a:rPr spc="-30" dirty="0">
                <a:solidFill>
                  <a:schemeClr val="tx2">
                    <a:lumMod val="75000"/>
                  </a:schemeClr>
                </a:solidFill>
              </a:rPr>
              <a:t>is</a:t>
            </a:r>
            <a:r>
              <a:rPr spc="-125" dirty="0">
                <a:solidFill>
                  <a:schemeClr val="tx2">
                    <a:lumMod val="75000"/>
                  </a:schemeClr>
                </a:solidFill>
              </a:rPr>
              <a:t> </a:t>
            </a:r>
            <a:r>
              <a:rPr spc="35" dirty="0">
                <a:solidFill>
                  <a:schemeClr val="tx2">
                    <a:lumMod val="75000"/>
                  </a:schemeClr>
                </a:solidFill>
              </a:rPr>
              <a:t>employed</a:t>
            </a:r>
            <a:r>
              <a:rPr spc="-130" dirty="0">
                <a:solidFill>
                  <a:schemeClr val="tx2">
                    <a:lumMod val="75000"/>
                  </a:schemeClr>
                </a:solidFill>
              </a:rPr>
              <a:t> </a:t>
            </a:r>
            <a:r>
              <a:rPr spc="-15" dirty="0">
                <a:solidFill>
                  <a:schemeClr val="tx2">
                    <a:lumMod val="75000"/>
                  </a:schemeClr>
                </a:solidFill>
              </a:rPr>
              <a:t>in</a:t>
            </a:r>
            <a:r>
              <a:rPr spc="-125" dirty="0">
                <a:solidFill>
                  <a:schemeClr val="tx2">
                    <a:lumMod val="75000"/>
                  </a:schemeClr>
                </a:solidFill>
              </a:rPr>
              <a:t> </a:t>
            </a:r>
            <a:r>
              <a:rPr spc="15" dirty="0">
                <a:solidFill>
                  <a:schemeClr val="tx2">
                    <a:lumMod val="75000"/>
                  </a:schemeClr>
                </a:solidFill>
              </a:rPr>
              <a:t>various</a:t>
            </a:r>
            <a:r>
              <a:rPr spc="-125" dirty="0">
                <a:solidFill>
                  <a:schemeClr val="tx2">
                    <a:lumMod val="75000"/>
                  </a:schemeClr>
                </a:solidFill>
              </a:rPr>
              <a:t> </a:t>
            </a:r>
            <a:r>
              <a:rPr spc="35" dirty="0">
                <a:solidFill>
                  <a:schemeClr val="tx2">
                    <a:lumMod val="75000"/>
                  </a:schemeClr>
                </a:solidFill>
              </a:rPr>
              <a:t>data</a:t>
            </a:r>
            <a:r>
              <a:rPr spc="-125" dirty="0">
                <a:solidFill>
                  <a:schemeClr val="tx2">
                    <a:lumMod val="75000"/>
                  </a:schemeClr>
                </a:solidFill>
              </a:rPr>
              <a:t> </a:t>
            </a:r>
            <a:r>
              <a:rPr spc="10" dirty="0">
                <a:solidFill>
                  <a:schemeClr val="tx2">
                    <a:lumMod val="75000"/>
                  </a:schemeClr>
                </a:solidFill>
              </a:rPr>
              <a:t>analysis</a:t>
            </a:r>
            <a:r>
              <a:rPr spc="-130" dirty="0">
                <a:solidFill>
                  <a:schemeClr val="tx2">
                    <a:lumMod val="75000"/>
                  </a:schemeClr>
                </a:solidFill>
              </a:rPr>
              <a:t> </a:t>
            </a:r>
            <a:r>
              <a:rPr spc="-35" dirty="0">
                <a:solidFill>
                  <a:schemeClr val="tx2">
                    <a:lumMod val="75000"/>
                  </a:schemeClr>
                </a:solidFill>
              </a:rPr>
              <a:t>tasks,</a:t>
            </a:r>
            <a:r>
              <a:rPr spc="-125" dirty="0">
                <a:solidFill>
                  <a:schemeClr val="tx2">
                    <a:lumMod val="75000"/>
                  </a:schemeClr>
                </a:solidFill>
              </a:rPr>
              <a:t> </a:t>
            </a:r>
            <a:r>
              <a:rPr spc="20" dirty="0">
                <a:solidFill>
                  <a:schemeClr val="tx2">
                    <a:lumMod val="75000"/>
                  </a:schemeClr>
                </a:solidFill>
              </a:rPr>
              <a:t>such</a:t>
            </a:r>
            <a:r>
              <a:rPr spc="-125" dirty="0">
                <a:solidFill>
                  <a:schemeClr val="tx2">
                    <a:lumMod val="75000"/>
                  </a:schemeClr>
                </a:solidFill>
              </a:rPr>
              <a:t> </a:t>
            </a:r>
            <a:r>
              <a:rPr dirty="0">
                <a:solidFill>
                  <a:schemeClr val="tx2">
                    <a:lumMod val="75000"/>
                  </a:schemeClr>
                </a:solidFill>
              </a:rPr>
              <a:t>as</a:t>
            </a:r>
            <a:r>
              <a:rPr spc="-125" dirty="0">
                <a:solidFill>
                  <a:schemeClr val="tx2">
                    <a:lumMod val="75000"/>
                  </a:schemeClr>
                </a:solidFill>
              </a:rPr>
              <a:t> </a:t>
            </a:r>
            <a:r>
              <a:rPr spc="35" dirty="0">
                <a:solidFill>
                  <a:schemeClr val="tx2">
                    <a:lumMod val="75000"/>
                  </a:schemeClr>
                </a:solidFill>
              </a:rPr>
              <a:t>spectral</a:t>
            </a:r>
            <a:r>
              <a:rPr spc="-130" dirty="0">
                <a:solidFill>
                  <a:schemeClr val="tx2">
                    <a:lumMod val="75000"/>
                  </a:schemeClr>
                </a:solidFill>
              </a:rPr>
              <a:t> </a:t>
            </a:r>
            <a:r>
              <a:rPr spc="-5" dirty="0">
                <a:solidFill>
                  <a:schemeClr val="tx2">
                    <a:lumMod val="75000"/>
                  </a:schemeClr>
                </a:solidFill>
              </a:rPr>
              <a:t>analysis,</a:t>
            </a:r>
            <a:r>
              <a:rPr spc="-125" dirty="0">
                <a:solidFill>
                  <a:schemeClr val="tx2">
                    <a:lumMod val="75000"/>
                  </a:schemeClr>
                </a:solidFill>
              </a:rPr>
              <a:t> </a:t>
            </a:r>
            <a:r>
              <a:rPr dirty="0">
                <a:solidFill>
                  <a:schemeClr val="tx2">
                    <a:lumMod val="75000"/>
                  </a:schemeClr>
                </a:solidFill>
              </a:rPr>
              <a:t>noise</a:t>
            </a:r>
            <a:r>
              <a:rPr spc="-125" dirty="0">
                <a:solidFill>
                  <a:schemeClr val="tx2">
                    <a:lumMod val="75000"/>
                  </a:schemeClr>
                </a:solidFill>
              </a:rPr>
              <a:t> </a:t>
            </a:r>
            <a:r>
              <a:rPr spc="10" dirty="0">
                <a:solidFill>
                  <a:schemeClr val="tx2">
                    <a:lumMod val="75000"/>
                  </a:schemeClr>
                </a:solidFill>
              </a:rPr>
              <a:t>removal, </a:t>
            </a:r>
            <a:r>
              <a:rPr spc="-600" dirty="0">
                <a:solidFill>
                  <a:schemeClr val="tx2">
                    <a:lumMod val="75000"/>
                  </a:schemeClr>
                </a:solidFill>
              </a:rPr>
              <a:t> </a:t>
            </a:r>
            <a:r>
              <a:rPr spc="20" dirty="0">
                <a:solidFill>
                  <a:schemeClr val="tx2">
                    <a:lumMod val="75000"/>
                  </a:schemeClr>
                </a:solidFill>
              </a:rPr>
              <a:t>and</a:t>
            </a:r>
            <a:r>
              <a:rPr spc="-140" dirty="0">
                <a:solidFill>
                  <a:schemeClr val="tx2">
                    <a:lumMod val="75000"/>
                  </a:schemeClr>
                </a:solidFill>
              </a:rPr>
              <a:t> </a:t>
            </a:r>
            <a:r>
              <a:rPr spc="40" dirty="0">
                <a:solidFill>
                  <a:schemeClr val="tx2">
                    <a:lumMod val="75000"/>
                  </a:schemeClr>
                </a:solidFill>
              </a:rPr>
              <a:t>pattern</a:t>
            </a:r>
            <a:r>
              <a:rPr spc="-135" dirty="0">
                <a:solidFill>
                  <a:schemeClr val="tx2">
                    <a:lumMod val="75000"/>
                  </a:schemeClr>
                </a:solidFill>
              </a:rPr>
              <a:t> </a:t>
            </a:r>
            <a:r>
              <a:rPr spc="-5" dirty="0">
                <a:solidFill>
                  <a:schemeClr val="tx2">
                    <a:lumMod val="75000"/>
                  </a:schemeClr>
                </a:solidFill>
              </a:rPr>
              <a:t>recognition.</a:t>
            </a:r>
          </a:p>
          <a:p>
            <a:pPr marL="4425316">
              <a:lnSpc>
                <a:spcPct val="100000"/>
              </a:lnSpc>
              <a:spcBef>
                <a:spcPts val="355"/>
              </a:spcBef>
              <a:tabLst>
                <a:tab pos="4678680" algn="l"/>
              </a:tabLst>
            </a:pPr>
            <a:r>
              <a:rPr lang="en-US" spc="5" dirty="0">
                <a:solidFill>
                  <a:schemeClr val="tx2">
                    <a:lumMod val="75000"/>
                  </a:schemeClr>
                </a:solidFill>
              </a:rPr>
              <a:t>   </a:t>
            </a:r>
            <a:r>
              <a:rPr spc="5" dirty="0">
                <a:solidFill>
                  <a:schemeClr val="tx2">
                    <a:lumMod val="75000"/>
                  </a:schemeClr>
                </a:solidFill>
              </a:rPr>
              <a:t>And</a:t>
            </a:r>
            <a:r>
              <a:rPr spc="-155" dirty="0">
                <a:solidFill>
                  <a:schemeClr val="tx2">
                    <a:lumMod val="75000"/>
                  </a:schemeClr>
                </a:solidFill>
              </a:rPr>
              <a:t> </a:t>
            </a:r>
            <a:r>
              <a:rPr spc="30" dirty="0">
                <a:solidFill>
                  <a:schemeClr val="tx2">
                    <a:lumMod val="75000"/>
                  </a:schemeClr>
                </a:solidFill>
              </a:rPr>
              <a:t>where</a:t>
            </a:r>
            <a:r>
              <a:rPr spc="-150" dirty="0">
                <a:solidFill>
                  <a:schemeClr val="tx2">
                    <a:lumMod val="75000"/>
                  </a:schemeClr>
                </a:solidFill>
              </a:rPr>
              <a:t> </a:t>
            </a:r>
            <a:r>
              <a:rPr spc="95" dirty="0">
                <a:solidFill>
                  <a:schemeClr val="tx2">
                    <a:lumMod val="75000"/>
                  </a:schemeClr>
                </a:solidFill>
              </a:rPr>
              <a:t>not??</a:t>
            </a:r>
          </a:p>
        </p:txBody>
      </p:sp>
      <p:sp>
        <p:nvSpPr>
          <p:cNvPr id="8" name="Rectangle 7">
            <a:extLst>
              <a:ext uri="{FF2B5EF4-FFF2-40B4-BE49-F238E27FC236}">
                <a16:creationId xmlns:a16="http://schemas.microsoft.com/office/drawing/2014/main" id="{DDC4CF24-51FD-31D6-CE58-4D06330ACF59}"/>
              </a:ext>
            </a:extLst>
          </p:cNvPr>
          <p:cNvSpPr/>
          <p:nvPr/>
        </p:nvSpPr>
        <p:spPr>
          <a:xfrm>
            <a:off x="14478000" y="9302081"/>
            <a:ext cx="1999009" cy="461665"/>
          </a:xfrm>
          <a:prstGeom prst="rect">
            <a:avLst/>
          </a:prstGeom>
          <a:noFill/>
        </p:spPr>
        <p:txBody>
          <a:bodyPr wrap="none" lIns="91440" tIns="45720" rIns="91440" bIns="45720">
            <a:spAutoFit/>
          </a:bodyPr>
          <a:lstStyle/>
          <a:p>
            <a:pPr algn="ctr"/>
            <a:r>
              <a:rPr lang="en-US" sz="2400" dirty="0">
                <a:ln w="0"/>
                <a:effectLst>
                  <a:outerShdw blurRad="38100" dist="19050" dir="2700000" algn="tl" rotWithShape="0">
                    <a:schemeClr val="dk1">
                      <a:alpha val="40000"/>
                    </a:schemeClr>
                  </a:outerShdw>
                </a:effectLst>
              </a:rPr>
              <a:t>Source :Reddit</a:t>
            </a:r>
            <a:endParaRPr lang="en-US" sz="2400" b="0" cap="none" spc="0" dirty="0">
              <a:ln w="0"/>
              <a:solidFill>
                <a:schemeClr val="tx1"/>
              </a:solidFill>
              <a:effectLst>
                <a:outerShdw blurRad="38100" dist="19050" dir="2700000" algn="tl" rotWithShape="0">
                  <a:schemeClr val="dk1">
                    <a:alpha val="40000"/>
                  </a:schemeClr>
                </a:outerShdw>
              </a:effectLst>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16975712" y="9648680"/>
            <a:ext cx="1233805" cy="375103"/>
          </a:xfrm>
          <a:prstGeom prst="rect">
            <a:avLst/>
          </a:prstGeom>
        </p:spPr>
        <p:txBody>
          <a:bodyPr vert="horz" wrap="square" lIns="0" tIns="66675" rIns="0" bIns="0" rtlCol="0">
            <a:spAutoFit/>
          </a:bodyPr>
          <a:lstStyle/>
          <a:p>
            <a:pPr marL="12700">
              <a:lnSpc>
                <a:spcPct val="100000"/>
              </a:lnSpc>
              <a:spcBef>
                <a:spcPts val="525"/>
              </a:spcBef>
            </a:pPr>
            <a:endParaRPr sz="2000" dirty="0">
              <a:latin typeface="Lucida Sans Unicode"/>
              <a:cs typeface="Lucida Sans Unicode"/>
            </a:endParaRPr>
          </a:p>
        </p:txBody>
      </p:sp>
      <p:grpSp>
        <p:nvGrpSpPr>
          <p:cNvPr id="6" name="object 3">
            <a:extLst>
              <a:ext uri="{FF2B5EF4-FFF2-40B4-BE49-F238E27FC236}">
                <a16:creationId xmlns:a16="http://schemas.microsoft.com/office/drawing/2014/main" id="{637FEA41-C2AC-1214-3AA5-4893253BF50B}"/>
              </a:ext>
            </a:extLst>
          </p:cNvPr>
          <p:cNvGrpSpPr/>
          <p:nvPr/>
        </p:nvGrpSpPr>
        <p:grpSpPr>
          <a:xfrm>
            <a:off x="5862" y="2931"/>
            <a:ext cx="4814047" cy="10287000"/>
            <a:chOff x="-375" y="0"/>
            <a:chExt cx="4108450" cy="10287000"/>
          </a:xfrm>
          <a:solidFill>
            <a:schemeClr val="tx1">
              <a:lumMod val="75000"/>
              <a:lumOff val="25000"/>
            </a:schemeClr>
          </a:solidFill>
        </p:grpSpPr>
        <p:sp>
          <p:nvSpPr>
            <p:cNvPr id="7" name="object 4">
              <a:extLst>
                <a:ext uri="{FF2B5EF4-FFF2-40B4-BE49-F238E27FC236}">
                  <a16:creationId xmlns:a16="http://schemas.microsoft.com/office/drawing/2014/main" id="{52D461BC-6FC5-665B-9FEE-9F0F0EC057D6}"/>
                </a:ext>
              </a:extLst>
            </p:cNvPr>
            <p:cNvSpPr/>
            <p:nvPr/>
          </p:nvSpPr>
          <p:spPr>
            <a:xfrm>
              <a:off x="-375" y="0"/>
              <a:ext cx="3327400" cy="10287000"/>
            </a:xfrm>
            <a:custGeom>
              <a:avLst/>
              <a:gdLst/>
              <a:ahLst/>
              <a:cxnLst/>
              <a:rect l="l" t="t" r="r" b="b"/>
              <a:pathLst>
                <a:path w="3327400" h="10287000">
                  <a:moveTo>
                    <a:pt x="0" y="10287000"/>
                  </a:moveTo>
                  <a:lnTo>
                    <a:pt x="0" y="0"/>
                  </a:lnTo>
                  <a:lnTo>
                    <a:pt x="3327201" y="0"/>
                  </a:lnTo>
                  <a:lnTo>
                    <a:pt x="3327201" y="10287000"/>
                  </a:lnTo>
                  <a:lnTo>
                    <a:pt x="0" y="10287000"/>
                  </a:lnTo>
                  <a:close/>
                </a:path>
              </a:pathLst>
            </a:custGeom>
            <a:grpFill/>
          </p:spPr>
          <p:txBody>
            <a:bodyPr wrap="square" lIns="0" tIns="0" rIns="0" bIns="0" rtlCol="0"/>
            <a:lstStyle/>
            <a:p>
              <a:endParaRPr/>
            </a:p>
          </p:txBody>
        </p:sp>
        <p:sp>
          <p:nvSpPr>
            <p:cNvPr id="8" name="object 5">
              <a:extLst>
                <a:ext uri="{FF2B5EF4-FFF2-40B4-BE49-F238E27FC236}">
                  <a16:creationId xmlns:a16="http://schemas.microsoft.com/office/drawing/2014/main" id="{84C079DE-230E-D1F1-1D0C-666E81404CAB}"/>
                </a:ext>
              </a:extLst>
            </p:cNvPr>
            <p:cNvSpPr/>
            <p:nvPr/>
          </p:nvSpPr>
          <p:spPr>
            <a:xfrm>
              <a:off x="2545975" y="476250"/>
              <a:ext cx="1562100" cy="1562100"/>
            </a:xfrm>
            <a:custGeom>
              <a:avLst/>
              <a:gdLst/>
              <a:ahLst/>
              <a:cxnLst/>
              <a:rect l="l" t="t" r="r" b="b"/>
              <a:pathLst>
                <a:path w="1562100" h="1562100">
                  <a:moveTo>
                    <a:pt x="780985" y="1562100"/>
                  </a:moveTo>
                  <a:lnTo>
                    <a:pt x="756602" y="1494782"/>
                  </a:lnTo>
                  <a:lnTo>
                    <a:pt x="728330" y="1429003"/>
                  </a:lnTo>
                  <a:lnTo>
                    <a:pt x="696271" y="1364984"/>
                  </a:lnTo>
                  <a:lnTo>
                    <a:pt x="660529" y="1302946"/>
                  </a:lnTo>
                  <a:lnTo>
                    <a:pt x="621231" y="1243097"/>
                  </a:lnTo>
                  <a:lnTo>
                    <a:pt x="578506" y="1185645"/>
                  </a:lnTo>
                  <a:lnTo>
                    <a:pt x="532504" y="1130782"/>
                  </a:lnTo>
                  <a:lnTo>
                    <a:pt x="483377" y="1078698"/>
                  </a:lnTo>
                  <a:lnTo>
                    <a:pt x="431297" y="1029566"/>
                  </a:lnTo>
                  <a:lnTo>
                    <a:pt x="376437" y="983560"/>
                  </a:lnTo>
                  <a:lnTo>
                    <a:pt x="318989" y="940830"/>
                  </a:lnTo>
                  <a:lnTo>
                    <a:pt x="259143" y="901527"/>
                  </a:lnTo>
                  <a:lnTo>
                    <a:pt x="197108" y="865780"/>
                  </a:lnTo>
                  <a:lnTo>
                    <a:pt x="133092" y="833716"/>
                  </a:lnTo>
                  <a:lnTo>
                    <a:pt x="67315" y="805438"/>
                  </a:lnTo>
                  <a:lnTo>
                    <a:pt x="0" y="781050"/>
                  </a:lnTo>
                  <a:lnTo>
                    <a:pt x="33850" y="769341"/>
                  </a:lnTo>
                  <a:lnTo>
                    <a:pt x="100396" y="743008"/>
                  </a:lnTo>
                  <a:lnTo>
                    <a:pt x="165348" y="712812"/>
                  </a:lnTo>
                  <a:lnTo>
                    <a:pt x="228373" y="678906"/>
                  </a:lnTo>
                  <a:lnTo>
                    <a:pt x="289366" y="641349"/>
                  </a:lnTo>
                  <a:lnTo>
                    <a:pt x="348012" y="600333"/>
                  </a:lnTo>
                  <a:lnTo>
                    <a:pt x="404214" y="555926"/>
                  </a:lnTo>
                  <a:lnTo>
                    <a:pt x="457684" y="508358"/>
                  </a:lnTo>
                  <a:lnTo>
                    <a:pt x="508331" y="457707"/>
                  </a:lnTo>
                  <a:lnTo>
                    <a:pt x="555895" y="404233"/>
                  </a:lnTo>
                  <a:lnTo>
                    <a:pt x="600297" y="348027"/>
                  </a:lnTo>
                  <a:lnTo>
                    <a:pt x="641309" y="289377"/>
                  </a:lnTo>
                  <a:lnTo>
                    <a:pt x="678861" y="228382"/>
                  </a:lnTo>
                  <a:lnTo>
                    <a:pt x="712761" y="165353"/>
                  </a:lnTo>
                  <a:lnTo>
                    <a:pt x="742952" y="100399"/>
                  </a:lnTo>
                  <a:lnTo>
                    <a:pt x="769280" y="33851"/>
                  </a:lnTo>
                  <a:lnTo>
                    <a:pt x="780985" y="0"/>
                  </a:lnTo>
                  <a:lnTo>
                    <a:pt x="792690" y="33850"/>
                  </a:lnTo>
                  <a:lnTo>
                    <a:pt x="819017" y="100398"/>
                  </a:lnTo>
                  <a:lnTo>
                    <a:pt x="849207" y="165352"/>
                  </a:lnTo>
                  <a:lnTo>
                    <a:pt x="883106" y="228380"/>
                  </a:lnTo>
                  <a:lnTo>
                    <a:pt x="920657" y="289374"/>
                  </a:lnTo>
                  <a:lnTo>
                    <a:pt x="961668" y="348024"/>
                  </a:lnTo>
                  <a:lnTo>
                    <a:pt x="1006068" y="404230"/>
                  </a:lnTo>
                  <a:lnTo>
                    <a:pt x="1053631" y="457703"/>
                  </a:lnTo>
                  <a:lnTo>
                    <a:pt x="1104276" y="508354"/>
                  </a:lnTo>
                  <a:lnTo>
                    <a:pt x="1157745" y="555923"/>
                  </a:lnTo>
                  <a:lnTo>
                    <a:pt x="1213946" y="600329"/>
                  </a:lnTo>
                  <a:lnTo>
                    <a:pt x="1272591" y="641346"/>
                  </a:lnTo>
                  <a:lnTo>
                    <a:pt x="1333582" y="678904"/>
                  </a:lnTo>
                  <a:lnTo>
                    <a:pt x="1396606" y="712810"/>
                  </a:lnTo>
                  <a:lnTo>
                    <a:pt x="1461557" y="743007"/>
                  </a:lnTo>
                  <a:lnTo>
                    <a:pt x="1528101" y="769341"/>
                  </a:lnTo>
                  <a:lnTo>
                    <a:pt x="1561951" y="781050"/>
                  </a:lnTo>
                  <a:lnTo>
                    <a:pt x="1528101" y="792758"/>
                  </a:lnTo>
                  <a:lnTo>
                    <a:pt x="1461556" y="819092"/>
                  </a:lnTo>
                  <a:lnTo>
                    <a:pt x="1396606" y="849289"/>
                  </a:lnTo>
                  <a:lnTo>
                    <a:pt x="1333582" y="883195"/>
                  </a:lnTo>
                  <a:lnTo>
                    <a:pt x="1272591" y="920753"/>
                  </a:lnTo>
                  <a:lnTo>
                    <a:pt x="1213945" y="961770"/>
                  </a:lnTo>
                  <a:lnTo>
                    <a:pt x="1157745" y="1006176"/>
                  </a:lnTo>
                  <a:lnTo>
                    <a:pt x="1104276" y="1053745"/>
                  </a:lnTo>
                  <a:lnTo>
                    <a:pt x="1053631" y="1104396"/>
                  </a:lnTo>
                  <a:lnTo>
                    <a:pt x="1006068" y="1157870"/>
                  </a:lnTo>
                  <a:lnTo>
                    <a:pt x="961668" y="1214075"/>
                  </a:lnTo>
                  <a:lnTo>
                    <a:pt x="920657" y="1272725"/>
                  </a:lnTo>
                  <a:lnTo>
                    <a:pt x="883106" y="1333720"/>
                  </a:lnTo>
                  <a:lnTo>
                    <a:pt x="849207" y="1396748"/>
                  </a:lnTo>
                  <a:lnTo>
                    <a:pt x="819017" y="1461701"/>
                  </a:lnTo>
                  <a:lnTo>
                    <a:pt x="792690" y="1528249"/>
                  </a:lnTo>
                  <a:lnTo>
                    <a:pt x="780985" y="1562100"/>
                  </a:lnTo>
                  <a:close/>
                </a:path>
              </a:pathLst>
            </a:custGeom>
            <a:solidFill>
              <a:schemeClr val="tx1">
                <a:lumMod val="65000"/>
                <a:lumOff val="35000"/>
              </a:schemeClr>
            </a:solidFill>
          </p:spPr>
          <p:txBody>
            <a:bodyPr wrap="square" lIns="0" tIns="0" rIns="0" bIns="0" rtlCol="0"/>
            <a:lstStyle/>
            <a:p>
              <a:endParaRPr dirty="0"/>
            </a:p>
          </p:txBody>
        </p:sp>
      </p:grpSp>
      <p:sp>
        <p:nvSpPr>
          <p:cNvPr id="10" name="Rectangle 9">
            <a:extLst>
              <a:ext uri="{FF2B5EF4-FFF2-40B4-BE49-F238E27FC236}">
                <a16:creationId xmlns:a16="http://schemas.microsoft.com/office/drawing/2014/main" id="{3D3D5279-7403-02F6-C82F-5DF951FDB699}"/>
              </a:ext>
            </a:extLst>
          </p:cNvPr>
          <p:cNvSpPr/>
          <p:nvPr/>
        </p:nvSpPr>
        <p:spPr>
          <a:xfrm>
            <a:off x="5528918" y="3390900"/>
            <a:ext cx="11123559" cy="923330"/>
          </a:xfrm>
          <a:prstGeom prst="rect">
            <a:avLst/>
          </a:prstGeom>
        </p:spPr>
        <p:style>
          <a:lnRef idx="2">
            <a:schemeClr val="accent5"/>
          </a:lnRef>
          <a:fillRef idx="1">
            <a:schemeClr val="lt1"/>
          </a:fillRef>
          <a:effectRef idx="0">
            <a:schemeClr val="accent5"/>
          </a:effectRef>
          <a:fontRef idx="minor">
            <a:schemeClr val="dk1"/>
          </a:fontRef>
        </p:style>
        <p:txBody>
          <a:bodyPr wrap="none" lIns="91440" tIns="45720" rIns="91440" bIns="45720">
            <a:spAutoFit/>
          </a:bodyPr>
          <a:lstStyle/>
          <a:p>
            <a:pPr algn="ctr"/>
            <a:r>
              <a:rPr lang="en-US" sz="5400" dirty="0">
                <a:ln w="0"/>
                <a:effectLst>
                  <a:outerShdw blurRad="38100" dist="19050" dir="2700000" algn="tl" rotWithShape="0">
                    <a:schemeClr val="dk1">
                      <a:alpha val="40000"/>
                    </a:schemeClr>
                  </a:outerShdw>
                </a:effectLst>
                <a:latin typeface="Algerian" panose="04020705040A02060702" pitchFamily="82" charset="0"/>
              </a:rPr>
              <a:t>Thankyou for your patience :)</a:t>
            </a:r>
            <a:endParaRPr lang="en-US" sz="5400" b="0" cap="none" spc="0" dirty="0">
              <a:ln w="0"/>
              <a:solidFill>
                <a:schemeClr val="tx1"/>
              </a:solidFill>
              <a:effectLst>
                <a:outerShdw blurRad="38100" dist="19050" dir="2700000" algn="tl" rotWithShape="0">
                  <a:schemeClr val="dk1">
                    <a:alpha val="40000"/>
                  </a:schemeClr>
                </a:outerShdw>
              </a:effectLst>
              <a:latin typeface="Algerian" panose="04020705040A02060702" pitchFamily="82" charset="0"/>
            </a:endParaRPr>
          </a:p>
        </p:txBody>
      </p:sp>
      <p:sp>
        <p:nvSpPr>
          <p:cNvPr id="2" name="Oval 1">
            <a:extLst>
              <a:ext uri="{FF2B5EF4-FFF2-40B4-BE49-F238E27FC236}">
                <a16:creationId xmlns:a16="http://schemas.microsoft.com/office/drawing/2014/main" id="{614D7BF4-4201-8020-BE8F-2B6149E566D5}"/>
              </a:ext>
            </a:extLst>
          </p:cNvPr>
          <p:cNvSpPr/>
          <p:nvPr/>
        </p:nvSpPr>
        <p:spPr>
          <a:xfrm>
            <a:off x="7696200" y="5448300"/>
            <a:ext cx="6705600" cy="1447800"/>
          </a:xfrm>
          <a:prstGeom prst="ellipse">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Any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285</TotalTime>
  <Words>2199</Words>
  <Application>Microsoft Office PowerPoint</Application>
  <PresentationFormat>Custom</PresentationFormat>
  <Paragraphs>188</Paragraphs>
  <Slides>33</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33</vt:i4>
      </vt:variant>
    </vt:vector>
  </HeadingPairs>
  <TitlesOfParts>
    <vt:vector size="44" baseType="lpstr">
      <vt:lpstr>Algerian</vt:lpstr>
      <vt:lpstr>Arial</vt:lpstr>
      <vt:lpstr>Calibri</vt:lpstr>
      <vt:lpstr>Lucida Calligraphy</vt:lpstr>
      <vt:lpstr>Lucida Handwriting</vt:lpstr>
      <vt:lpstr>Lucida Sans Unicode</vt:lpstr>
      <vt:lpstr>Open Sans Condensed</vt:lpstr>
      <vt:lpstr>Roboto</vt:lpstr>
      <vt:lpstr>Trebuchet MS</vt:lpstr>
      <vt:lpstr>Verdana</vt:lpstr>
      <vt:lpstr>Office Theme</vt:lpstr>
      <vt:lpstr>Welcome let's get started</vt:lpstr>
      <vt:lpstr>PowerPoint Presentation</vt:lpstr>
      <vt:lpstr>Introduction</vt:lpstr>
      <vt:lpstr>PowerPoint Presentation</vt:lpstr>
      <vt:lpstr>PowerPoint Presentation</vt:lpstr>
      <vt:lpstr>PowerPoint Presentation</vt:lpstr>
      <vt:lpstr>What is DFT?</vt:lpstr>
      <vt:lpstr>What is FFT?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Some more applications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and Orange English Class Minimalist Lesson Presentation</dc:title>
  <dc:creator>Shah Alamgir</dc:creator>
  <cp:keywords>DAFjhmQQBHw,BAFOqj4Tr2o</cp:keywords>
  <cp:lastModifiedBy>Taquat Hossain</cp:lastModifiedBy>
  <cp:revision>9</cp:revision>
  <dcterms:created xsi:type="dcterms:W3CDTF">2023-05-21T11:26:28Z</dcterms:created>
  <dcterms:modified xsi:type="dcterms:W3CDTF">2025-11-02T20:37:12Z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2023-05-21T00:00:00Z</vt:filetime>
  </property>
  <property fmtid="{D5CDD505-2E9C-101B-9397-08002B2CF9AE}" pid="3" name="Creator">
    <vt:lpwstr>Canva</vt:lpwstr>
  </property>
  <property fmtid="{D5CDD505-2E9C-101B-9397-08002B2CF9AE}" pid="4" name="LastSaved">
    <vt:filetime>2023-05-21T00:00:00Z</vt:filetime>
  </property>
</Properties>
</file>