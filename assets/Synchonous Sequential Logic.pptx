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anva Sans" panose="020B0604020202020204" charset="0"/>
      <p:regular r:id="rId24"/>
    </p:embeddedFont>
    <p:embeddedFont>
      <p:font typeface="Fredoka" panose="020B0604020202020204" charset="0"/>
      <p:regular r:id="rId25"/>
    </p:embeddedFont>
    <p:embeddedFont>
      <p:font typeface="Shrikhand" panose="020B0604020202020204" charset="0"/>
      <p:regular r:id="rId26"/>
    </p:embeddedFont>
    <p:embeddedFont>
      <p:font typeface="Times New Roman Bold" panose="02020803070505020304" pitchFamily="18" charset="0"/>
      <p:regular r:id="rId27"/>
      <p:bold r:id="rId28"/>
    </p:embeddedFont>
    <p:embeddedFont>
      <p:font typeface="Times New Roman Bold Italics" panose="020B0604020202020204" charset="0"/>
      <p:regular r:id="rId29"/>
    </p:embeddedFont>
    <p:embeddedFont>
      <p:font typeface="Times New Roman Italics" panose="020B06040202020202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71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what-is-nor-gate/" TargetMode="External"/><Relationship Id="rId7" Type="http://schemas.openxmlformats.org/officeDocument/2006/relationships/image" Target="../media/image11.svg"/><Relationship Id="rId2" Type="http://schemas.openxmlformats.org/officeDocument/2006/relationships/hyperlink" Target="https://www.geeksforgeeks.org/what-is-nand-gate/" TargetMode="Externa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geeksforgeeks.org/astable-monostable-and-bistable-multivibrator/"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5.png"/><Relationship Id="rId7" Type="http://schemas.openxmlformats.org/officeDocument/2006/relationships/image" Target="../media/image8.sv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8.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32.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hyperlink" Target="https://www.geeksforgeeks.org/universal-shift-register-in-digital-logic/" TargetMode="External"/><Relationship Id="rId7" Type="http://schemas.openxmlformats.org/officeDocument/2006/relationships/image" Target="../media/image10.pn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svg"/><Relationship Id="rId2" Type="http://schemas.openxmlformats.org/officeDocument/2006/relationships/image" Target="../media/image39.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8.sv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allaboutcircuits.com" TargetMode="Externa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image" Target="../media/image8.sv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0.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90000"/>
            </a:blip>
            <a:stretch>
              <a:fillRect t="-15249" b="-15249"/>
            </a:stretch>
          </a:blipFill>
        </p:spPr>
      </p:sp>
      <p:sp>
        <p:nvSpPr>
          <p:cNvPr id="3" name="Freeform 3"/>
          <p:cNvSpPr/>
          <p:nvPr/>
        </p:nvSpPr>
        <p:spPr>
          <a:xfrm>
            <a:off x="5053343" y="5143500"/>
            <a:ext cx="8712568" cy="3627597"/>
          </a:xfrm>
          <a:custGeom>
            <a:avLst/>
            <a:gdLst/>
            <a:ahLst/>
            <a:cxnLst/>
            <a:rect l="l" t="t" r="r" b="b"/>
            <a:pathLst>
              <a:path w="8712568" h="3627597">
                <a:moveTo>
                  <a:pt x="0" y="0"/>
                </a:moveTo>
                <a:lnTo>
                  <a:pt x="8712568" y="0"/>
                </a:lnTo>
                <a:lnTo>
                  <a:pt x="8712568" y="3627597"/>
                </a:lnTo>
                <a:lnTo>
                  <a:pt x="0" y="3627597"/>
                </a:lnTo>
                <a:lnTo>
                  <a:pt x="0" y="0"/>
                </a:lnTo>
                <a:close/>
              </a:path>
            </a:pathLst>
          </a:custGeom>
          <a:blipFill>
            <a:blip r:embed="rId3">
              <a:alphaModFix amt="32999"/>
              <a:extLst>
                <a:ext uri="{96DAC541-7B7A-43D3-8B79-37D633B846F1}">
                  <asvg:svgBlip xmlns:asvg="http://schemas.microsoft.com/office/drawing/2016/SVG/main" r:embed="rId4"/>
                </a:ext>
              </a:extLst>
            </a:blip>
            <a:stretch>
              <a:fillRect/>
            </a:stretch>
          </a:blipFill>
        </p:spPr>
      </p:sp>
      <p:sp>
        <p:nvSpPr>
          <p:cNvPr id="4" name="Freeform 4"/>
          <p:cNvSpPr/>
          <p:nvPr/>
        </p:nvSpPr>
        <p:spPr>
          <a:xfrm>
            <a:off x="4213405" y="2294940"/>
            <a:ext cx="10392444" cy="2191861"/>
          </a:xfrm>
          <a:custGeom>
            <a:avLst/>
            <a:gdLst/>
            <a:ahLst/>
            <a:cxnLst/>
            <a:rect l="l" t="t" r="r" b="b"/>
            <a:pathLst>
              <a:path w="10392444" h="2191861">
                <a:moveTo>
                  <a:pt x="0" y="0"/>
                </a:moveTo>
                <a:lnTo>
                  <a:pt x="10392444" y="0"/>
                </a:lnTo>
                <a:lnTo>
                  <a:pt x="10392444" y="2191861"/>
                </a:lnTo>
                <a:lnTo>
                  <a:pt x="0" y="2191861"/>
                </a:lnTo>
                <a:lnTo>
                  <a:pt x="0" y="0"/>
                </a:lnTo>
                <a:close/>
              </a:path>
            </a:pathLst>
          </a:custGeom>
          <a:blipFill>
            <a:blip r:embed="rId5">
              <a:alphaModFix amt="19999"/>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17259300" y="9172575"/>
            <a:ext cx="152400" cy="2381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1</a:t>
            </a:r>
          </a:p>
        </p:txBody>
      </p:sp>
      <p:sp>
        <p:nvSpPr>
          <p:cNvPr id="6" name="TextBox 6"/>
          <p:cNvSpPr txBox="1"/>
          <p:nvPr/>
        </p:nvSpPr>
        <p:spPr>
          <a:xfrm>
            <a:off x="4360742" y="2964224"/>
            <a:ext cx="10097770" cy="795167"/>
          </a:xfrm>
          <a:prstGeom prst="rect">
            <a:avLst/>
          </a:prstGeom>
        </p:spPr>
        <p:txBody>
          <a:bodyPr lIns="0" tIns="0" rIns="0" bIns="0" rtlCol="0" anchor="t">
            <a:spAutoFit/>
          </a:bodyPr>
          <a:lstStyle/>
          <a:p>
            <a:pPr algn="ctr">
              <a:lnSpc>
                <a:spcPts val="6571"/>
              </a:lnSpc>
            </a:pPr>
            <a:r>
              <a:rPr lang="en-US" sz="4694">
                <a:solidFill>
                  <a:srgbClr val="FFFFFF"/>
                </a:solidFill>
                <a:latin typeface="Fredoka"/>
                <a:ea typeface="Fredoka"/>
                <a:cs typeface="Fredoka"/>
                <a:sym typeface="Fredoka"/>
              </a:rPr>
              <a:t>SYNCHONOUS SEQUENTIAL LOGIC</a:t>
            </a:r>
          </a:p>
        </p:txBody>
      </p:sp>
      <p:sp>
        <p:nvSpPr>
          <p:cNvPr id="7" name="TextBox 7"/>
          <p:cNvSpPr txBox="1"/>
          <p:nvPr/>
        </p:nvSpPr>
        <p:spPr>
          <a:xfrm>
            <a:off x="6749056" y="5076825"/>
            <a:ext cx="5321141" cy="3580765"/>
          </a:xfrm>
          <a:prstGeom prst="rect">
            <a:avLst/>
          </a:prstGeom>
        </p:spPr>
        <p:txBody>
          <a:bodyPr lIns="0" tIns="0" rIns="0" bIns="0" rtlCol="0" anchor="t">
            <a:spAutoFit/>
          </a:bodyPr>
          <a:lstStyle/>
          <a:p>
            <a:pPr algn="ctr">
              <a:lnSpc>
                <a:spcPts val="4759"/>
              </a:lnSpc>
            </a:pPr>
            <a:r>
              <a:rPr lang="en-US" sz="3399">
                <a:solidFill>
                  <a:srgbClr val="FFFFFF"/>
                </a:solidFill>
                <a:latin typeface="Shrikhand"/>
                <a:ea typeface="Shrikhand"/>
                <a:cs typeface="Shrikhand"/>
                <a:sym typeface="Shrikhand"/>
              </a:rPr>
              <a:t>Presented By:</a:t>
            </a:r>
          </a:p>
          <a:p>
            <a:pPr algn="ctr">
              <a:lnSpc>
                <a:spcPts val="4759"/>
              </a:lnSpc>
            </a:pPr>
            <a:r>
              <a:rPr lang="en-US" sz="3399">
                <a:solidFill>
                  <a:srgbClr val="FFFFFF"/>
                </a:solidFill>
                <a:latin typeface="Shrikhand"/>
                <a:ea typeface="Shrikhand"/>
                <a:cs typeface="Shrikhand"/>
                <a:sym typeface="Shrikhand"/>
              </a:rPr>
              <a:t>Shirajul Abedin Shimul</a:t>
            </a:r>
          </a:p>
          <a:p>
            <a:pPr algn="ctr">
              <a:lnSpc>
                <a:spcPts val="4759"/>
              </a:lnSpc>
            </a:pPr>
            <a:r>
              <a:rPr lang="en-US" sz="3399">
                <a:solidFill>
                  <a:srgbClr val="FFFFFF"/>
                </a:solidFill>
                <a:latin typeface="Shrikhand"/>
                <a:ea typeface="Shrikhand"/>
                <a:cs typeface="Shrikhand"/>
                <a:sym typeface="Shrikhand"/>
              </a:rPr>
              <a:t>Reg No:2020338001</a:t>
            </a:r>
          </a:p>
          <a:p>
            <a:pPr algn="ctr">
              <a:lnSpc>
                <a:spcPts val="4759"/>
              </a:lnSpc>
            </a:pPr>
            <a:endParaRPr lang="en-US" sz="3399">
              <a:solidFill>
                <a:srgbClr val="FFFFFF"/>
              </a:solidFill>
              <a:latin typeface="Shrikhand"/>
              <a:ea typeface="Shrikhand"/>
              <a:cs typeface="Shrikhand"/>
              <a:sym typeface="Shrikhand"/>
            </a:endParaRPr>
          </a:p>
          <a:p>
            <a:pPr algn="ctr">
              <a:lnSpc>
                <a:spcPts val="4759"/>
              </a:lnSpc>
            </a:pPr>
            <a:r>
              <a:rPr lang="en-US" sz="3399">
                <a:solidFill>
                  <a:srgbClr val="FFFFFF"/>
                </a:solidFill>
                <a:latin typeface="Shrikhand"/>
                <a:ea typeface="Shrikhand"/>
                <a:cs typeface="Shrikhand"/>
                <a:sym typeface="Shrikhand"/>
              </a:rPr>
              <a:t>Md.Takoat Hossain</a:t>
            </a:r>
          </a:p>
          <a:p>
            <a:pPr algn="ctr">
              <a:lnSpc>
                <a:spcPts val="4759"/>
              </a:lnSpc>
            </a:pPr>
            <a:r>
              <a:rPr lang="en-US" sz="3399">
                <a:solidFill>
                  <a:srgbClr val="FFFFFF"/>
                </a:solidFill>
                <a:latin typeface="Shrikhand"/>
                <a:ea typeface="Shrikhand"/>
                <a:cs typeface="Shrikhand"/>
                <a:sym typeface="Shrikhand"/>
              </a:rPr>
              <a:t>Reg No:2020338042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998730" y="5462368"/>
            <a:ext cx="10628611" cy="3795932"/>
          </a:xfrm>
          <a:custGeom>
            <a:avLst/>
            <a:gdLst/>
            <a:ahLst/>
            <a:cxnLst/>
            <a:rect l="l" t="t" r="r" b="b"/>
            <a:pathLst>
              <a:path w="10628611" h="3795932">
                <a:moveTo>
                  <a:pt x="0" y="0"/>
                </a:moveTo>
                <a:lnTo>
                  <a:pt x="10628611" y="0"/>
                </a:lnTo>
                <a:lnTo>
                  <a:pt x="10628611" y="3795932"/>
                </a:lnTo>
                <a:lnTo>
                  <a:pt x="0" y="3795932"/>
                </a:lnTo>
                <a:lnTo>
                  <a:pt x="0" y="0"/>
                </a:lnTo>
                <a:close/>
              </a:path>
            </a:pathLst>
          </a:custGeom>
          <a:blipFill>
            <a:blip r:embed="rId2"/>
            <a:stretch>
              <a:fillRect/>
            </a:stretch>
          </a:blipFill>
        </p:spPr>
      </p:sp>
      <p:grpSp>
        <p:nvGrpSpPr>
          <p:cNvPr id="3" name="Group 3"/>
          <p:cNvGrpSpPr/>
          <p:nvPr/>
        </p:nvGrpSpPr>
        <p:grpSpPr>
          <a:xfrm>
            <a:off x="2360858" y="0"/>
            <a:ext cx="13324805" cy="1707326"/>
            <a:chOff x="0" y="0"/>
            <a:chExt cx="3509414" cy="449666"/>
          </a:xfrm>
        </p:grpSpPr>
        <p:sp>
          <p:nvSpPr>
            <p:cNvPr id="4" name="Freeform 4"/>
            <p:cNvSpPr/>
            <p:nvPr/>
          </p:nvSpPr>
          <p:spPr>
            <a:xfrm>
              <a:off x="0" y="0"/>
              <a:ext cx="3509414" cy="449666"/>
            </a:xfrm>
            <a:custGeom>
              <a:avLst/>
              <a:gdLst/>
              <a:ahLst/>
              <a:cxnLst/>
              <a:rect l="l" t="t" r="r" b="b"/>
              <a:pathLst>
                <a:path w="3509414" h="449666">
                  <a:moveTo>
                    <a:pt x="0" y="0"/>
                  </a:moveTo>
                  <a:lnTo>
                    <a:pt x="3509414" y="0"/>
                  </a:lnTo>
                  <a:lnTo>
                    <a:pt x="3509414" y="449666"/>
                  </a:lnTo>
                  <a:lnTo>
                    <a:pt x="0" y="449666"/>
                  </a:lnTo>
                  <a:close/>
                </a:path>
              </a:pathLst>
            </a:custGeom>
            <a:solidFill>
              <a:srgbClr val="10171D">
                <a:alpha val="60784"/>
              </a:srgbClr>
            </a:solidFill>
          </p:spPr>
        </p:sp>
        <p:sp>
          <p:nvSpPr>
            <p:cNvPr id="5" name="TextBox 5"/>
            <p:cNvSpPr txBox="1"/>
            <p:nvPr/>
          </p:nvSpPr>
          <p:spPr>
            <a:xfrm>
              <a:off x="0" y="-85725"/>
              <a:ext cx="3509414" cy="535391"/>
            </a:xfrm>
            <a:prstGeom prst="rect">
              <a:avLst/>
            </a:prstGeom>
          </p:spPr>
          <p:txBody>
            <a:bodyPr lIns="50800" tIns="50800" rIns="50800" bIns="50800" rtlCol="0" anchor="ctr"/>
            <a:lstStyle/>
            <a:p>
              <a:pPr algn="ctr">
                <a:lnSpc>
                  <a:spcPts val="2800"/>
                </a:lnSpc>
              </a:pPr>
              <a:endParaRPr/>
            </a:p>
          </p:txBody>
        </p:sp>
      </p:grpSp>
      <p:sp>
        <p:nvSpPr>
          <p:cNvPr id="6" name="Freeform 6"/>
          <p:cNvSpPr/>
          <p:nvPr/>
        </p:nvSpPr>
        <p:spPr>
          <a:xfrm>
            <a:off x="313923" y="6375042"/>
            <a:ext cx="2883258" cy="2883258"/>
          </a:xfrm>
          <a:custGeom>
            <a:avLst/>
            <a:gdLst/>
            <a:ahLst/>
            <a:cxnLst/>
            <a:rect l="l" t="t" r="r" b="b"/>
            <a:pathLst>
              <a:path w="2883258" h="2883258">
                <a:moveTo>
                  <a:pt x="0" y="0"/>
                </a:moveTo>
                <a:lnTo>
                  <a:pt x="2883257" y="0"/>
                </a:lnTo>
                <a:lnTo>
                  <a:pt x="2883257" y="2883258"/>
                </a:lnTo>
                <a:lnTo>
                  <a:pt x="0" y="28832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078181" y="6059375"/>
            <a:ext cx="2718680" cy="3198925"/>
          </a:xfrm>
          <a:custGeom>
            <a:avLst/>
            <a:gdLst/>
            <a:ahLst/>
            <a:cxnLst/>
            <a:rect l="l" t="t" r="r" b="b"/>
            <a:pathLst>
              <a:path w="2718680" h="3198925">
                <a:moveTo>
                  <a:pt x="0" y="0"/>
                </a:moveTo>
                <a:lnTo>
                  <a:pt x="2718679" y="0"/>
                </a:lnTo>
                <a:lnTo>
                  <a:pt x="2718679" y="3198925"/>
                </a:lnTo>
                <a:lnTo>
                  <a:pt x="0" y="3198925"/>
                </a:lnTo>
                <a:lnTo>
                  <a:pt x="0" y="0"/>
                </a:lnTo>
                <a:close/>
              </a:path>
            </a:pathLst>
          </a:custGeom>
          <a:blipFill>
            <a:blip r:embed="rId5"/>
            <a:stretch>
              <a:fillRect/>
            </a:stretch>
          </a:blipFill>
        </p:spPr>
      </p:sp>
      <p:sp>
        <p:nvSpPr>
          <p:cNvPr id="8" name="TextBox 8"/>
          <p:cNvSpPr txBox="1"/>
          <p:nvPr/>
        </p:nvSpPr>
        <p:spPr>
          <a:xfrm>
            <a:off x="3818969" y="235173"/>
            <a:ext cx="10650062" cy="1017905"/>
          </a:xfrm>
          <a:prstGeom prst="rect">
            <a:avLst/>
          </a:prstGeom>
        </p:spPr>
        <p:txBody>
          <a:bodyPr lIns="0" tIns="0" rIns="0" bIns="0" rtlCol="0" anchor="t">
            <a:spAutoFit/>
          </a:bodyPr>
          <a:lstStyle/>
          <a:p>
            <a:pPr algn="ctr">
              <a:lnSpc>
                <a:spcPts val="7419"/>
              </a:lnSpc>
            </a:pPr>
            <a:r>
              <a:rPr lang="en-US" sz="5299" b="1" i="1">
                <a:solidFill>
                  <a:srgbClr val="FFFFFF"/>
                </a:solidFill>
                <a:latin typeface="Times New Roman Bold Italics"/>
                <a:ea typeface="Times New Roman Bold Italics"/>
                <a:cs typeface="Times New Roman Bold Italics"/>
                <a:sym typeface="Times New Roman Bold Italics"/>
              </a:rPr>
              <a:t>What is synchronous sequential logic ?</a:t>
            </a:r>
          </a:p>
        </p:txBody>
      </p:sp>
      <p:sp>
        <p:nvSpPr>
          <p:cNvPr id="9" name="TextBox 9"/>
          <p:cNvSpPr txBox="1"/>
          <p:nvPr/>
        </p:nvSpPr>
        <p:spPr>
          <a:xfrm>
            <a:off x="1519840" y="1850201"/>
            <a:ext cx="16768160" cy="1309253"/>
          </a:xfrm>
          <a:prstGeom prst="rect">
            <a:avLst/>
          </a:prstGeom>
        </p:spPr>
        <p:txBody>
          <a:bodyPr lIns="0" tIns="0" rIns="0" bIns="0" rtlCol="0" anchor="t">
            <a:spAutoFit/>
          </a:bodyPr>
          <a:lstStyle/>
          <a:p>
            <a:pPr algn="ctr">
              <a:lnSpc>
                <a:spcPts val="5011"/>
              </a:lnSpc>
            </a:pPr>
            <a:r>
              <a:rPr lang="en-US" sz="3579" b="1">
                <a:solidFill>
                  <a:srgbClr val="000000"/>
                </a:solidFill>
                <a:latin typeface="Times New Roman Bold"/>
                <a:ea typeface="Times New Roman Bold"/>
                <a:cs typeface="Times New Roman Bold"/>
                <a:sym typeface="Times New Roman Bold"/>
              </a:rPr>
              <a:t>They are a type of digital circuit where changes in the output depend on both the current inputs and the previous state, controlled by a timing signal, usually a clock. </a:t>
            </a:r>
          </a:p>
        </p:txBody>
      </p:sp>
      <p:sp>
        <p:nvSpPr>
          <p:cNvPr id="10" name="TextBox 10"/>
          <p:cNvSpPr txBox="1"/>
          <p:nvPr/>
        </p:nvSpPr>
        <p:spPr>
          <a:xfrm>
            <a:off x="1028700" y="3412109"/>
            <a:ext cx="16768160" cy="1309243"/>
          </a:xfrm>
          <a:prstGeom prst="rect">
            <a:avLst/>
          </a:prstGeom>
        </p:spPr>
        <p:txBody>
          <a:bodyPr lIns="0" tIns="0" rIns="0" bIns="0" rtlCol="0" anchor="t">
            <a:spAutoFit/>
          </a:bodyPr>
          <a:lstStyle/>
          <a:p>
            <a:pPr algn="ctr">
              <a:lnSpc>
                <a:spcPts val="5011"/>
              </a:lnSpc>
            </a:pPr>
            <a:r>
              <a:rPr lang="en-US" sz="3579" b="1">
                <a:solidFill>
                  <a:srgbClr val="000000"/>
                </a:solidFill>
                <a:latin typeface="Times New Roman Bold"/>
                <a:ea typeface="Times New Roman Bold"/>
                <a:cs typeface="Times New Roman Bold"/>
                <a:sym typeface="Times New Roman Bold"/>
              </a:rPr>
              <a:t>They are different from Combinational Logic Circuits as they implement storage elements in their operation</a:t>
            </a:r>
          </a:p>
        </p:txBody>
      </p:sp>
      <p:sp>
        <p:nvSpPr>
          <p:cNvPr id="11" name="TextBox 11"/>
          <p:cNvSpPr txBox="1"/>
          <p:nvPr/>
        </p:nvSpPr>
        <p:spPr>
          <a:xfrm>
            <a:off x="7902814" y="9413835"/>
            <a:ext cx="2820442" cy="647065"/>
          </a:xfrm>
          <a:prstGeom prst="rect">
            <a:avLst/>
          </a:prstGeom>
        </p:spPr>
        <p:txBody>
          <a:bodyPr lIns="0" tIns="0" rIns="0" bIns="0" rtlCol="0" anchor="t">
            <a:spAutoFit/>
          </a:bodyPr>
          <a:lstStyle/>
          <a:p>
            <a:pPr algn="ctr">
              <a:lnSpc>
                <a:spcPts val="4759"/>
              </a:lnSpc>
            </a:pPr>
            <a:r>
              <a:rPr lang="en-US" sz="3399">
                <a:solidFill>
                  <a:srgbClr val="000000"/>
                </a:solidFill>
                <a:latin typeface="Times New Roman"/>
                <a:ea typeface="Times New Roman"/>
                <a:cs typeface="Times New Roman"/>
                <a:sym typeface="Times New Roman"/>
              </a:rPr>
              <a:t>Block Diagram</a:t>
            </a: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5427640" y="306678"/>
            <a:ext cx="6998058" cy="1830410"/>
            <a:chOff x="0" y="0"/>
            <a:chExt cx="1843110" cy="482083"/>
          </a:xfrm>
        </p:grpSpPr>
        <p:sp>
          <p:nvSpPr>
            <p:cNvPr id="3" name="Freeform 3"/>
            <p:cNvSpPr/>
            <p:nvPr/>
          </p:nvSpPr>
          <p:spPr>
            <a:xfrm>
              <a:off x="0" y="0"/>
              <a:ext cx="1843110" cy="482083"/>
            </a:xfrm>
            <a:custGeom>
              <a:avLst/>
              <a:gdLst/>
              <a:ahLst/>
              <a:cxnLst/>
              <a:rect l="l" t="t" r="r" b="b"/>
              <a:pathLst>
                <a:path w="1843110" h="482083">
                  <a:moveTo>
                    <a:pt x="0" y="0"/>
                  </a:moveTo>
                  <a:lnTo>
                    <a:pt x="1843110" y="0"/>
                  </a:lnTo>
                  <a:lnTo>
                    <a:pt x="1843110" y="482083"/>
                  </a:lnTo>
                  <a:lnTo>
                    <a:pt x="0" y="482083"/>
                  </a:lnTo>
                  <a:close/>
                </a:path>
              </a:pathLst>
            </a:custGeom>
            <a:solidFill>
              <a:srgbClr val="121212">
                <a:alpha val="57647"/>
              </a:srgbClr>
            </a:solidFill>
          </p:spPr>
        </p:sp>
        <p:sp>
          <p:nvSpPr>
            <p:cNvPr id="4" name="TextBox 4"/>
            <p:cNvSpPr txBox="1"/>
            <p:nvPr/>
          </p:nvSpPr>
          <p:spPr>
            <a:xfrm>
              <a:off x="0" y="-85725"/>
              <a:ext cx="1843110" cy="567808"/>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859665" y="299932"/>
            <a:ext cx="1974419" cy="1992533"/>
          </a:xfrm>
          <a:custGeom>
            <a:avLst/>
            <a:gdLst/>
            <a:ahLst/>
            <a:cxnLst/>
            <a:rect l="l" t="t" r="r" b="b"/>
            <a:pathLst>
              <a:path w="1974419" h="1992533">
                <a:moveTo>
                  <a:pt x="0" y="0"/>
                </a:moveTo>
                <a:lnTo>
                  <a:pt x="1974419" y="0"/>
                </a:lnTo>
                <a:lnTo>
                  <a:pt x="1974419" y="1992532"/>
                </a:lnTo>
                <a:lnTo>
                  <a:pt x="0" y="19925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a:off x="15016498" y="306678"/>
            <a:ext cx="2189597" cy="1992533"/>
          </a:xfrm>
          <a:custGeom>
            <a:avLst/>
            <a:gdLst/>
            <a:ahLst/>
            <a:cxnLst/>
            <a:rect l="l" t="t" r="r" b="b"/>
            <a:pathLst>
              <a:path w="2189597" h="1992533">
                <a:moveTo>
                  <a:pt x="0" y="0"/>
                </a:moveTo>
                <a:lnTo>
                  <a:pt x="2189596" y="0"/>
                </a:lnTo>
                <a:lnTo>
                  <a:pt x="2189596" y="1992533"/>
                </a:lnTo>
                <a:lnTo>
                  <a:pt x="0" y="1992533"/>
                </a:lnTo>
                <a:lnTo>
                  <a:pt x="0" y="0"/>
                </a:lnTo>
                <a:close/>
              </a:path>
            </a:pathLst>
          </a:custGeom>
          <a:blipFill>
            <a:blip r:embed="rId4"/>
            <a:stretch>
              <a:fillRect/>
            </a:stretch>
          </a:blipFill>
        </p:spPr>
      </p:sp>
      <p:sp>
        <p:nvSpPr>
          <p:cNvPr id="7" name="Freeform 7"/>
          <p:cNvSpPr/>
          <p:nvPr/>
        </p:nvSpPr>
        <p:spPr>
          <a:xfrm>
            <a:off x="7040957" y="7227831"/>
            <a:ext cx="2103043" cy="1279949"/>
          </a:xfrm>
          <a:custGeom>
            <a:avLst/>
            <a:gdLst/>
            <a:ahLst/>
            <a:cxnLst/>
            <a:rect l="l" t="t" r="r" b="b"/>
            <a:pathLst>
              <a:path w="2103043" h="1279949">
                <a:moveTo>
                  <a:pt x="0" y="0"/>
                </a:moveTo>
                <a:lnTo>
                  <a:pt x="2103043" y="0"/>
                </a:lnTo>
                <a:lnTo>
                  <a:pt x="2103043" y="1279949"/>
                </a:lnTo>
                <a:lnTo>
                  <a:pt x="0" y="12799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8" name="Group 8"/>
          <p:cNvGrpSpPr/>
          <p:nvPr/>
        </p:nvGrpSpPr>
        <p:grpSpPr>
          <a:xfrm>
            <a:off x="1495278" y="4826361"/>
            <a:ext cx="4674300" cy="1235495"/>
            <a:chOff x="0" y="0"/>
            <a:chExt cx="1231091" cy="325398"/>
          </a:xfrm>
        </p:grpSpPr>
        <p:sp>
          <p:nvSpPr>
            <p:cNvPr id="9" name="Freeform 9"/>
            <p:cNvSpPr/>
            <p:nvPr/>
          </p:nvSpPr>
          <p:spPr>
            <a:xfrm>
              <a:off x="0" y="0"/>
              <a:ext cx="1231091" cy="325398"/>
            </a:xfrm>
            <a:custGeom>
              <a:avLst/>
              <a:gdLst/>
              <a:ahLst/>
              <a:cxnLst/>
              <a:rect l="l" t="t" r="r" b="b"/>
              <a:pathLst>
                <a:path w="1231091" h="325398">
                  <a:moveTo>
                    <a:pt x="0" y="0"/>
                  </a:moveTo>
                  <a:lnTo>
                    <a:pt x="1231091" y="0"/>
                  </a:lnTo>
                  <a:lnTo>
                    <a:pt x="1231091" y="325398"/>
                  </a:lnTo>
                  <a:lnTo>
                    <a:pt x="0" y="325398"/>
                  </a:lnTo>
                  <a:close/>
                </a:path>
              </a:pathLst>
            </a:custGeom>
            <a:solidFill>
              <a:srgbClr val="646464"/>
            </a:solidFill>
          </p:spPr>
        </p:sp>
        <p:sp>
          <p:nvSpPr>
            <p:cNvPr id="10" name="TextBox 10"/>
            <p:cNvSpPr txBox="1"/>
            <p:nvPr/>
          </p:nvSpPr>
          <p:spPr>
            <a:xfrm>
              <a:off x="0" y="-85725"/>
              <a:ext cx="1231091" cy="411123"/>
            </a:xfrm>
            <a:prstGeom prst="rect">
              <a:avLst/>
            </a:prstGeom>
          </p:spPr>
          <p:txBody>
            <a:bodyPr lIns="50800" tIns="50800" rIns="50800" bIns="50800" rtlCol="0" anchor="ctr"/>
            <a:lstStyle/>
            <a:p>
              <a:pPr algn="ctr">
                <a:lnSpc>
                  <a:spcPts val="2800"/>
                </a:lnSpc>
              </a:pPr>
              <a:endParaRPr/>
            </a:p>
          </p:txBody>
        </p:sp>
      </p:grpSp>
      <p:sp>
        <p:nvSpPr>
          <p:cNvPr id="11" name="TextBox 11"/>
          <p:cNvSpPr txBox="1"/>
          <p:nvPr/>
        </p:nvSpPr>
        <p:spPr>
          <a:xfrm>
            <a:off x="6597807" y="625936"/>
            <a:ext cx="4657725" cy="991870"/>
          </a:xfrm>
          <a:prstGeom prst="rect">
            <a:avLst/>
          </a:prstGeom>
        </p:spPr>
        <p:txBody>
          <a:bodyPr lIns="0" tIns="0" rIns="0" bIns="0" rtlCol="0" anchor="t">
            <a:spAutoFit/>
          </a:bodyPr>
          <a:lstStyle/>
          <a:p>
            <a:pPr algn="ctr">
              <a:lnSpc>
                <a:spcPts val="7279"/>
              </a:lnSpc>
            </a:pPr>
            <a:r>
              <a:rPr lang="en-US" sz="5199" b="1" i="1">
                <a:solidFill>
                  <a:srgbClr val="FEFEFE"/>
                </a:solidFill>
                <a:latin typeface="Times New Roman Bold Italics"/>
                <a:ea typeface="Times New Roman Bold Italics"/>
                <a:cs typeface="Times New Roman Bold Italics"/>
                <a:sym typeface="Times New Roman Bold Italics"/>
              </a:rPr>
              <a:t>Key Components</a:t>
            </a:r>
          </a:p>
        </p:txBody>
      </p:sp>
      <p:sp>
        <p:nvSpPr>
          <p:cNvPr id="12" name="TextBox 12"/>
          <p:cNvSpPr txBox="1"/>
          <p:nvPr/>
        </p:nvSpPr>
        <p:spPr>
          <a:xfrm>
            <a:off x="1753257" y="2866371"/>
            <a:ext cx="15738951" cy="755650"/>
          </a:xfrm>
          <a:prstGeom prst="rect">
            <a:avLst/>
          </a:prstGeom>
        </p:spPr>
        <p:txBody>
          <a:bodyPr lIns="0" tIns="0" rIns="0" bIns="0" rtlCol="0" anchor="t">
            <a:spAutoFit/>
          </a:bodyPr>
          <a:lstStyle/>
          <a:p>
            <a:pPr algn="ctr">
              <a:lnSpc>
                <a:spcPts val="5599"/>
              </a:lnSpc>
            </a:pPr>
            <a:r>
              <a:rPr lang="en-US" sz="3999" b="1">
                <a:solidFill>
                  <a:srgbClr val="000000"/>
                </a:solidFill>
                <a:latin typeface="Times New Roman Bold"/>
                <a:ea typeface="Times New Roman Bold"/>
                <a:cs typeface="Times New Roman Bold"/>
                <a:sym typeface="Times New Roman Bold"/>
              </a:rPr>
              <a:t>Variety of components that make up for the design of the sequential circuit </a:t>
            </a:r>
          </a:p>
        </p:txBody>
      </p:sp>
      <p:sp>
        <p:nvSpPr>
          <p:cNvPr id="13" name="TextBox 13"/>
          <p:cNvSpPr txBox="1"/>
          <p:nvPr/>
        </p:nvSpPr>
        <p:spPr>
          <a:xfrm>
            <a:off x="1944373" y="3844983"/>
            <a:ext cx="5859939" cy="755650"/>
          </a:xfrm>
          <a:prstGeom prst="rect">
            <a:avLst/>
          </a:prstGeom>
        </p:spPr>
        <p:txBody>
          <a:bodyPr lIns="0" tIns="0" rIns="0" bIns="0" rtlCol="0" anchor="t">
            <a:spAutoFit/>
          </a:bodyPr>
          <a:lstStyle/>
          <a:p>
            <a:pPr algn="ctr">
              <a:lnSpc>
                <a:spcPts val="5599"/>
              </a:lnSpc>
            </a:pPr>
            <a:r>
              <a:rPr lang="en-US" sz="3999" b="1">
                <a:solidFill>
                  <a:srgbClr val="000000"/>
                </a:solidFill>
                <a:latin typeface="Times New Roman Bold"/>
                <a:ea typeface="Times New Roman Bold"/>
                <a:cs typeface="Times New Roman Bold"/>
                <a:sym typeface="Times New Roman Bold"/>
              </a:rPr>
              <a:t>They generally can include :</a:t>
            </a:r>
          </a:p>
        </p:txBody>
      </p:sp>
      <p:sp>
        <p:nvSpPr>
          <p:cNvPr id="14" name="TextBox 14"/>
          <p:cNvSpPr txBox="1"/>
          <p:nvPr/>
        </p:nvSpPr>
        <p:spPr>
          <a:xfrm>
            <a:off x="1220368" y="4919000"/>
            <a:ext cx="4949210" cy="1424940"/>
          </a:xfrm>
          <a:prstGeom prst="rect">
            <a:avLst/>
          </a:prstGeom>
        </p:spPr>
        <p:txBody>
          <a:bodyPr lIns="0" tIns="0" rIns="0" bIns="0" rtlCol="0" anchor="t">
            <a:spAutoFit/>
          </a:bodyPr>
          <a:lstStyle/>
          <a:p>
            <a:pPr algn="ctr">
              <a:lnSpc>
                <a:spcPts val="5459"/>
              </a:lnSpc>
            </a:pPr>
            <a:r>
              <a:rPr lang="en-US" sz="3899" b="1" i="1">
                <a:solidFill>
                  <a:srgbClr val="FEFEFE"/>
                </a:solidFill>
                <a:latin typeface="Times New Roman Bold Italics"/>
                <a:ea typeface="Times New Roman Bold Italics"/>
                <a:cs typeface="Times New Roman Bold Italics"/>
                <a:sym typeface="Times New Roman Bold Italics"/>
              </a:rPr>
              <a:t>Triggering Method</a:t>
            </a:r>
          </a:p>
          <a:p>
            <a:pPr algn="ctr">
              <a:lnSpc>
                <a:spcPts val="5459"/>
              </a:lnSpc>
            </a:pPr>
            <a:endParaRPr lang="en-US" sz="3899" b="1" i="1">
              <a:solidFill>
                <a:srgbClr val="FEFEFE"/>
              </a:solidFill>
              <a:latin typeface="Times New Roman Bold Italics"/>
              <a:ea typeface="Times New Roman Bold Italics"/>
              <a:cs typeface="Times New Roman Bold Italics"/>
              <a:sym typeface="Times New Roman Bold Italics"/>
            </a:endParaRPr>
          </a:p>
        </p:txBody>
      </p:sp>
      <p:sp>
        <p:nvSpPr>
          <p:cNvPr id="15" name="TextBox 15"/>
          <p:cNvSpPr txBox="1"/>
          <p:nvPr/>
        </p:nvSpPr>
        <p:spPr>
          <a:xfrm>
            <a:off x="1220368" y="6138056"/>
            <a:ext cx="4827905" cy="835660"/>
          </a:xfrm>
          <a:prstGeom prst="rect">
            <a:avLst/>
          </a:prstGeom>
        </p:spPr>
        <p:txBody>
          <a:bodyPr lIns="0" tIns="0" rIns="0" bIns="0" rtlCol="0" anchor="t">
            <a:spAutoFit/>
          </a:bodyPr>
          <a:lstStyle/>
          <a:p>
            <a:pPr marL="863596" lvl="1" indent="-431798" algn="ctr">
              <a:lnSpc>
                <a:spcPts val="5599"/>
              </a:lnSpc>
              <a:buFont typeface="Arial"/>
              <a:buChar char="•"/>
            </a:pPr>
            <a:r>
              <a:rPr lang="en-US" sz="3999" b="1" i="1">
                <a:solidFill>
                  <a:srgbClr val="000000"/>
                </a:solidFill>
                <a:latin typeface="Times New Roman Bold Italics"/>
                <a:ea typeface="Times New Roman Bold Italics"/>
                <a:cs typeface="Times New Roman Bold Italics"/>
                <a:sym typeface="Times New Roman Bold Italics"/>
              </a:rPr>
              <a:t>Time/Clock Signal</a:t>
            </a:r>
          </a:p>
        </p:txBody>
      </p:sp>
      <p:grpSp>
        <p:nvGrpSpPr>
          <p:cNvPr id="16" name="Group 16"/>
          <p:cNvGrpSpPr/>
          <p:nvPr/>
        </p:nvGrpSpPr>
        <p:grpSpPr>
          <a:xfrm>
            <a:off x="10501235" y="4826361"/>
            <a:ext cx="4674300" cy="1235495"/>
            <a:chOff x="0" y="0"/>
            <a:chExt cx="1231091" cy="325398"/>
          </a:xfrm>
        </p:grpSpPr>
        <p:sp>
          <p:nvSpPr>
            <p:cNvPr id="17" name="Freeform 17"/>
            <p:cNvSpPr/>
            <p:nvPr/>
          </p:nvSpPr>
          <p:spPr>
            <a:xfrm>
              <a:off x="0" y="0"/>
              <a:ext cx="1231091" cy="325398"/>
            </a:xfrm>
            <a:custGeom>
              <a:avLst/>
              <a:gdLst/>
              <a:ahLst/>
              <a:cxnLst/>
              <a:rect l="l" t="t" r="r" b="b"/>
              <a:pathLst>
                <a:path w="1231091" h="325398">
                  <a:moveTo>
                    <a:pt x="0" y="0"/>
                  </a:moveTo>
                  <a:lnTo>
                    <a:pt x="1231091" y="0"/>
                  </a:lnTo>
                  <a:lnTo>
                    <a:pt x="1231091" y="325398"/>
                  </a:lnTo>
                  <a:lnTo>
                    <a:pt x="0" y="325398"/>
                  </a:lnTo>
                  <a:close/>
                </a:path>
              </a:pathLst>
            </a:custGeom>
            <a:solidFill>
              <a:srgbClr val="646464"/>
            </a:solidFill>
          </p:spPr>
        </p:sp>
        <p:sp>
          <p:nvSpPr>
            <p:cNvPr id="18" name="TextBox 18"/>
            <p:cNvSpPr txBox="1"/>
            <p:nvPr/>
          </p:nvSpPr>
          <p:spPr>
            <a:xfrm>
              <a:off x="0" y="-85725"/>
              <a:ext cx="1231091" cy="411123"/>
            </a:xfrm>
            <a:prstGeom prst="rect">
              <a:avLst/>
            </a:prstGeom>
          </p:spPr>
          <p:txBody>
            <a:bodyPr lIns="50800" tIns="50800" rIns="50800" bIns="50800" rtlCol="0" anchor="ctr"/>
            <a:lstStyle/>
            <a:p>
              <a:pPr algn="ctr">
                <a:lnSpc>
                  <a:spcPts val="2800"/>
                </a:lnSpc>
              </a:pPr>
              <a:endParaRPr/>
            </a:p>
          </p:txBody>
        </p:sp>
      </p:grpSp>
      <p:sp>
        <p:nvSpPr>
          <p:cNvPr id="19" name="TextBox 19"/>
          <p:cNvSpPr txBox="1"/>
          <p:nvPr/>
        </p:nvSpPr>
        <p:spPr>
          <a:xfrm>
            <a:off x="10363781" y="4991100"/>
            <a:ext cx="4949210" cy="1424940"/>
          </a:xfrm>
          <a:prstGeom prst="rect">
            <a:avLst/>
          </a:prstGeom>
        </p:spPr>
        <p:txBody>
          <a:bodyPr lIns="0" tIns="0" rIns="0" bIns="0" rtlCol="0" anchor="t">
            <a:spAutoFit/>
          </a:bodyPr>
          <a:lstStyle/>
          <a:p>
            <a:pPr algn="ctr">
              <a:lnSpc>
                <a:spcPts val="5459"/>
              </a:lnSpc>
            </a:pPr>
            <a:r>
              <a:rPr lang="en-US" sz="3899" b="1" i="1">
                <a:solidFill>
                  <a:srgbClr val="FEFEFE"/>
                </a:solidFill>
                <a:latin typeface="Times New Roman Bold Italics"/>
                <a:ea typeface="Times New Roman Bold Italics"/>
                <a:cs typeface="Times New Roman Bold Italics"/>
                <a:sym typeface="Times New Roman Bold Italics"/>
              </a:rPr>
              <a:t>Storage Elements</a:t>
            </a:r>
          </a:p>
          <a:p>
            <a:pPr algn="ctr">
              <a:lnSpc>
                <a:spcPts val="5459"/>
              </a:lnSpc>
            </a:pPr>
            <a:endParaRPr lang="en-US" sz="3899" b="1" i="1">
              <a:solidFill>
                <a:srgbClr val="FEFEFE"/>
              </a:solidFill>
              <a:latin typeface="Times New Roman Bold Italics"/>
              <a:ea typeface="Times New Roman Bold Italics"/>
              <a:cs typeface="Times New Roman Bold Italics"/>
              <a:sym typeface="Times New Roman Bold Italics"/>
            </a:endParaRPr>
          </a:p>
        </p:txBody>
      </p:sp>
      <p:sp>
        <p:nvSpPr>
          <p:cNvPr id="20" name="TextBox 20"/>
          <p:cNvSpPr txBox="1"/>
          <p:nvPr/>
        </p:nvSpPr>
        <p:spPr>
          <a:xfrm>
            <a:off x="10411473" y="6147581"/>
            <a:ext cx="4901518" cy="3102774"/>
          </a:xfrm>
          <a:prstGeom prst="rect">
            <a:avLst/>
          </a:prstGeom>
        </p:spPr>
        <p:txBody>
          <a:bodyPr lIns="0" tIns="0" rIns="0" bIns="0" rtlCol="0" anchor="t">
            <a:spAutoFit/>
          </a:bodyPr>
          <a:lstStyle/>
          <a:p>
            <a:pPr marL="748859" lvl="1" indent="-374430" algn="ctr">
              <a:lnSpc>
                <a:spcPts val="4855"/>
              </a:lnSpc>
              <a:buFont typeface="Arial"/>
              <a:buChar char="•"/>
            </a:pPr>
            <a:r>
              <a:rPr lang="en-US" sz="3468" b="1" i="1">
                <a:solidFill>
                  <a:srgbClr val="000000"/>
                </a:solidFill>
                <a:latin typeface="Times New Roman Bold Italics"/>
                <a:ea typeface="Times New Roman Bold Italics"/>
                <a:cs typeface="Times New Roman Bold Italics"/>
                <a:sym typeface="Times New Roman Bold Italics"/>
              </a:rPr>
              <a:t>Latch</a:t>
            </a:r>
          </a:p>
          <a:p>
            <a:pPr marL="748859" lvl="1" indent="-374430" algn="ctr">
              <a:lnSpc>
                <a:spcPts val="4855"/>
              </a:lnSpc>
              <a:buFont typeface="Arial"/>
              <a:buChar char="•"/>
            </a:pPr>
            <a:r>
              <a:rPr lang="en-US" sz="3468" b="1" i="1">
                <a:solidFill>
                  <a:srgbClr val="000000"/>
                </a:solidFill>
                <a:latin typeface="Times New Roman Bold Italics"/>
                <a:ea typeface="Times New Roman Bold Italics"/>
                <a:cs typeface="Times New Roman Bold Italics"/>
                <a:sym typeface="Times New Roman Bold Italics"/>
              </a:rPr>
              <a:t>Flip-Flops</a:t>
            </a:r>
          </a:p>
          <a:p>
            <a:pPr marL="748859" lvl="1" indent="-374430" algn="ctr">
              <a:lnSpc>
                <a:spcPts val="4855"/>
              </a:lnSpc>
              <a:buFont typeface="Arial"/>
              <a:buChar char="•"/>
            </a:pPr>
            <a:r>
              <a:rPr lang="en-US" sz="3468" b="1" i="1">
                <a:solidFill>
                  <a:srgbClr val="000000"/>
                </a:solidFill>
                <a:latin typeface="Times New Roman Bold Italics"/>
                <a:ea typeface="Times New Roman Bold Italics"/>
                <a:cs typeface="Times New Roman Bold Italics"/>
                <a:sym typeface="Times New Roman Bold Italics"/>
              </a:rPr>
              <a:t>Counters</a:t>
            </a:r>
          </a:p>
          <a:p>
            <a:pPr marL="748859" lvl="1" indent="-374430" algn="ctr">
              <a:lnSpc>
                <a:spcPts val="4855"/>
              </a:lnSpc>
              <a:buFont typeface="Arial"/>
              <a:buChar char="•"/>
            </a:pPr>
            <a:r>
              <a:rPr lang="en-US" sz="3468" b="1" i="1">
                <a:solidFill>
                  <a:srgbClr val="000000"/>
                </a:solidFill>
                <a:latin typeface="Times New Roman Bold Italics"/>
                <a:ea typeface="Times New Roman Bold Italics"/>
                <a:cs typeface="Times New Roman Bold Italics"/>
                <a:sym typeface="Times New Roman Bold Italics"/>
              </a:rPr>
              <a:t>Registers </a:t>
            </a:r>
          </a:p>
          <a:p>
            <a:pPr marL="748859" lvl="1" indent="-374430" algn="ctr">
              <a:lnSpc>
                <a:spcPts val="4855"/>
              </a:lnSpc>
              <a:buFont typeface="Arial"/>
              <a:buChar char="•"/>
            </a:pPr>
            <a:r>
              <a:rPr lang="en-US" sz="3468" b="1" i="1">
                <a:solidFill>
                  <a:srgbClr val="000000"/>
                </a:solidFill>
                <a:latin typeface="Times New Roman Bold Italics"/>
                <a:ea typeface="Times New Roman Bold Italics"/>
                <a:cs typeface="Times New Roman Bold Italics"/>
                <a:sym typeface="Times New Roman Bold Italics"/>
              </a:rPr>
              <a:t>State machines</a:t>
            </a:r>
          </a:p>
        </p:txBody>
      </p:sp>
      <p:sp>
        <p:nvSpPr>
          <p:cNvPr id="21" name="Freeform 21"/>
          <p:cNvSpPr/>
          <p:nvPr/>
        </p:nvSpPr>
        <p:spPr>
          <a:xfrm>
            <a:off x="15078181" y="6059375"/>
            <a:ext cx="2718680" cy="3198925"/>
          </a:xfrm>
          <a:custGeom>
            <a:avLst/>
            <a:gdLst/>
            <a:ahLst/>
            <a:cxnLst/>
            <a:rect l="l" t="t" r="r" b="b"/>
            <a:pathLst>
              <a:path w="2718680" h="3198925">
                <a:moveTo>
                  <a:pt x="0" y="0"/>
                </a:moveTo>
                <a:lnTo>
                  <a:pt x="2718679" y="0"/>
                </a:lnTo>
                <a:lnTo>
                  <a:pt x="2718679" y="3198925"/>
                </a:lnTo>
                <a:lnTo>
                  <a:pt x="0" y="3198925"/>
                </a:lnTo>
                <a:lnTo>
                  <a:pt x="0" y="0"/>
                </a:lnTo>
                <a:close/>
              </a:path>
            </a:pathLst>
          </a:custGeom>
          <a:blipFill>
            <a:blip r:embed="rId7"/>
            <a:stretch>
              <a:fillRect/>
            </a:stretch>
          </a:blipFill>
        </p:spPr>
      </p:sp>
    </p:spTree>
  </p:cSld>
  <p:clrMapOvr>
    <a:masterClrMapping/>
  </p:clrMapOvr>
  <p:transition spd="slow">
    <p:push dir="r"/>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345260" y="0"/>
            <a:ext cx="4414234" cy="1516487"/>
            <a:chOff x="0" y="0"/>
            <a:chExt cx="1162597" cy="399404"/>
          </a:xfrm>
        </p:grpSpPr>
        <p:sp>
          <p:nvSpPr>
            <p:cNvPr id="3" name="Freeform 3"/>
            <p:cNvSpPr/>
            <p:nvPr/>
          </p:nvSpPr>
          <p:spPr>
            <a:xfrm>
              <a:off x="0" y="0"/>
              <a:ext cx="1162597" cy="399404"/>
            </a:xfrm>
            <a:custGeom>
              <a:avLst/>
              <a:gdLst/>
              <a:ahLst/>
              <a:cxnLst/>
              <a:rect l="l" t="t" r="r" b="b"/>
              <a:pathLst>
                <a:path w="1162597" h="399404">
                  <a:moveTo>
                    <a:pt x="0" y="0"/>
                  </a:moveTo>
                  <a:lnTo>
                    <a:pt x="1162597" y="0"/>
                  </a:lnTo>
                  <a:lnTo>
                    <a:pt x="1162597" y="399404"/>
                  </a:lnTo>
                  <a:lnTo>
                    <a:pt x="0" y="399404"/>
                  </a:lnTo>
                  <a:close/>
                </a:path>
              </a:pathLst>
            </a:custGeom>
            <a:solidFill>
              <a:srgbClr val="646464"/>
            </a:solidFill>
          </p:spPr>
        </p:sp>
        <p:sp>
          <p:nvSpPr>
            <p:cNvPr id="4" name="TextBox 4"/>
            <p:cNvSpPr txBox="1"/>
            <p:nvPr/>
          </p:nvSpPr>
          <p:spPr>
            <a:xfrm>
              <a:off x="0" y="-85725"/>
              <a:ext cx="1162597" cy="485129"/>
            </a:xfrm>
            <a:prstGeom prst="rect">
              <a:avLst/>
            </a:prstGeom>
          </p:spPr>
          <p:txBody>
            <a:bodyPr lIns="50800" tIns="50800" rIns="50800" bIns="50800" rtlCol="0" anchor="ctr"/>
            <a:lstStyle/>
            <a:p>
              <a:pPr algn="ctr">
                <a:lnSpc>
                  <a:spcPts val="2800"/>
                </a:lnSpc>
              </a:pPr>
              <a:endParaRPr/>
            </a:p>
          </p:txBody>
        </p:sp>
      </p:grpSp>
      <p:sp>
        <p:nvSpPr>
          <p:cNvPr id="5" name="Freeform 5"/>
          <p:cNvSpPr/>
          <p:nvPr/>
        </p:nvSpPr>
        <p:spPr>
          <a:xfrm>
            <a:off x="3085236" y="1709670"/>
            <a:ext cx="11682866" cy="4569834"/>
          </a:xfrm>
          <a:custGeom>
            <a:avLst/>
            <a:gdLst/>
            <a:ahLst/>
            <a:cxnLst/>
            <a:rect l="l" t="t" r="r" b="b"/>
            <a:pathLst>
              <a:path w="11682866" h="4569834">
                <a:moveTo>
                  <a:pt x="0" y="0"/>
                </a:moveTo>
                <a:lnTo>
                  <a:pt x="11682866" y="0"/>
                </a:lnTo>
                <a:lnTo>
                  <a:pt x="11682866" y="4569834"/>
                </a:lnTo>
                <a:lnTo>
                  <a:pt x="0" y="4569834"/>
                </a:lnTo>
                <a:lnTo>
                  <a:pt x="0" y="0"/>
                </a:lnTo>
                <a:close/>
              </a:path>
            </a:pathLst>
          </a:custGeom>
          <a:blipFill>
            <a:blip r:embed="rId2"/>
            <a:stretch>
              <a:fillRect t="-4227" r="-2893" b="-1953"/>
            </a:stretch>
          </a:blipFill>
        </p:spPr>
      </p:sp>
      <p:sp>
        <p:nvSpPr>
          <p:cNvPr id="6" name="TextBox 6"/>
          <p:cNvSpPr txBox="1"/>
          <p:nvPr/>
        </p:nvSpPr>
        <p:spPr>
          <a:xfrm>
            <a:off x="6777314" y="162296"/>
            <a:ext cx="3550126" cy="991870"/>
          </a:xfrm>
          <a:prstGeom prst="rect">
            <a:avLst/>
          </a:prstGeom>
        </p:spPr>
        <p:txBody>
          <a:bodyPr lIns="0" tIns="0" rIns="0" bIns="0" rtlCol="0" anchor="t">
            <a:spAutoFit/>
          </a:bodyPr>
          <a:lstStyle/>
          <a:p>
            <a:pPr algn="ctr">
              <a:lnSpc>
                <a:spcPts val="7279"/>
              </a:lnSpc>
            </a:pPr>
            <a:r>
              <a:rPr lang="en-US" sz="5199" b="1" i="1">
                <a:solidFill>
                  <a:srgbClr val="FEFEFE"/>
                </a:solidFill>
                <a:latin typeface="Times New Roman Bold Italics"/>
                <a:ea typeface="Times New Roman Bold Italics"/>
                <a:cs typeface="Times New Roman Bold Italics"/>
                <a:sym typeface="Times New Roman Bold Italics"/>
              </a:rPr>
              <a:t>Clock Signal</a:t>
            </a:r>
          </a:p>
        </p:txBody>
      </p:sp>
      <p:sp>
        <p:nvSpPr>
          <p:cNvPr id="7" name="TextBox 7"/>
          <p:cNvSpPr txBox="1"/>
          <p:nvPr/>
        </p:nvSpPr>
        <p:spPr>
          <a:xfrm>
            <a:off x="247719" y="6412854"/>
            <a:ext cx="17357899" cy="3602641"/>
          </a:xfrm>
          <a:prstGeom prst="rect">
            <a:avLst/>
          </a:prstGeom>
        </p:spPr>
        <p:txBody>
          <a:bodyPr lIns="0" tIns="0" rIns="0" bIns="0" rtlCol="0" anchor="t">
            <a:spAutoFit/>
          </a:bodyPr>
          <a:lstStyle/>
          <a:p>
            <a:pPr algn="l">
              <a:lnSpc>
                <a:spcPts val="2099"/>
              </a:lnSpc>
            </a:pPr>
            <a:endParaRPr/>
          </a:p>
          <a:p>
            <a:pPr algn="l">
              <a:lnSpc>
                <a:spcPts val="2099"/>
              </a:lnSpc>
            </a:pPr>
            <a:r>
              <a:rPr lang="en-US" sz="1499">
                <a:solidFill>
                  <a:srgbClr val="000000"/>
                </a:solidFill>
                <a:latin typeface="Times New Roman"/>
                <a:ea typeface="Times New Roman"/>
                <a:cs typeface="Times New Roman"/>
                <a:sym typeface="Times New Roman"/>
              </a:rPr>
              <a:t>T</a:t>
            </a:r>
          </a:p>
          <a:p>
            <a:pPr marL="610456" lvl="1" indent="-305228" algn="ctr">
              <a:lnSpc>
                <a:spcPts val="3958"/>
              </a:lnSpc>
              <a:buFont typeface="Arial"/>
              <a:buChar char="•"/>
            </a:pPr>
            <a:r>
              <a:rPr lang="en-US" sz="2827" b="1" i="1">
                <a:solidFill>
                  <a:srgbClr val="000000"/>
                </a:solidFill>
                <a:latin typeface="Times New Roman Bold Italics"/>
                <a:ea typeface="Times New Roman Bold Italics"/>
                <a:cs typeface="Times New Roman Bold Italics"/>
                <a:sym typeface="Times New Roman Bold Italics"/>
              </a:rPr>
              <a:t>A type of periodic waveform, </a:t>
            </a:r>
            <a:r>
              <a:rPr lang="en-US" sz="2827" b="1" i="1">
                <a:solidFill>
                  <a:srgbClr val="FF3131"/>
                </a:solidFill>
                <a:latin typeface="Times New Roman Bold Italics"/>
                <a:ea typeface="Times New Roman Bold Italics"/>
                <a:cs typeface="Times New Roman Bold Italics"/>
                <a:sym typeface="Times New Roman Bold Italics"/>
              </a:rPr>
              <a:t>usually a square wave, able to synchronize the operation</a:t>
            </a:r>
            <a:r>
              <a:rPr lang="en-US" sz="2827" b="1" i="1">
                <a:solidFill>
                  <a:srgbClr val="000000"/>
                </a:solidFill>
                <a:latin typeface="Times New Roman Bold Italics"/>
                <a:ea typeface="Times New Roman Bold Italics"/>
                <a:cs typeface="Times New Roman Bold Italics"/>
                <a:sym typeface="Times New Roman Bold Italics"/>
              </a:rPr>
              <a:t> of various components within a system. The clock signal alternates between high (1) and low (0) voltage levels,establishing a rhythm that dictates when certain operations, such as data transfer or computation</a:t>
            </a:r>
          </a:p>
          <a:p>
            <a:pPr algn="ctr">
              <a:lnSpc>
                <a:spcPts val="3958"/>
              </a:lnSpc>
            </a:pPr>
            <a:endParaRPr lang="en-US" sz="2827" b="1" i="1">
              <a:solidFill>
                <a:srgbClr val="000000"/>
              </a:solidFill>
              <a:latin typeface="Times New Roman Bold Italics"/>
              <a:ea typeface="Times New Roman Bold Italics"/>
              <a:cs typeface="Times New Roman Bold Italics"/>
              <a:sym typeface="Times New Roman Bold Italics"/>
            </a:endParaRPr>
          </a:p>
          <a:p>
            <a:pPr marL="610456" lvl="1" indent="-305228" algn="ctr">
              <a:lnSpc>
                <a:spcPts val="3958"/>
              </a:lnSpc>
              <a:buFont typeface="Arial"/>
              <a:buChar char="•"/>
            </a:pPr>
            <a:r>
              <a:rPr lang="en-US" sz="2827" b="1" i="1">
                <a:solidFill>
                  <a:srgbClr val="000000"/>
                </a:solidFill>
                <a:latin typeface="Times New Roman Bold Italics"/>
                <a:ea typeface="Times New Roman Bold Italics"/>
                <a:cs typeface="Times New Roman Bold Italics"/>
                <a:sym typeface="Times New Roman Bold Italics"/>
              </a:rPr>
              <a:t>The signal includes the information of its own frequency,duty cycle,propagation delay and triggering(Positive/Negative)</a:t>
            </a:r>
          </a:p>
        </p:txBody>
      </p:sp>
      <p:sp>
        <p:nvSpPr>
          <p:cNvPr id="8" name="Freeform 8"/>
          <p:cNvSpPr/>
          <p:nvPr/>
        </p:nvSpPr>
        <p:spPr>
          <a:xfrm>
            <a:off x="859665" y="299932"/>
            <a:ext cx="1974419" cy="1992533"/>
          </a:xfrm>
          <a:custGeom>
            <a:avLst/>
            <a:gdLst/>
            <a:ahLst/>
            <a:cxnLst/>
            <a:rect l="l" t="t" r="r" b="b"/>
            <a:pathLst>
              <a:path w="1974419" h="1992533">
                <a:moveTo>
                  <a:pt x="0" y="0"/>
                </a:moveTo>
                <a:lnTo>
                  <a:pt x="1974419" y="0"/>
                </a:lnTo>
                <a:lnTo>
                  <a:pt x="1974419" y="1992532"/>
                </a:lnTo>
                <a:lnTo>
                  <a:pt x="0" y="19925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0" y="6743971"/>
            <a:ext cx="2883258" cy="2883258"/>
          </a:xfrm>
          <a:custGeom>
            <a:avLst/>
            <a:gdLst/>
            <a:ahLst/>
            <a:cxnLst/>
            <a:rect l="l" t="t" r="r" b="b"/>
            <a:pathLst>
              <a:path w="2883258" h="2883258">
                <a:moveTo>
                  <a:pt x="0" y="0"/>
                </a:moveTo>
                <a:lnTo>
                  <a:pt x="2883258" y="0"/>
                </a:lnTo>
                <a:lnTo>
                  <a:pt x="2883258" y="2883257"/>
                </a:lnTo>
                <a:lnTo>
                  <a:pt x="0" y="28832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211412" y="306678"/>
            <a:ext cx="5022301" cy="1830410"/>
            <a:chOff x="0" y="0"/>
            <a:chExt cx="1322746" cy="482083"/>
          </a:xfrm>
        </p:grpSpPr>
        <p:sp>
          <p:nvSpPr>
            <p:cNvPr id="3" name="Freeform 3"/>
            <p:cNvSpPr/>
            <p:nvPr/>
          </p:nvSpPr>
          <p:spPr>
            <a:xfrm>
              <a:off x="0" y="0"/>
              <a:ext cx="1322746" cy="482083"/>
            </a:xfrm>
            <a:custGeom>
              <a:avLst/>
              <a:gdLst/>
              <a:ahLst/>
              <a:cxnLst/>
              <a:rect l="l" t="t" r="r" b="b"/>
              <a:pathLst>
                <a:path w="1322746" h="482083">
                  <a:moveTo>
                    <a:pt x="0" y="0"/>
                  </a:moveTo>
                  <a:lnTo>
                    <a:pt x="1322746" y="0"/>
                  </a:lnTo>
                  <a:lnTo>
                    <a:pt x="1322746" y="482083"/>
                  </a:lnTo>
                  <a:lnTo>
                    <a:pt x="0" y="482083"/>
                  </a:lnTo>
                  <a:close/>
                </a:path>
              </a:pathLst>
            </a:custGeom>
            <a:solidFill>
              <a:srgbClr val="121212">
                <a:alpha val="57647"/>
              </a:srgbClr>
            </a:solidFill>
          </p:spPr>
        </p:sp>
        <p:sp>
          <p:nvSpPr>
            <p:cNvPr id="4" name="TextBox 4"/>
            <p:cNvSpPr txBox="1"/>
            <p:nvPr/>
          </p:nvSpPr>
          <p:spPr>
            <a:xfrm>
              <a:off x="0" y="-85725"/>
              <a:ext cx="1322746" cy="567808"/>
            </a:xfrm>
            <a:prstGeom prst="rect">
              <a:avLst/>
            </a:prstGeom>
          </p:spPr>
          <p:txBody>
            <a:bodyPr lIns="50800" tIns="50800" rIns="50800" bIns="50800" rtlCol="0" anchor="ctr"/>
            <a:lstStyle/>
            <a:p>
              <a:pPr algn="ctr">
                <a:lnSpc>
                  <a:spcPts val="2800"/>
                </a:lnSpc>
              </a:pPr>
              <a:endParaRPr/>
            </a:p>
          </p:txBody>
        </p:sp>
      </p:grpSp>
      <p:sp>
        <p:nvSpPr>
          <p:cNvPr id="5" name="TextBox 5"/>
          <p:cNvSpPr txBox="1"/>
          <p:nvPr/>
        </p:nvSpPr>
        <p:spPr>
          <a:xfrm>
            <a:off x="416065" y="3222938"/>
            <a:ext cx="17455871" cy="4974241"/>
          </a:xfrm>
          <a:prstGeom prst="rect">
            <a:avLst/>
          </a:prstGeom>
        </p:spPr>
        <p:txBody>
          <a:bodyPr lIns="0" tIns="0" rIns="0" bIns="0" rtlCol="0" anchor="t">
            <a:spAutoFit/>
          </a:bodyPr>
          <a:lstStyle/>
          <a:p>
            <a:pPr algn="just">
              <a:lnSpc>
                <a:spcPts val="2099"/>
              </a:lnSpc>
            </a:pPr>
            <a:endParaRPr/>
          </a:p>
          <a:p>
            <a:pPr algn="just">
              <a:lnSpc>
                <a:spcPts val="2099"/>
              </a:lnSpc>
            </a:pPr>
            <a:endParaRPr/>
          </a:p>
          <a:p>
            <a:pPr algn="just">
              <a:lnSpc>
                <a:spcPts val="3958"/>
              </a:lnSpc>
            </a:pPr>
            <a:r>
              <a:rPr lang="en-US" sz="2827" b="1" i="1">
                <a:solidFill>
                  <a:srgbClr val="004AAD"/>
                </a:solidFill>
                <a:latin typeface="Times New Roman Bold Italics"/>
                <a:ea typeface="Times New Roman Bold Italics"/>
                <a:cs typeface="Times New Roman Bold Italics"/>
                <a:sym typeface="Times New Roman Bold Italics"/>
              </a:rPr>
              <a:t>Latches: What Are They? </a:t>
            </a:r>
          </a:p>
          <a:p>
            <a:pPr algn="just">
              <a:lnSpc>
                <a:spcPts val="3958"/>
              </a:lnSpc>
            </a:pPr>
            <a:r>
              <a:rPr lang="en-US" sz="2827" b="1" i="1">
                <a:solidFill>
                  <a:srgbClr val="000000"/>
                </a:solidFill>
                <a:latin typeface="Times New Roman Bold Italics"/>
                <a:ea typeface="Times New Roman Bold Italics"/>
                <a:cs typeface="Times New Roman Bold Italics"/>
                <a:sym typeface="Times New Roman Bold Italics"/>
              </a:rPr>
              <a:t>Digital circuits called </a:t>
            </a:r>
            <a:r>
              <a:rPr lang="en-US" sz="2827" b="1" i="1">
                <a:solidFill>
                  <a:srgbClr val="FF3131"/>
                </a:solidFill>
                <a:latin typeface="Times New Roman Bold Italics"/>
                <a:ea typeface="Times New Roman Bold Italics"/>
                <a:cs typeface="Times New Roman Bold Italics"/>
                <a:sym typeface="Times New Roman Bold Italics"/>
              </a:rPr>
              <a:t>latches may store a single bit of data and maintain its value until fresh input signals refresh it.</a:t>
            </a:r>
            <a:r>
              <a:rPr lang="en-US" sz="2827" b="1" i="1">
                <a:solidFill>
                  <a:srgbClr val="000000"/>
                </a:solidFill>
                <a:latin typeface="Times New Roman Bold Italics"/>
                <a:ea typeface="Times New Roman Bold Italics"/>
                <a:cs typeface="Times New Roman Bold Italics"/>
                <a:sym typeface="Times New Roman Bold Italics"/>
              </a:rPr>
              <a:t> They serve as short-term storage components for binary data in digital systems. Several digital logic gates, including AND, OR, NOT, NAND, and NOR gates, can be used to build latches.</a:t>
            </a:r>
          </a:p>
          <a:p>
            <a:pPr algn="just">
              <a:lnSpc>
                <a:spcPts val="3958"/>
              </a:lnSpc>
            </a:pPr>
            <a:endParaRPr lang="en-US" sz="2827" b="1" i="1">
              <a:solidFill>
                <a:srgbClr val="000000"/>
              </a:solidFill>
              <a:latin typeface="Times New Roman Bold Italics"/>
              <a:ea typeface="Times New Roman Bold Italics"/>
              <a:cs typeface="Times New Roman Bold Italics"/>
              <a:sym typeface="Times New Roman Bold Italics"/>
            </a:endParaRPr>
          </a:p>
          <a:p>
            <a:pPr algn="just">
              <a:lnSpc>
                <a:spcPts val="3958"/>
              </a:lnSpc>
            </a:pPr>
            <a:endParaRPr lang="en-US" sz="2827" b="1" i="1">
              <a:solidFill>
                <a:srgbClr val="000000"/>
              </a:solidFill>
              <a:latin typeface="Times New Roman Bold Italics"/>
              <a:ea typeface="Times New Roman Bold Italics"/>
              <a:cs typeface="Times New Roman Bold Italics"/>
              <a:sym typeface="Times New Roman Bold Italics"/>
            </a:endParaRPr>
          </a:p>
          <a:p>
            <a:pPr algn="just">
              <a:lnSpc>
                <a:spcPts val="3958"/>
              </a:lnSpc>
            </a:pPr>
            <a:r>
              <a:rPr lang="en-US" sz="2827" b="1" i="1">
                <a:solidFill>
                  <a:srgbClr val="000000"/>
                </a:solidFill>
                <a:latin typeface="Times New Roman Bold Italics"/>
                <a:ea typeface="Times New Roman Bold Italics"/>
                <a:cs typeface="Times New Roman Bold Italics"/>
                <a:sym typeface="Times New Roman Bold Italics"/>
              </a:rPr>
              <a:t>In digital systems, latches are frequently utilized for a variety of purposes, such as flip-flop circuits, control circuits, and data storage. State machines and memory components are examples of sequential circuits that are frequently implemented using them in conjunction with other digital circuits. .</a:t>
            </a:r>
          </a:p>
        </p:txBody>
      </p:sp>
      <p:sp>
        <p:nvSpPr>
          <p:cNvPr id="6" name="Freeform 6"/>
          <p:cNvSpPr/>
          <p:nvPr/>
        </p:nvSpPr>
        <p:spPr>
          <a:xfrm>
            <a:off x="14715723" y="306678"/>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rot="-2593333">
            <a:off x="14808581" y="6807581"/>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7877994" y="625936"/>
            <a:ext cx="1610023" cy="991870"/>
          </a:xfrm>
          <a:prstGeom prst="rect">
            <a:avLst/>
          </a:prstGeom>
        </p:spPr>
        <p:txBody>
          <a:bodyPr lIns="0" tIns="0" rIns="0" bIns="0" rtlCol="0" anchor="t">
            <a:spAutoFit/>
          </a:bodyPr>
          <a:lstStyle/>
          <a:p>
            <a:pPr algn="ctr">
              <a:lnSpc>
                <a:spcPts val="7279"/>
              </a:lnSpc>
            </a:pPr>
            <a:r>
              <a:rPr lang="en-US" sz="5199" b="1" i="1">
                <a:solidFill>
                  <a:srgbClr val="FEFEFE"/>
                </a:solidFill>
                <a:latin typeface="Times New Roman Bold Italics"/>
                <a:ea typeface="Times New Roman Bold Italics"/>
                <a:cs typeface="Times New Roman Bold Italics"/>
                <a:sym typeface="Times New Roman Bold Italics"/>
              </a:rPr>
              <a:t>Latch</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931165" y="6430154"/>
            <a:ext cx="4660503" cy="3328931"/>
          </a:xfrm>
          <a:custGeom>
            <a:avLst/>
            <a:gdLst/>
            <a:ahLst/>
            <a:cxnLst/>
            <a:rect l="l" t="t" r="r" b="b"/>
            <a:pathLst>
              <a:path w="4660503" h="3328931">
                <a:moveTo>
                  <a:pt x="0" y="0"/>
                </a:moveTo>
                <a:lnTo>
                  <a:pt x="4660503" y="0"/>
                </a:lnTo>
                <a:lnTo>
                  <a:pt x="4660503" y="3328931"/>
                </a:lnTo>
                <a:lnTo>
                  <a:pt x="0" y="3328931"/>
                </a:lnTo>
                <a:lnTo>
                  <a:pt x="0" y="0"/>
                </a:lnTo>
                <a:close/>
              </a:path>
            </a:pathLst>
          </a:custGeom>
          <a:blipFill>
            <a:blip r:embed="rId2"/>
            <a:stretch>
              <a:fillRect/>
            </a:stretch>
          </a:blipFill>
        </p:spPr>
      </p:sp>
      <p:sp>
        <p:nvSpPr>
          <p:cNvPr id="3" name="TextBox 3"/>
          <p:cNvSpPr txBox="1"/>
          <p:nvPr/>
        </p:nvSpPr>
        <p:spPr>
          <a:xfrm>
            <a:off x="521791" y="121104"/>
            <a:ext cx="8623776" cy="5308049"/>
          </a:xfrm>
          <a:prstGeom prst="rect">
            <a:avLst/>
          </a:prstGeom>
        </p:spPr>
        <p:txBody>
          <a:bodyPr lIns="0" tIns="0" rIns="0" bIns="0" rtlCol="0" anchor="t">
            <a:spAutoFit/>
          </a:bodyPr>
          <a:lstStyle/>
          <a:p>
            <a:pPr algn="l">
              <a:lnSpc>
                <a:spcPts val="4588"/>
              </a:lnSpc>
            </a:pPr>
            <a:r>
              <a:rPr lang="en-US" sz="3277" b="1" i="1" u="sng">
                <a:solidFill>
                  <a:srgbClr val="004AAD"/>
                </a:solidFill>
                <a:latin typeface="Times New Roman Bold Italics"/>
                <a:ea typeface="Times New Roman Bold Italics"/>
                <a:cs typeface="Times New Roman Bold Italics"/>
                <a:sym typeface="Times New Roman Bold Italics"/>
              </a:rPr>
              <a:t>Types of Latches in Digital Electronics:</a:t>
            </a:r>
          </a:p>
          <a:p>
            <a:pPr algn="l">
              <a:lnSpc>
                <a:spcPts val="4588"/>
              </a:lnSpc>
            </a:pPr>
            <a:r>
              <a:rPr lang="en-US" sz="3277" b="1" i="1">
                <a:solidFill>
                  <a:srgbClr val="000000"/>
                </a:solidFill>
                <a:latin typeface="Times New Roman Bold Italics"/>
                <a:ea typeface="Times New Roman Bold Italics"/>
                <a:cs typeface="Times New Roman Bold Italics"/>
                <a:sym typeface="Times New Roman Bold Italics"/>
              </a:rPr>
              <a:t>In digital electronics different types of latches are:</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SR Latches</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Gated SR Latches</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D Latches</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Gated D Latches</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JK Latches</a:t>
            </a:r>
          </a:p>
          <a:p>
            <a:pPr marL="707581" lvl="1" indent="-353791" algn="l">
              <a:lnSpc>
                <a:spcPts val="4916"/>
              </a:lnSpc>
              <a:buFont typeface="Arial"/>
              <a:buChar char="•"/>
            </a:pPr>
            <a:r>
              <a:rPr lang="en-US" sz="3277" b="1" i="1" spc="-117">
                <a:solidFill>
                  <a:srgbClr val="000000"/>
                </a:solidFill>
                <a:latin typeface="Times New Roman Bold Italics"/>
                <a:ea typeface="Times New Roman Bold Italics"/>
                <a:cs typeface="Times New Roman Bold Italics"/>
                <a:sym typeface="Times New Roman Bold Italics"/>
              </a:rPr>
              <a:t>T Laches</a:t>
            </a:r>
          </a:p>
        </p:txBody>
      </p:sp>
      <p:sp>
        <p:nvSpPr>
          <p:cNvPr id="4" name="TextBox 4"/>
          <p:cNvSpPr txBox="1"/>
          <p:nvPr/>
        </p:nvSpPr>
        <p:spPr>
          <a:xfrm>
            <a:off x="359322" y="5444218"/>
            <a:ext cx="12137939" cy="1166484"/>
          </a:xfrm>
          <a:prstGeom prst="rect">
            <a:avLst/>
          </a:prstGeom>
        </p:spPr>
        <p:txBody>
          <a:bodyPr lIns="0" tIns="0" rIns="0" bIns="0" rtlCol="0" anchor="t">
            <a:spAutoFit/>
          </a:bodyPr>
          <a:lstStyle/>
          <a:p>
            <a:pPr algn="ctr">
              <a:lnSpc>
                <a:spcPts val="4480"/>
              </a:lnSpc>
              <a:spcBef>
                <a:spcPct val="0"/>
              </a:spcBef>
            </a:pPr>
            <a:r>
              <a:rPr lang="en-US" sz="3200" b="1" i="1" u="sng">
                <a:solidFill>
                  <a:srgbClr val="000000"/>
                </a:solidFill>
                <a:latin typeface="Times New Roman Bold Italics"/>
                <a:ea typeface="Times New Roman Bold Italics"/>
                <a:cs typeface="Times New Roman Bold Italics"/>
                <a:sym typeface="Times New Roman Bold Italics"/>
              </a:rPr>
              <a:t>The below logic diagram represents the SR latch using NAND gate:</a:t>
            </a:r>
          </a:p>
          <a:p>
            <a:pPr algn="ctr">
              <a:lnSpc>
                <a:spcPts val="4480"/>
              </a:lnSpc>
              <a:spcBef>
                <a:spcPct val="0"/>
              </a:spcBef>
            </a:pPr>
            <a:endParaRPr lang="en-US" sz="3200" b="1" i="1" u="sng">
              <a:solidFill>
                <a:srgbClr val="000000"/>
              </a:solidFill>
              <a:latin typeface="Times New Roman Bold Italics"/>
              <a:ea typeface="Times New Roman Bold Italics"/>
              <a:cs typeface="Times New Roman Bold Italics"/>
              <a:sym typeface="Times New Roman Bold Italics"/>
            </a:endParaRPr>
          </a:p>
        </p:txBody>
      </p:sp>
      <p:sp>
        <p:nvSpPr>
          <p:cNvPr id="5" name="TextBox 5"/>
          <p:cNvSpPr txBox="1"/>
          <p:nvPr/>
        </p:nvSpPr>
        <p:spPr>
          <a:xfrm>
            <a:off x="6416212" y="6832814"/>
            <a:ext cx="8982670" cy="2417147"/>
          </a:xfrm>
          <a:prstGeom prst="rect">
            <a:avLst/>
          </a:prstGeom>
        </p:spPr>
        <p:txBody>
          <a:bodyPr lIns="0" tIns="0" rIns="0" bIns="0" rtlCol="0" anchor="t">
            <a:spAutoFit/>
          </a:bodyPr>
          <a:lstStyle/>
          <a:p>
            <a:pPr algn="l">
              <a:lnSpc>
                <a:spcPts val="3796"/>
              </a:lnSpc>
              <a:spcBef>
                <a:spcPct val="0"/>
              </a:spcBef>
            </a:pPr>
            <a:r>
              <a:rPr lang="en-US" sz="2711" b="1" i="1">
                <a:solidFill>
                  <a:srgbClr val="000000"/>
                </a:solidFill>
                <a:latin typeface="Times New Roman Bold Italics"/>
                <a:ea typeface="Times New Roman Bold Italics"/>
                <a:cs typeface="Times New Roman Bold Italics"/>
                <a:sym typeface="Times New Roman Bold Italics"/>
              </a:rPr>
              <a:t>Logic Diagram of SR Latch</a:t>
            </a:r>
          </a:p>
          <a:p>
            <a:pPr algn="l">
              <a:lnSpc>
                <a:spcPts val="3796"/>
              </a:lnSpc>
              <a:spcBef>
                <a:spcPct val="0"/>
              </a:spcBef>
            </a:pPr>
            <a:r>
              <a:rPr lang="en-US" sz="2711" b="1" i="1">
                <a:solidFill>
                  <a:srgbClr val="000000"/>
                </a:solidFill>
                <a:latin typeface="Times New Roman Bold Italics"/>
                <a:ea typeface="Times New Roman Bold Italics"/>
                <a:cs typeface="Times New Roman Bold Italics"/>
                <a:sym typeface="Times New Roman Bold Italics"/>
              </a:rPr>
              <a:t>SR Latch is a logic circuit with: </a:t>
            </a:r>
          </a:p>
          <a:p>
            <a:pPr marL="585461" lvl="1" indent="-292730" algn="l">
              <a:lnSpc>
                <a:spcPts val="3796"/>
              </a:lnSpc>
              <a:buFont typeface="Arial"/>
              <a:buChar char="•"/>
            </a:pPr>
            <a:r>
              <a:rPr lang="en-US" sz="2711" b="1" i="1">
                <a:solidFill>
                  <a:srgbClr val="000000"/>
                </a:solidFill>
                <a:latin typeface="Times New Roman Bold Italics"/>
                <a:ea typeface="Times New Roman Bold Italics"/>
                <a:cs typeface="Times New Roman Bold Italics"/>
                <a:sym typeface="Times New Roman Bold Italics"/>
              </a:rPr>
              <a:t>2 cross-coupled NOR gate or 2 cross-coupled NAND gate. </a:t>
            </a:r>
          </a:p>
          <a:p>
            <a:pPr marL="585461" lvl="1" indent="-292730" algn="l">
              <a:lnSpc>
                <a:spcPts val="3796"/>
              </a:lnSpc>
              <a:buFont typeface="Arial"/>
              <a:buChar char="•"/>
            </a:pPr>
            <a:r>
              <a:rPr lang="en-US" sz="2711" b="1" i="1">
                <a:solidFill>
                  <a:srgbClr val="000000"/>
                </a:solidFill>
                <a:latin typeface="Times New Roman Bold Italics"/>
                <a:ea typeface="Times New Roman Bold Italics"/>
                <a:cs typeface="Times New Roman Bold Italics"/>
                <a:sym typeface="Times New Roman Bold Italics"/>
              </a:rPr>
              <a:t>2 input S for SET and R for RESET</a:t>
            </a:r>
          </a:p>
          <a:p>
            <a:pPr marL="585461" lvl="1" indent="-292730" algn="l">
              <a:lnSpc>
                <a:spcPts val="3796"/>
              </a:lnSpc>
              <a:buFont typeface="Arial"/>
              <a:buChar char="•"/>
            </a:pPr>
            <a:r>
              <a:rPr lang="en-US" sz="2711" b="1" i="1">
                <a:solidFill>
                  <a:srgbClr val="000000"/>
                </a:solidFill>
                <a:latin typeface="Times New Roman Bold Italics"/>
                <a:ea typeface="Times New Roman Bold Italics"/>
                <a:cs typeface="Times New Roman Bold Italics"/>
                <a:sym typeface="Times New Roman Bold Italics"/>
              </a:rPr>
              <a:t>2 output Q, Q’.</a:t>
            </a:r>
          </a:p>
        </p:txBody>
      </p:sp>
      <p:sp>
        <p:nvSpPr>
          <p:cNvPr id="6" name="Freeform 6"/>
          <p:cNvSpPr/>
          <p:nvPr/>
        </p:nvSpPr>
        <p:spPr>
          <a:xfrm>
            <a:off x="14235859" y="1784509"/>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5223069" y="6719187"/>
            <a:ext cx="2718680" cy="3198925"/>
          </a:xfrm>
          <a:custGeom>
            <a:avLst/>
            <a:gdLst/>
            <a:ahLst/>
            <a:cxnLst/>
            <a:rect l="l" t="t" r="r" b="b"/>
            <a:pathLst>
              <a:path w="2718680" h="3198925">
                <a:moveTo>
                  <a:pt x="0" y="0"/>
                </a:moveTo>
                <a:lnTo>
                  <a:pt x="2718679" y="0"/>
                </a:lnTo>
                <a:lnTo>
                  <a:pt x="2718679" y="3198925"/>
                </a:lnTo>
                <a:lnTo>
                  <a:pt x="0" y="3198925"/>
                </a:lnTo>
                <a:lnTo>
                  <a:pt x="0" y="0"/>
                </a:lnTo>
                <a:close/>
              </a:path>
            </a:pathLst>
          </a:custGeom>
          <a:blipFill>
            <a:blip r:embed="rId5"/>
            <a:stretch>
              <a:fillRect/>
            </a:stretch>
          </a:blipFill>
        </p:spPr>
      </p:sp>
    </p:spTree>
  </p:cSld>
  <p:clrMapOvr>
    <a:masterClrMapping/>
  </p:clrMapOvr>
  <p:transition spd="slow">
    <p:push dir="d"/>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214687" y="2784687"/>
            <a:ext cx="7858626" cy="4717626"/>
          </a:xfrm>
          <a:custGeom>
            <a:avLst/>
            <a:gdLst/>
            <a:ahLst/>
            <a:cxnLst/>
            <a:rect l="l" t="t" r="r" b="b"/>
            <a:pathLst>
              <a:path w="7858626" h="4717626">
                <a:moveTo>
                  <a:pt x="0" y="0"/>
                </a:moveTo>
                <a:lnTo>
                  <a:pt x="7858626" y="0"/>
                </a:lnTo>
                <a:lnTo>
                  <a:pt x="7858626" y="4717626"/>
                </a:lnTo>
                <a:lnTo>
                  <a:pt x="0" y="4717626"/>
                </a:lnTo>
                <a:lnTo>
                  <a:pt x="0" y="0"/>
                </a:lnTo>
                <a:close/>
              </a:path>
            </a:pathLst>
          </a:custGeom>
          <a:blipFill>
            <a:blip r:embed="rId2"/>
            <a:stretch>
              <a:fillRect t="-8453" b="-8453"/>
            </a:stretch>
          </a:blipFill>
        </p:spPr>
      </p:sp>
      <p:sp>
        <p:nvSpPr>
          <p:cNvPr id="3" name="TextBox 3"/>
          <p:cNvSpPr txBox="1"/>
          <p:nvPr/>
        </p:nvSpPr>
        <p:spPr>
          <a:xfrm>
            <a:off x="17259300" y="9172575"/>
            <a:ext cx="152400" cy="2381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7</a:t>
            </a:r>
          </a:p>
        </p:txBody>
      </p:sp>
      <p:sp>
        <p:nvSpPr>
          <p:cNvPr id="4" name="TextBox 4"/>
          <p:cNvSpPr txBox="1"/>
          <p:nvPr/>
        </p:nvSpPr>
        <p:spPr>
          <a:xfrm>
            <a:off x="425765" y="410250"/>
            <a:ext cx="9821227" cy="1273974"/>
          </a:xfrm>
          <a:prstGeom prst="rect">
            <a:avLst/>
          </a:prstGeom>
        </p:spPr>
        <p:txBody>
          <a:bodyPr lIns="0" tIns="0" rIns="0" bIns="0" rtlCol="0" anchor="t">
            <a:spAutoFit/>
          </a:bodyPr>
          <a:lstStyle/>
          <a:p>
            <a:pPr algn="l">
              <a:lnSpc>
                <a:spcPts val="4855"/>
              </a:lnSpc>
              <a:spcBef>
                <a:spcPct val="0"/>
              </a:spcBef>
            </a:pPr>
            <a:r>
              <a:rPr lang="en-US" sz="3468" b="1" i="1" u="sng">
                <a:solidFill>
                  <a:srgbClr val="004AAD"/>
                </a:solidFill>
                <a:latin typeface="Times New Roman Bold Italics"/>
                <a:ea typeface="Times New Roman Bold Italics"/>
                <a:cs typeface="Times New Roman Bold Italics"/>
                <a:sym typeface="Times New Roman Bold Italics"/>
              </a:rPr>
              <a:t>Truth Table of SR Latch:</a:t>
            </a:r>
          </a:p>
          <a:p>
            <a:pPr algn="l">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The below table represents the truth table of SR latch.</a:t>
            </a:r>
          </a:p>
        </p:txBody>
      </p:sp>
      <p:sp>
        <p:nvSpPr>
          <p:cNvPr id="5" name="Freeform 5"/>
          <p:cNvSpPr/>
          <p:nvPr/>
        </p:nvSpPr>
        <p:spPr>
          <a:xfrm>
            <a:off x="14715723" y="306678"/>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rot="-2593333">
            <a:off x="9410117" y="6807581"/>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transition spd="slow">
    <p:cover dir="rd"/>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172575"/>
            <a:ext cx="152400" cy="2381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8</a:t>
            </a:r>
          </a:p>
        </p:txBody>
      </p:sp>
      <p:sp>
        <p:nvSpPr>
          <p:cNvPr id="3" name="Freeform 3"/>
          <p:cNvSpPr/>
          <p:nvPr/>
        </p:nvSpPr>
        <p:spPr>
          <a:xfrm>
            <a:off x="15223069" y="6719187"/>
            <a:ext cx="2718680" cy="3198925"/>
          </a:xfrm>
          <a:custGeom>
            <a:avLst/>
            <a:gdLst/>
            <a:ahLst/>
            <a:cxnLst/>
            <a:rect l="l" t="t" r="r" b="b"/>
            <a:pathLst>
              <a:path w="2718680" h="3198925">
                <a:moveTo>
                  <a:pt x="0" y="0"/>
                </a:moveTo>
                <a:lnTo>
                  <a:pt x="2718679" y="0"/>
                </a:lnTo>
                <a:lnTo>
                  <a:pt x="2718679" y="3198925"/>
                </a:lnTo>
                <a:lnTo>
                  <a:pt x="0" y="3198925"/>
                </a:lnTo>
                <a:lnTo>
                  <a:pt x="0" y="0"/>
                </a:lnTo>
                <a:close/>
              </a:path>
            </a:pathLst>
          </a:custGeom>
          <a:blipFill>
            <a:blip r:embed="rId2"/>
            <a:stretch>
              <a:fillRect/>
            </a:stretch>
          </a:blipFill>
        </p:spPr>
      </p:sp>
      <p:sp>
        <p:nvSpPr>
          <p:cNvPr id="4" name="Freeform 4"/>
          <p:cNvSpPr/>
          <p:nvPr/>
        </p:nvSpPr>
        <p:spPr>
          <a:xfrm>
            <a:off x="3110642" y="2731901"/>
            <a:ext cx="4694195" cy="2414861"/>
          </a:xfrm>
          <a:custGeom>
            <a:avLst/>
            <a:gdLst/>
            <a:ahLst/>
            <a:cxnLst/>
            <a:rect l="l" t="t" r="r" b="b"/>
            <a:pathLst>
              <a:path w="4694195" h="2414861">
                <a:moveTo>
                  <a:pt x="0" y="0"/>
                </a:moveTo>
                <a:lnTo>
                  <a:pt x="4694195" y="0"/>
                </a:lnTo>
                <a:lnTo>
                  <a:pt x="4694195" y="2414861"/>
                </a:lnTo>
                <a:lnTo>
                  <a:pt x="0" y="2414861"/>
                </a:lnTo>
                <a:lnTo>
                  <a:pt x="0" y="0"/>
                </a:lnTo>
                <a:close/>
              </a:path>
            </a:pathLst>
          </a:custGeom>
          <a:blipFill>
            <a:blip r:embed="rId3"/>
            <a:stretch>
              <a:fillRect/>
            </a:stretch>
          </a:blipFill>
        </p:spPr>
      </p:sp>
      <p:sp>
        <p:nvSpPr>
          <p:cNvPr id="5" name="Freeform 5"/>
          <p:cNvSpPr/>
          <p:nvPr/>
        </p:nvSpPr>
        <p:spPr>
          <a:xfrm>
            <a:off x="3110642" y="6590947"/>
            <a:ext cx="7683112" cy="3152046"/>
          </a:xfrm>
          <a:custGeom>
            <a:avLst/>
            <a:gdLst/>
            <a:ahLst/>
            <a:cxnLst/>
            <a:rect l="l" t="t" r="r" b="b"/>
            <a:pathLst>
              <a:path w="7683112" h="3152046">
                <a:moveTo>
                  <a:pt x="0" y="0"/>
                </a:moveTo>
                <a:lnTo>
                  <a:pt x="7683112" y="0"/>
                </a:lnTo>
                <a:lnTo>
                  <a:pt x="7683112" y="3152046"/>
                </a:lnTo>
                <a:lnTo>
                  <a:pt x="0" y="3152046"/>
                </a:lnTo>
                <a:lnTo>
                  <a:pt x="0" y="0"/>
                </a:lnTo>
                <a:close/>
              </a:path>
            </a:pathLst>
          </a:custGeom>
          <a:blipFill>
            <a:blip r:embed="rId4"/>
            <a:stretch>
              <a:fillRect/>
            </a:stretch>
          </a:blipFill>
        </p:spPr>
      </p:sp>
      <p:sp>
        <p:nvSpPr>
          <p:cNvPr id="6" name="TextBox 6"/>
          <p:cNvSpPr txBox="1"/>
          <p:nvPr/>
        </p:nvSpPr>
        <p:spPr>
          <a:xfrm>
            <a:off x="123645" y="165686"/>
            <a:ext cx="18164355" cy="2806786"/>
          </a:xfrm>
          <a:prstGeom prst="rect">
            <a:avLst/>
          </a:prstGeom>
        </p:spPr>
        <p:txBody>
          <a:bodyPr lIns="0" tIns="0" rIns="0" bIns="0" rtlCol="0" anchor="t">
            <a:spAutoFit/>
          </a:bodyPr>
          <a:lstStyle/>
          <a:p>
            <a:pPr algn="l">
              <a:lnSpc>
                <a:spcPts val="4370"/>
              </a:lnSpc>
            </a:pPr>
            <a:r>
              <a:rPr lang="en-US" sz="3121" b="1" i="1" u="sng">
                <a:solidFill>
                  <a:srgbClr val="004AAD"/>
                </a:solidFill>
                <a:latin typeface="Times New Roman Bold Italics"/>
                <a:ea typeface="Times New Roman Bold Italics"/>
                <a:cs typeface="Times New Roman Bold Italics"/>
                <a:sym typeface="Times New Roman Bold Italics"/>
              </a:rPr>
              <a:t>Gated SR Latch:</a:t>
            </a:r>
          </a:p>
          <a:p>
            <a:pPr algn="l">
              <a:lnSpc>
                <a:spcPts val="4370"/>
              </a:lnSpc>
            </a:pPr>
            <a:r>
              <a:rPr lang="en-US" sz="3121" b="1" i="1">
                <a:solidFill>
                  <a:srgbClr val="000000"/>
                </a:solidFill>
                <a:latin typeface="Times New Roman Bold Italics"/>
                <a:ea typeface="Times New Roman Bold Italics"/>
                <a:cs typeface="Times New Roman Bold Italics"/>
                <a:sym typeface="Times New Roman Bold Italics"/>
              </a:rPr>
              <a:t>A Gated SR latch is a SR latch with enable input which works when enable is 1 and retain the previous state when enable is 0. </a:t>
            </a:r>
          </a:p>
          <a:p>
            <a:pPr algn="l">
              <a:lnSpc>
                <a:spcPts val="4370"/>
              </a:lnSpc>
            </a:pPr>
            <a:r>
              <a:rPr lang="en-US" sz="3121" b="1" i="1" u="sng">
                <a:solidFill>
                  <a:srgbClr val="000000"/>
                </a:solidFill>
                <a:latin typeface="Times New Roman Bold Italics"/>
                <a:ea typeface="Times New Roman Bold Italics"/>
                <a:cs typeface="Times New Roman Bold Italics"/>
                <a:sym typeface="Times New Roman Bold Italics"/>
              </a:rPr>
              <a:t>Truth Table of Gated SR Latch:</a:t>
            </a:r>
          </a:p>
          <a:p>
            <a:pPr algn="l">
              <a:lnSpc>
                <a:spcPts val="4370"/>
              </a:lnSpc>
            </a:pPr>
            <a:endParaRPr lang="en-US" sz="3121" b="1" i="1" u="sng">
              <a:solidFill>
                <a:srgbClr val="000000"/>
              </a:solidFill>
              <a:latin typeface="Times New Roman Bold Italics"/>
              <a:ea typeface="Times New Roman Bold Italics"/>
              <a:cs typeface="Times New Roman Bold Italics"/>
              <a:sym typeface="Times New Roman Bold Italics"/>
            </a:endParaRPr>
          </a:p>
        </p:txBody>
      </p:sp>
      <p:sp>
        <p:nvSpPr>
          <p:cNvPr id="7" name="TextBox 7"/>
          <p:cNvSpPr txBox="1"/>
          <p:nvPr/>
        </p:nvSpPr>
        <p:spPr>
          <a:xfrm>
            <a:off x="123708" y="5508712"/>
            <a:ext cx="5973869" cy="596460"/>
          </a:xfrm>
          <a:prstGeom prst="rect">
            <a:avLst/>
          </a:prstGeom>
        </p:spPr>
        <p:txBody>
          <a:bodyPr lIns="0" tIns="0" rIns="0" bIns="0" rtlCol="0" anchor="t">
            <a:spAutoFit/>
          </a:bodyPr>
          <a:lstStyle/>
          <a:p>
            <a:pPr algn="ctr">
              <a:lnSpc>
                <a:spcPts val="4399"/>
              </a:lnSpc>
              <a:spcBef>
                <a:spcPct val="0"/>
              </a:spcBef>
            </a:pPr>
            <a:r>
              <a:rPr lang="en-US" sz="3142" b="1" i="1" u="sng">
                <a:solidFill>
                  <a:srgbClr val="000000"/>
                </a:solidFill>
                <a:latin typeface="Times New Roman Bold Italics"/>
                <a:ea typeface="Times New Roman Bold Italics"/>
                <a:cs typeface="Times New Roman Bold Italics"/>
                <a:sym typeface="Times New Roman Bold Italics"/>
              </a:rPr>
              <a:t>Logic Diagram of Gated SR Latch:</a:t>
            </a:r>
          </a:p>
        </p:txBody>
      </p:sp>
      <p:sp>
        <p:nvSpPr>
          <p:cNvPr id="8" name="Freeform 8"/>
          <p:cNvSpPr/>
          <p:nvPr/>
        </p:nvSpPr>
        <p:spPr>
          <a:xfrm>
            <a:off x="15223069" y="2731901"/>
            <a:ext cx="2189597" cy="1992533"/>
          </a:xfrm>
          <a:custGeom>
            <a:avLst/>
            <a:gdLst/>
            <a:ahLst/>
            <a:cxnLst/>
            <a:rect l="l" t="t" r="r" b="b"/>
            <a:pathLst>
              <a:path w="2189597" h="1992533">
                <a:moveTo>
                  <a:pt x="0" y="0"/>
                </a:moveTo>
                <a:lnTo>
                  <a:pt x="2189596" y="0"/>
                </a:lnTo>
                <a:lnTo>
                  <a:pt x="2189596" y="1992533"/>
                </a:lnTo>
                <a:lnTo>
                  <a:pt x="0" y="1992533"/>
                </a:lnTo>
                <a:lnTo>
                  <a:pt x="0" y="0"/>
                </a:lnTo>
                <a:close/>
              </a:path>
            </a:pathLst>
          </a:custGeom>
          <a:blipFill>
            <a:blip r:embed="rId5"/>
            <a:stretch>
              <a:fillRect/>
            </a:stretch>
          </a:blipFill>
        </p:spPr>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172575"/>
            <a:ext cx="152400" cy="2381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9</a:t>
            </a:r>
          </a:p>
        </p:txBody>
      </p:sp>
      <p:sp>
        <p:nvSpPr>
          <p:cNvPr id="3" name="TextBox 3"/>
          <p:cNvSpPr txBox="1"/>
          <p:nvPr/>
        </p:nvSpPr>
        <p:spPr>
          <a:xfrm>
            <a:off x="164953" y="3229946"/>
            <a:ext cx="17634130" cy="2862531"/>
          </a:xfrm>
          <a:prstGeom prst="rect">
            <a:avLst/>
          </a:prstGeom>
        </p:spPr>
        <p:txBody>
          <a:bodyPr lIns="0" tIns="0" rIns="0" bIns="0" rtlCol="0" anchor="t">
            <a:spAutoFit/>
          </a:bodyPr>
          <a:lstStyle/>
          <a:p>
            <a:pPr algn="l">
              <a:lnSpc>
                <a:spcPts val="4447"/>
              </a:lnSpc>
              <a:spcBef>
                <a:spcPct val="0"/>
              </a:spcBef>
            </a:pPr>
            <a:r>
              <a:rPr lang="en-US" sz="3176" b="1" i="1">
                <a:solidFill>
                  <a:srgbClr val="000000"/>
                </a:solidFill>
                <a:latin typeface="Times New Roman Bold Italics"/>
                <a:ea typeface="Times New Roman Bold Italics"/>
                <a:cs typeface="Times New Roman Bold Italics"/>
                <a:sym typeface="Times New Roman Bold Italics"/>
              </a:rPr>
              <a:t>The flip-flop is a circuit that maintains a state until directed by input to change the state. A basic flip-flop can be constructed using four-</a:t>
            </a:r>
            <a:r>
              <a:rPr lang="en-US" sz="3176" b="1" i="1">
                <a:solidFill>
                  <a:srgbClr val="000000"/>
                </a:solidFill>
                <a:latin typeface="Times New Roman Bold Italics"/>
                <a:ea typeface="Times New Roman Bold Italics"/>
                <a:cs typeface="Times New Roman Bold Italics"/>
                <a:sym typeface="Times New Roman Bold Italics"/>
                <a:hlinkClick r:id="rId2" tooltip="https://www.geeksforgeeks.org/what-is-nand-gate/"/>
              </a:rPr>
              <a:t>NAND</a:t>
            </a:r>
            <a:r>
              <a:rPr lang="en-US" sz="3176" b="1" i="1">
                <a:solidFill>
                  <a:srgbClr val="000000"/>
                </a:solidFill>
                <a:latin typeface="Times New Roman Bold Italics"/>
                <a:ea typeface="Times New Roman Bold Italics"/>
                <a:cs typeface="Times New Roman Bold Italics"/>
                <a:sym typeface="Times New Roman Bold Italics"/>
              </a:rPr>
              <a:t> or four-</a:t>
            </a:r>
            <a:r>
              <a:rPr lang="en-US" sz="3176" b="1" i="1">
                <a:solidFill>
                  <a:srgbClr val="000000"/>
                </a:solidFill>
                <a:latin typeface="Times New Roman Bold Italics"/>
                <a:ea typeface="Times New Roman Bold Italics"/>
                <a:cs typeface="Times New Roman Bold Italics"/>
                <a:sym typeface="Times New Roman Bold Italics"/>
                <a:hlinkClick r:id="rId3" tooltip="https://www.geeksforgeeks.org/what-is-nor-gate/"/>
              </a:rPr>
              <a:t>NOR gates</a:t>
            </a:r>
            <a:r>
              <a:rPr lang="en-US" sz="3176" b="1" i="1">
                <a:solidFill>
                  <a:srgbClr val="000000"/>
                </a:solidFill>
                <a:latin typeface="Times New Roman Bold Italics"/>
                <a:ea typeface="Times New Roman Bold Italics"/>
                <a:cs typeface="Times New Roman Bold Italics"/>
                <a:sym typeface="Times New Roman Bold Italics"/>
              </a:rPr>
              <a:t>. Flip-flop is popularly known as the basic digital memory circuit. It has its two states as logic 1(High) and logic 0(low) states. A flip flop is a sequential circuit which consist of single binary state of information or data. The digital circuit is a flip flop which has two outputs and are of opposite states. </a:t>
            </a:r>
            <a:r>
              <a:rPr lang="en-US" sz="3176" b="1" i="1">
                <a:solidFill>
                  <a:srgbClr val="FF3131"/>
                </a:solidFill>
                <a:latin typeface="Times New Roman Bold Italics"/>
                <a:ea typeface="Times New Roman Bold Italics"/>
                <a:cs typeface="Times New Roman Bold Italics"/>
                <a:sym typeface="Times New Roman Bold Italics"/>
              </a:rPr>
              <a:t>It is also known as a </a:t>
            </a:r>
            <a:r>
              <a:rPr lang="en-US" sz="3176" b="1" i="1">
                <a:solidFill>
                  <a:srgbClr val="FF3131"/>
                </a:solidFill>
                <a:latin typeface="Times New Roman Bold Italics"/>
                <a:ea typeface="Times New Roman Bold Italics"/>
                <a:cs typeface="Times New Roman Bold Italics"/>
                <a:sym typeface="Times New Roman Bold Italics"/>
                <a:hlinkClick r:id="rId4" tooltip="https://www.geeksforgeeks.org/astable-monostable-and-bistable-multivibrator/"/>
              </a:rPr>
              <a:t>Bistable</a:t>
            </a:r>
            <a:r>
              <a:rPr lang="en-US" sz="3176" b="1" i="1" u="sng">
                <a:solidFill>
                  <a:srgbClr val="FF3131"/>
                </a:solidFill>
                <a:latin typeface="Times New Roman Bold Italics"/>
                <a:ea typeface="Times New Roman Bold Italics"/>
                <a:cs typeface="Times New Roman Bold Italics"/>
                <a:sym typeface="Times New Roman Bold Italics"/>
                <a:hlinkClick r:id="rId4" tooltip="https://www.geeksforgeeks.org/astable-monostable-and-bistable-multivibrator/"/>
              </a:rPr>
              <a:t> </a:t>
            </a:r>
            <a:r>
              <a:rPr lang="en-US" sz="3176" b="1" i="1">
                <a:solidFill>
                  <a:srgbClr val="FF3131"/>
                </a:solidFill>
                <a:latin typeface="Times New Roman Bold Italics"/>
                <a:ea typeface="Times New Roman Bold Italics"/>
                <a:cs typeface="Times New Roman Bold Italics"/>
                <a:sym typeface="Times New Roman Bold Italics"/>
                <a:hlinkClick r:id="rId4" tooltip="https://www.geeksforgeeks.org/astable-monostable-and-bistable-multivibrator/"/>
              </a:rPr>
              <a:t>Multivibrator</a:t>
            </a:r>
          </a:p>
        </p:txBody>
      </p:sp>
      <p:grpSp>
        <p:nvGrpSpPr>
          <p:cNvPr id="4" name="Group 4"/>
          <p:cNvGrpSpPr/>
          <p:nvPr/>
        </p:nvGrpSpPr>
        <p:grpSpPr>
          <a:xfrm>
            <a:off x="6211412" y="306678"/>
            <a:ext cx="5022301" cy="1830410"/>
            <a:chOff x="0" y="0"/>
            <a:chExt cx="1322746" cy="482083"/>
          </a:xfrm>
        </p:grpSpPr>
        <p:sp>
          <p:nvSpPr>
            <p:cNvPr id="5" name="Freeform 5"/>
            <p:cNvSpPr/>
            <p:nvPr/>
          </p:nvSpPr>
          <p:spPr>
            <a:xfrm>
              <a:off x="0" y="0"/>
              <a:ext cx="1322746" cy="482083"/>
            </a:xfrm>
            <a:custGeom>
              <a:avLst/>
              <a:gdLst/>
              <a:ahLst/>
              <a:cxnLst/>
              <a:rect l="l" t="t" r="r" b="b"/>
              <a:pathLst>
                <a:path w="1322746" h="482083">
                  <a:moveTo>
                    <a:pt x="0" y="0"/>
                  </a:moveTo>
                  <a:lnTo>
                    <a:pt x="1322746" y="0"/>
                  </a:lnTo>
                  <a:lnTo>
                    <a:pt x="1322746" y="482083"/>
                  </a:lnTo>
                  <a:lnTo>
                    <a:pt x="0" y="482083"/>
                  </a:lnTo>
                  <a:close/>
                </a:path>
              </a:pathLst>
            </a:custGeom>
            <a:solidFill>
              <a:srgbClr val="000000">
                <a:alpha val="57647"/>
              </a:srgbClr>
            </a:solidFill>
          </p:spPr>
        </p:sp>
        <p:sp>
          <p:nvSpPr>
            <p:cNvPr id="6" name="TextBox 6"/>
            <p:cNvSpPr txBox="1"/>
            <p:nvPr/>
          </p:nvSpPr>
          <p:spPr>
            <a:xfrm>
              <a:off x="0" y="-85725"/>
              <a:ext cx="1322746" cy="567808"/>
            </a:xfrm>
            <a:prstGeom prst="rect">
              <a:avLst/>
            </a:prstGeom>
          </p:spPr>
          <p:txBody>
            <a:bodyPr lIns="50800" tIns="50800" rIns="50800" bIns="50800" rtlCol="0" anchor="ctr"/>
            <a:lstStyle/>
            <a:p>
              <a:pPr algn="ctr">
                <a:lnSpc>
                  <a:spcPts val="2800"/>
                </a:lnSpc>
              </a:pPr>
              <a:r>
                <a:rPr lang="en-US" sz="2000">
                  <a:solidFill>
                    <a:srgbClr val="000000">
                      <a:alpha val="57647"/>
                    </a:srgbClr>
                  </a:solidFill>
                  <a:latin typeface="Times New Roman"/>
                  <a:ea typeface="Times New Roman"/>
                  <a:cs typeface="Times New Roman"/>
                  <a:sym typeface="Times New Roman"/>
                </a:rPr>
                <a:t>s</a:t>
              </a: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p:txBody>
        </p:sp>
      </p:grpSp>
      <p:sp>
        <p:nvSpPr>
          <p:cNvPr id="7" name="TextBox 7"/>
          <p:cNvSpPr txBox="1"/>
          <p:nvPr/>
        </p:nvSpPr>
        <p:spPr>
          <a:xfrm>
            <a:off x="6685635" y="712077"/>
            <a:ext cx="4073853" cy="848162"/>
          </a:xfrm>
          <a:prstGeom prst="rect">
            <a:avLst/>
          </a:prstGeom>
        </p:spPr>
        <p:txBody>
          <a:bodyPr lIns="0" tIns="0" rIns="0" bIns="0" rtlCol="0" anchor="t">
            <a:spAutoFit/>
          </a:bodyPr>
          <a:lstStyle/>
          <a:p>
            <a:pPr algn="ctr">
              <a:lnSpc>
                <a:spcPts val="6281"/>
              </a:lnSpc>
              <a:spcBef>
                <a:spcPct val="0"/>
              </a:spcBef>
            </a:pPr>
            <a:r>
              <a:rPr lang="en-US" sz="4487" b="1" i="1">
                <a:solidFill>
                  <a:srgbClr val="FEFEFE"/>
                </a:solidFill>
                <a:latin typeface="Times New Roman Bold Italics"/>
                <a:ea typeface="Times New Roman Bold Italics"/>
                <a:cs typeface="Times New Roman Bold Italics"/>
                <a:sym typeface="Times New Roman Bold Italics"/>
              </a:rPr>
              <a:t>Flip Flops</a:t>
            </a:r>
          </a:p>
        </p:txBody>
      </p:sp>
      <p:sp>
        <p:nvSpPr>
          <p:cNvPr id="8" name="TextBox 8"/>
          <p:cNvSpPr txBox="1"/>
          <p:nvPr/>
        </p:nvSpPr>
        <p:spPr>
          <a:xfrm>
            <a:off x="164953" y="6294910"/>
            <a:ext cx="9087445" cy="3647598"/>
          </a:xfrm>
          <a:prstGeom prst="rect">
            <a:avLst/>
          </a:prstGeom>
        </p:spPr>
        <p:txBody>
          <a:bodyPr lIns="0" tIns="0" rIns="0" bIns="0" rtlCol="0" anchor="t">
            <a:spAutoFit/>
          </a:bodyPr>
          <a:lstStyle/>
          <a:p>
            <a:pPr algn="l">
              <a:lnSpc>
                <a:spcPts val="4751"/>
              </a:lnSpc>
              <a:spcBef>
                <a:spcPct val="0"/>
              </a:spcBef>
            </a:pPr>
            <a:r>
              <a:rPr lang="en-US" sz="3393" b="1" i="1" u="sng">
                <a:solidFill>
                  <a:srgbClr val="000000"/>
                </a:solidFill>
                <a:latin typeface="Times New Roman Bold Italics"/>
                <a:ea typeface="Times New Roman Bold Italics"/>
                <a:cs typeface="Times New Roman Bold Italics"/>
                <a:sym typeface="Times New Roman Bold Italics"/>
              </a:rPr>
              <a:t>Flip Flop Types:</a:t>
            </a:r>
          </a:p>
          <a:p>
            <a:pPr algn="l">
              <a:lnSpc>
                <a:spcPts val="4751"/>
              </a:lnSpc>
              <a:spcBef>
                <a:spcPct val="0"/>
              </a:spcBef>
            </a:pPr>
            <a:r>
              <a:rPr lang="en-US" sz="3393" b="1" i="1">
                <a:solidFill>
                  <a:srgbClr val="000000"/>
                </a:solidFill>
                <a:latin typeface="Times New Roman Bold Italics"/>
                <a:ea typeface="Times New Roman Bold Italics"/>
                <a:cs typeface="Times New Roman Bold Italics"/>
                <a:sym typeface="Times New Roman Bold Italics"/>
              </a:rPr>
              <a:t>There are 4 types of flip-flops in digital electronics:</a:t>
            </a:r>
          </a:p>
          <a:p>
            <a:pPr marL="732717" lvl="1" indent="-366359" algn="l">
              <a:lnSpc>
                <a:spcPts val="4751"/>
              </a:lnSpc>
              <a:buFont typeface="Arial"/>
              <a:buChar char="•"/>
            </a:pPr>
            <a:r>
              <a:rPr lang="en-US" sz="3393" b="1" i="1">
                <a:solidFill>
                  <a:srgbClr val="000000"/>
                </a:solidFill>
                <a:latin typeface="Times New Roman Bold Italics"/>
                <a:ea typeface="Times New Roman Bold Italics"/>
                <a:cs typeface="Times New Roman Bold Italics"/>
                <a:sym typeface="Times New Roman Bold Italics"/>
              </a:rPr>
              <a:t>SR Flip-Flop</a:t>
            </a:r>
          </a:p>
          <a:p>
            <a:pPr marL="732717" lvl="1" indent="-366359" algn="l">
              <a:lnSpc>
                <a:spcPts val="4751"/>
              </a:lnSpc>
              <a:buFont typeface="Arial"/>
              <a:buChar char="•"/>
            </a:pPr>
            <a:r>
              <a:rPr lang="en-US" sz="3393" b="1" i="1">
                <a:solidFill>
                  <a:srgbClr val="000000"/>
                </a:solidFill>
                <a:latin typeface="Times New Roman Bold Italics"/>
                <a:ea typeface="Times New Roman Bold Italics"/>
                <a:cs typeface="Times New Roman Bold Italics"/>
                <a:sym typeface="Times New Roman Bold Italics"/>
              </a:rPr>
              <a:t>JK Flip-Flop</a:t>
            </a:r>
          </a:p>
          <a:p>
            <a:pPr marL="732717" lvl="1" indent="-366359" algn="l">
              <a:lnSpc>
                <a:spcPts val="4751"/>
              </a:lnSpc>
              <a:buFont typeface="Arial"/>
              <a:buChar char="•"/>
            </a:pPr>
            <a:r>
              <a:rPr lang="en-US" sz="3393" b="1" i="1">
                <a:solidFill>
                  <a:srgbClr val="000000"/>
                </a:solidFill>
                <a:latin typeface="Times New Roman Bold Italics"/>
                <a:ea typeface="Times New Roman Bold Italics"/>
                <a:cs typeface="Times New Roman Bold Italics"/>
                <a:sym typeface="Times New Roman Bold Italics"/>
              </a:rPr>
              <a:t>D Flip-Flop</a:t>
            </a:r>
          </a:p>
          <a:p>
            <a:pPr marL="732717" lvl="1" indent="-366359" algn="l">
              <a:lnSpc>
                <a:spcPts val="4751"/>
              </a:lnSpc>
              <a:buFont typeface="Arial"/>
              <a:buChar char="•"/>
            </a:pPr>
            <a:r>
              <a:rPr lang="en-US" sz="3393" b="1" i="1">
                <a:solidFill>
                  <a:srgbClr val="000000"/>
                </a:solidFill>
                <a:latin typeface="Times New Roman Bold Italics"/>
                <a:ea typeface="Times New Roman Bold Italics"/>
                <a:cs typeface="Times New Roman Bold Italics"/>
                <a:sym typeface="Times New Roman Bold Italics"/>
              </a:rPr>
              <a:t>T Flip-Flop</a:t>
            </a:r>
          </a:p>
        </p:txBody>
      </p:sp>
      <p:sp>
        <p:nvSpPr>
          <p:cNvPr id="9" name="TextBox 9"/>
          <p:cNvSpPr txBox="1"/>
          <p:nvPr/>
        </p:nvSpPr>
        <p:spPr>
          <a:xfrm>
            <a:off x="164953" y="2547108"/>
            <a:ext cx="4516830" cy="590487"/>
          </a:xfrm>
          <a:prstGeom prst="rect">
            <a:avLst/>
          </a:prstGeom>
        </p:spPr>
        <p:txBody>
          <a:bodyPr lIns="0" tIns="0" rIns="0" bIns="0" rtlCol="0" anchor="t">
            <a:spAutoFit/>
          </a:bodyPr>
          <a:lstStyle/>
          <a:p>
            <a:pPr algn="ctr">
              <a:lnSpc>
                <a:spcPts val="4302"/>
              </a:lnSpc>
              <a:spcBef>
                <a:spcPct val="0"/>
              </a:spcBef>
            </a:pPr>
            <a:r>
              <a:rPr lang="en-US" sz="3073" b="1" i="1">
                <a:solidFill>
                  <a:srgbClr val="004AAD"/>
                </a:solidFill>
                <a:latin typeface="Times New Roman Bold Italics"/>
                <a:ea typeface="Times New Roman Bold Italics"/>
                <a:cs typeface="Times New Roman Bold Italics"/>
                <a:sym typeface="Times New Roman Bold Italics"/>
              </a:rPr>
              <a:t>Flip flops: What Are They? </a:t>
            </a:r>
          </a:p>
        </p:txBody>
      </p:sp>
      <p:sp>
        <p:nvSpPr>
          <p:cNvPr id="10" name="Freeform 10"/>
          <p:cNvSpPr/>
          <p:nvPr/>
        </p:nvSpPr>
        <p:spPr>
          <a:xfrm>
            <a:off x="14923154" y="6743582"/>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5"/>
            <a:stretch>
              <a:fillRect/>
            </a:stretch>
          </a:blipFill>
        </p:spPr>
      </p:sp>
      <p:sp>
        <p:nvSpPr>
          <p:cNvPr id="11" name="Freeform 11"/>
          <p:cNvSpPr/>
          <p:nvPr/>
        </p:nvSpPr>
        <p:spPr>
          <a:xfrm>
            <a:off x="1028700" y="225617"/>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push dir="r"/>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59013" y="2451836"/>
            <a:ext cx="5202837" cy="2822710"/>
          </a:xfrm>
          <a:custGeom>
            <a:avLst/>
            <a:gdLst/>
            <a:ahLst/>
            <a:cxnLst/>
            <a:rect l="l" t="t" r="r" b="b"/>
            <a:pathLst>
              <a:path w="5202837" h="2822710">
                <a:moveTo>
                  <a:pt x="0" y="0"/>
                </a:moveTo>
                <a:lnTo>
                  <a:pt x="5202837" y="0"/>
                </a:lnTo>
                <a:lnTo>
                  <a:pt x="5202837" y="2822709"/>
                </a:lnTo>
                <a:lnTo>
                  <a:pt x="0" y="2822709"/>
                </a:lnTo>
                <a:lnTo>
                  <a:pt x="0" y="0"/>
                </a:lnTo>
                <a:close/>
              </a:path>
            </a:pathLst>
          </a:custGeom>
          <a:blipFill>
            <a:blip r:embed="rId2"/>
            <a:stretch>
              <a:fillRect l="-8884" r="-8884"/>
            </a:stretch>
          </a:blipFill>
        </p:spPr>
      </p:sp>
      <p:sp>
        <p:nvSpPr>
          <p:cNvPr id="3" name="Freeform 3"/>
          <p:cNvSpPr/>
          <p:nvPr/>
        </p:nvSpPr>
        <p:spPr>
          <a:xfrm>
            <a:off x="8584605" y="2451836"/>
            <a:ext cx="7324244" cy="2176148"/>
          </a:xfrm>
          <a:custGeom>
            <a:avLst/>
            <a:gdLst/>
            <a:ahLst/>
            <a:cxnLst/>
            <a:rect l="l" t="t" r="r" b="b"/>
            <a:pathLst>
              <a:path w="7324244" h="2176148">
                <a:moveTo>
                  <a:pt x="0" y="0"/>
                </a:moveTo>
                <a:lnTo>
                  <a:pt x="7324244" y="0"/>
                </a:lnTo>
                <a:lnTo>
                  <a:pt x="7324244" y="2176148"/>
                </a:lnTo>
                <a:lnTo>
                  <a:pt x="0" y="2176148"/>
                </a:lnTo>
                <a:lnTo>
                  <a:pt x="0" y="0"/>
                </a:lnTo>
                <a:close/>
              </a:path>
            </a:pathLst>
          </a:custGeom>
          <a:blipFill>
            <a:blip r:embed="rId3"/>
            <a:stretch>
              <a:fillRect r="-12935"/>
            </a:stretch>
          </a:blipFill>
        </p:spPr>
      </p:sp>
      <p:sp>
        <p:nvSpPr>
          <p:cNvPr id="4" name="Freeform 4"/>
          <p:cNvSpPr/>
          <p:nvPr/>
        </p:nvSpPr>
        <p:spPr>
          <a:xfrm>
            <a:off x="495696" y="7355125"/>
            <a:ext cx="4929472" cy="2774912"/>
          </a:xfrm>
          <a:custGeom>
            <a:avLst/>
            <a:gdLst/>
            <a:ahLst/>
            <a:cxnLst/>
            <a:rect l="l" t="t" r="r" b="b"/>
            <a:pathLst>
              <a:path w="4929472" h="2774912">
                <a:moveTo>
                  <a:pt x="0" y="0"/>
                </a:moveTo>
                <a:lnTo>
                  <a:pt x="4929471" y="0"/>
                </a:lnTo>
                <a:lnTo>
                  <a:pt x="4929471" y="2774912"/>
                </a:lnTo>
                <a:lnTo>
                  <a:pt x="0" y="2774912"/>
                </a:lnTo>
                <a:lnTo>
                  <a:pt x="0" y="0"/>
                </a:lnTo>
                <a:close/>
              </a:path>
            </a:pathLst>
          </a:custGeom>
          <a:blipFill>
            <a:blip r:embed="rId4"/>
            <a:stretch>
              <a:fillRect/>
            </a:stretch>
          </a:blipFill>
        </p:spPr>
      </p:sp>
      <p:sp>
        <p:nvSpPr>
          <p:cNvPr id="5" name="Freeform 5"/>
          <p:cNvSpPr/>
          <p:nvPr/>
        </p:nvSpPr>
        <p:spPr>
          <a:xfrm>
            <a:off x="8584605" y="7334001"/>
            <a:ext cx="6000004" cy="2796036"/>
          </a:xfrm>
          <a:custGeom>
            <a:avLst/>
            <a:gdLst/>
            <a:ahLst/>
            <a:cxnLst/>
            <a:rect l="l" t="t" r="r" b="b"/>
            <a:pathLst>
              <a:path w="6000004" h="2796036">
                <a:moveTo>
                  <a:pt x="0" y="0"/>
                </a:moveTo>
                <a:lnTo>
                  <a:pt x="6000004" y="0"/>
                </a:lnTo>
                <a:lnTo>
                  <a:pt x="6000004" y="2796036"/>
                </a:lnTo>
                <a:lnTo>
                  <a:pt x="0" y="2796036"/>
                </a:lnTo>
                <a:lnTo>
                  <a:pt x="0" y="0"/>
                </a:lnTo>
                <a:close/>
              </a:path>
            </a:pathLst>
          </a:custGeom>
          <a:blipFill>
            <a:blip r:embed="rId5"/>
            <a:stretch>
              <a:fillRect/>
            </a:stretch>
          </a:blipFill>
        </p:spPr>
      </p:sp>
      <p:sp>
        <p:nvSpPr>
          <p:cNvPr id="6" name="TextBox 6"/>
          <p:cNvSpPr txBox="1"/>
          <p:nvPr/>
        </p:nvSpPr>
        <p:spPr>
          <a:xfrm>
            <a:off x="17259300" y="9172575"/>
            <a:ext cx="152400" cy="2381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Times New Roman"/>
                <a:ea typeface="Times New Roman"/>
                <a:cs typeface="Times New Roman"/>
                <a:sym typeface="Times New Roman"/>
              </a:rPr>
              <a:t>10</a:t>
            </a:r>
          </a:p>
        </p:txBody>
      </p:sp>
      <p:sp>
        <p:nvSpPr>
          <p:cNvPr id="7" name="TextBox 7"/>
          <p:cNvSpPr txBox="1"/>
          <p:nvPr/>
        </p:nvSpPr>
        <p:spPr>
          <a:xfrm>
            <a:off x="359013" y="296210"/>
            <a:ext cx="3271309" cy="732490"/>
          </a:xfrm>
          <a:prstGeom prst="rect">
            <a:avLst/>
          </a:prstGeom>
        </p:spPr>
        <p:txBody>
          <a:bodyPr lIns="0" tIns="0" rIns="0" bIns="0" rtlCol="0" anchor="t">
            <a:spAutoFit/>
          </a:bodyPr>
          <a:lstStyle/>
          <a:p>
            <a:pPr algn="ctr">
              <a:lnSpc>
                <a:spcPts val="5385"/>
              </a:lnSpc>
              <a:spcBef>
                <a:spcPct val="0"/>
              </a:spcBef>
            </a:pPr>
            <a:r>
              <a:rPr lang="en-US" sz="3846" b="1" i="1" u="sng">
                <a:solidFill>
                  <a:srgbClr val="004AAD"/>
                </a:solidFill>
                <a:latin typeface="Times New Roman Bold Italics"/>
                <a:ea typeface="Times New Roman Bold Italics"/>
                <a:cs typeface="Times New Roman Bold Italics"/>
                <a:sym typeface="Times New Roman Bold Italics"/>
              </a:rPr>
              <a:t>1. SR Flip Flop:</a:t>
            </a:r>
          </a:p>
        </p:txBody>
      </p:sp>
      <p:sp>
        <p:nvSpPr>
          <p:cNvPr id="8" name="TextBox 8"/>
          <p:cNvSpPr txBox="1"/>
          <p:nvPr/>
        </p:nvSpPr>
        <p:spPr>
          <a:xfrm>
            <a:off x="359013" y="1234411"/>
            <a:ext cx="9199066" cy="664374"/>
          </a:xfrm>
          <a:prstGeom prst="rect">
            <a:avLst/>
          </a:prstGeom>
        </p:spPr>
        <p:txBody>
          <a:bodyPr lIns="0" tIns="0" rIns="0" bIns="0" rtlCol="0" anchor="t">
            <a:spAutoFit/>
          </a:bodyPr>
          <a:lstStyle/>
          <a:p>
            <a:pPr algn="ctr">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Circuit Diagram and Truth Table of S-R Flip Flop</a:t>
            </a:r>
          </a:p>
        </p:txBody>
      </p:sp>
      <p:sp>
        <p:nvSpPr>
          <p:cNvPr id="9" name="TextBox 9"/>
          <p:cNvSpPr txBox="1"/>
          <p:nvPr/>
        </p:nvSpPr>
        <p:spPr>
          <a:xfrm>
            <a:off x="276785" y="5674595"/>
            <a:ext cx="3298924" cy="739372"/>
          </a:xfrm>
          <a:prstGeom prst="rect">
            <a:avLst/>
          </a:prstGeom>
        </p:spPr>
        <p:txBody>
          <a:bodyPr lIns="0" tIns="0" rIns="0" bIns="0" rtlCol="0" anchor="t">
            <a:spAutoFit/>
          </a:bodyPr>
          <a:lstStyle/>
          <a:p>
            <a:pPr algn="ctr">
              <a:lnSpc>
                <a:spcPts val="5447"/>
              </a:lnSpc>
              <a:spcBef>
                <a:spcPct val="0"/>
              </a:spcBef>
            </a:pPr>
            <a:r>
              <a:rPr lang="en-US" sz="3890" b="1" i="1" u="sng">
                <a:solidFill>
                  <a:srgbClr val="004AAD"/>
                </a:solidFill>
                <a:latin typeface="Times New Roman Bold Italics"/>
                <a:ea typeface="Times New Roman Bold Italics"/>
                <a:cs typeface="Times New Roman Bold Italics"/>
                <a:sym typeface="Times New Roman Bold Italics"/>
              </a:rPr>
              <a:t>2. JK Flip-Flop:</a:t>
            </a:r>
          </a:p>
        </p:txBody>
      </p:sp>
      <p:sp>
        <p:nvSpPr>
          <p:cNvPr id="10" name="TextBox 10"/>
          <p:cNvSpPr txBox="1"/>
          <p:nvPr/>
        </p:nvSpPr>
        <p:spPr>
          <a:xfrm>
            <a:off x="373077" y="6481201"/>
            <a:ext cx="9006483" cy="664374"/>
          </a:xfrm>
          <a:prstGeom prst="rect">
            <a:avLst/>
          </a:prstGeom>
        </p:spPr>
        <p:txBody>
          <a:bodyPr lIns="0" tIns="0" rIns="0" bIns="0" rtlCol="0" anchor="t">
            <a:spAutoFit/>
          </a:bodyPr>
          <a:lstStyle/>
          <a:p>
            <a:pPr algn="ctr">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Circuit Diagram and Truth Table of JK Flip Flop</a:t>
            </a:r>
          </a:p>
        </p:txBody>
      </p:sp>
      <p:sp>
        <p:nvSpPr>
          <p:cNvPr id="11" name="Freeform 11"/>
          <p:cNvSpPr/>
          <p:nvPr/>
        </p:nvSpPr>
        <p:spPr>
          <a:xfrm>
            <a:off x="14923154" y="6743582"/>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6"/>
            <a:stretch>
              <a:fillRect/>
            </a:stretch>
          </a:blipFill>
        </p:spPr>
      </p:sp>
      <p:sp>
        <p:nvSpPr>
          <p:cNvPr id="12" name="Freeform 12"/>
          <p:cNvSpPr/>
          <p:nvPr/>
        </p:nvSpPr>
        <p:spPr>
          <a:xfrm>
            <a:off x="13290149" y="0"/>
            <a:ext cx="2189597" cy="1992533"/>
          </a:xfrm>
          <a:custGeom>
            <a:avLst/>
            <a:gdLst/>
            <a:ahLst/>
            <a:cxnLst/>
            <a:rect l="l" t="t" r="r" b="b"/>
            <a:pathLst>
              <a:path w="2189597" h="1992533">
                <a:moveTo>
                  <a:pt x="0" y="0"/>
                </a:moveTo>
                <a:lnTo>
                  <a:pt x="2189596" y="0"/>
                </a:lnTo>
                <a:lnTo>
                  <a:pt x="2189596" y="1992533"/>
                </a:lnTo>
                <a:lnTo>
                  <a:pt x="0" y="1992533"/>
                </a:lnTo>
                <a:lnTo>
                  <a:pt x="0" y="0"/>
                </a:lnTo>
                <a:close/>
              </a:path>
            </a:pathLst>
          </a:custGeom>
          <a:blipFill>
            <a:blip r:embed="rId7"/>
            <a:stretch>
              <a:fillRect/>
            </a:stretch>
          </a:blipFill>
        </p:spPr>
      </p:sp>
    </p:spTree>
  </p:cSld>
  <p:clrMapOvr>
    <a:masterClrMapping/>
  </p:clrMapOvr>
  <p:transition spd="slow">
    <p:push dir="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553904" y="2234098"/>
            <a:ext cx="5358536" cy="2606136"/>
          </a:xfrm>
          <a:custGeom>
            <a:avLst/>
            <a:gdLst/>
            <a:ahLst/>
            <a:cxnLst/>
            <a:rect l="l" t="t" r="r" b="b"/>
            <a:pathLst>
              <a:path w="5358536" h="2606136">
                <a:moveTo>
                  <a:pt x="0" y="0"/>
                </a:moveTo>
                <a:lnTo>
                  <a:pt x="5358535" y="0"/>
                </a:lnTo>
                <a:lnTo>
                  <a:pt x="5358535" y="2606137"/>
                </a:lnTo>
                <a:lnTo>
                  <a:pt x="0" y="2606137"/>
                </a:lnTo>
                <a:lnTo>
                  <a:pt x="0" y="0"/>
                </a:lnTo>
                <a:close/>
              </a:path>
            </a:pathLst>
          </a:custGeom>
          <a:blipFill>
            <a:blip r:embed="rId2"/>
            <a:stretch>
              <a:fillRect/>
            </a:stretch>
          </a:blipFill>
        </p:spPr>
      </p:sp>
      <p:sp>
        <p:nvSpPr>
          <p:cNvPr id="3" name="Freeform 3"/>
          <p:cNvSpPr/>
          <p:nvPr/>
        </p:nvSpPr>
        <p:spPr>
          <a:xfrm>
            <a:off x="7245978" y="2234098"/>
            <a:ext cx="9632057" cy="2540472"/>
          </a:xfrm>
          <a:custGeom>
            <a:avLst/>
            <a:gdLst/>
            <a:ahLst/>
            <a:cxnLst/>
            <a:rect l="l" t="t" r="r" b="b"/>
            <a:pathLst>
              <a:path w="9632057" h="2540472">
                <a:moveTo>
                  <a:pt x="0" y="0"/>
                </a:moveTo>
                <a:lnTo>
                  <a:pt x="9632058" y="0"/>
                </a:lnTo>
                <a:lnTo>
                  <a:pt x="9632058" y="2540473"/>
                </a:lnTo>
                <a:lnTo>
                  <a:pt x="0" y="2540473"/>
                </a:lnTo>
                <a:lnTo>
                  <a:pt x="0" y="0"/>
                </a:lnTo>
                <a:close/>
              </a:path>
            </a:pathLst>
          </a:custGeom>
          <a:blipFill>
            <a:blip r:embed="rId3"/>
            <a:stretch>
              <a:fillRect/>
            </a:stretch>
          </a:blipFill>
        </p:spPr>
      </p:sp>
      <p:sp>
        <p:nvSpPr>
          <p:cNvPr id="4" name="Freeform 4"/>
          <p:cNvSpPr/>
          <p:nvPr/>
        </p:nvSpPr>
        <p:spPr>
          <a:xfrm>
            <a:off x="553904" y="7036672"/>
            <a:ext cx="5039507" cy="2927082"/>
          </a:xfrm>
          <a:custGeom>
            <a:avLst/>
            <a:gdLst/>
            <a:ahLst/>
            <a:cxnLst/>
            <a:rect l="l" t="t" r="r" b="b"/>
            <a:pathLst>
              <a:path w="5039507" h="2927082">
                <a:moveTo>
                  <a:pt x="0" y="0"/>
                </a:moveTo>
                <a:lnTo>
                  <a:pt x="5039507" y="0"/>
                </a:lnTo>
                <a:lnTo>
                  <a:pt x="5039507" y="2927082"/>
                </a:lnTo>
                <a:lnTo>
                  <a:pt x="0" y="2927082"/>
                </a:lnTo>
                <a:lnTo>
                  <a:pt x="0" y="0"/>
                </a:lnTo>
                <a:close/>
              </a:path>
            </a:pathLst>
          </a:custGeom>
          <a:blipFill>
            <a:blip r:embed="rId4"/>
            <a:stretch>
              <a:fillRect/>
            </a:stretch>
          </a:blipFill>
        </p:spPr>
      </p:sp>
      <p:sp>
        <p:nvSpPr>
          <p:cNvPr id="5" name="Freeform 5"/>
          <p:cNvSpPr/>
          <p:nvPr/>
        </p:nvSpPr>
        <p:spPr>
          <a:xfrm>
            <a:off x="7118393" y="7036672"/>
            <a:ext cx="9887229" cy="2559212"/>
          </a:xfrm>
          <a:custGeom>
            <a:avLst/>
            <a:gdLst/>
            <a:ahLst/>
            <a:cxnLst/>
            <a:rect l="l" t="t" r="r" b="b"/>
            <a:pathLst>
              <a:path w="9887229" h="2559212">
                <a:moveTo>
                  <a:pt x="0" y="0"/>
                </a:moveTo>
                <a:lnTo>
                  <a:pt x="9887228" y="0"/>
                </a:lnTo>
                <a:lnTo>
                  <a:pt x="9887228" y="2559212"/>
                </a:lnTo>
                <a:lnTo>
                  <a:pt x="0" y="2559212"/>
                </a:lnTo>
                <a:lnTo>
                  <a:pt x="0" y="0"/>
                </a:lnTo>
                <a:close/>
              </a:path>
            </a:pathLst>
          </a:custGeom>
          <a:blipFill>
            <a:blip r:embed="rId5"/>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id="7" name="TextBox 7"/>
          <p:cNvSpPr txBox="1"/>
          <p:nvPr/>
        </p:nvSpPr>
        <p:spPr>
          <a:xfrm>
            <a:off x="392342" y="251571"/>
            <a:ext cx="2924515" cy="664374"/>
          </a:xfrm>
          <a:prstGeom prst="rect">
            <a:avLst/>
          </a:prstGeom>
        </p:spPr>
        <p:txBody>
          <a:bodyPr lIns="0" tIns="0" rIns="0" bIns="0" rtlCol="0" anchor="t">
            <a:spAutoFit/>
          </a:bodyPr>
          <a:lstStyle/>
          <a:p>
            <a:pPr algn="ctr">
              <a:lnSpc>
                <a:spcPts val="4855"/>
              </a:lnSpc>
              <a:spcBef>
                <a:spcPct val="0"/>
              </a:spcBef>
            </a:pPr>
            <a:r>
              <a:rPr lang="en-US" sz="3468" b="1" i="1" u="sng">
                <a:solidFill>
                  <a:srgbClr val="004AAD"/>
                </a:solidFill>
                <a:latin typeface="Times New Roman Bold Italics"/>
                <a:ea typeface="Times New Roman Bold Italics"/>
                <a:cs typeface="Times New Roman Bold Italics"/>
                <a:sym typeface="Times New Roman Bold Italics"/>
              </a:rPr>
              <a:t>3. D Flip-Flop:</a:t>
            </a:r>
          </a:p>
        </p:txBody>
      </p:sp>
      <p:sp>
        <p:nvSpPr>
          <p:cNvPr id="8" name="TextBox 8"/>
          <p:cNvSpPr txBox="1"/>
          <p:nvPr/>
        </p:nvSpPr>
        <p:spPr>
          <a:xfrm>
            <a:off x="553904" y="1234411"/>
            <a:ext cx="8809286" cy="664374"/>
          </a:xfrm>
          <a:prstGeom prst="rect">
            <a:avLst/>
          </a:prstGeom>
        </p:spPr>
        <p:txBody>
          <a:bodyPr lIns="0" tIns="0" rIns="0" bIns="0" rtlCol="0" anchor="t">
            <a:spAutoFit/>
          </a:bodyPr>
          <a:lstStyle/>
          <a:p>
            <a:pPr algn="ctr">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Circuit Diagram and Truth Table of D Flip Flop</a:t>
            </a:r>
          </a:p>
        </p:txBody>
      </p:sp>
      <p:sp>
        <p:nvSpPr>
          <p:cNvPr id="9" name="TextBox 9"/>
          <p:cNvSpPr txBox="1"/>
          <p:nvPr/>
        </p:nvSpPr>
        <p:spPr>
          <a:xfrm>
            <a:off x="392342" y="5378722"/>
            <a:ext cx="2924515" cy="664374"/>
          </a:xfrm>
          <a:prstGeom prst="rect">
            <a:avLst/>
          </a:prstGeom>
        </p:spPr>
        <p:txBody>
          <a:bodyPr lIns="0" tIns="0" rIns="0" bIns="0" rtlCol="0" anchor="t">
            <a:spAutoFit/>
          </a:bodyPr>
          <a:lstStyle/>
          <a:p>
            <a:pPr algn="ctr">
              <a:lnSpc>
                <a:spcPts val="4855"/>
              </a:lnSpc>
              <a:spcBef>
                <a:spcPct val="0"/>
              </a:spcBef>
            </a:pPr>
            <a:r>
              <a:rPr lang="en-US" sz="3468" b="1" i="1" u="sng">
                <a:solidFill>
                  <a:srgbClr val="004AAD"/>
                </a:solidFill>
                <a:latin typeface="Times New Roman Bold Italics"/>
                <a:ea typeface="Times New Roman Bold Italics"/>
                <a:cs typeface="Times New Roman Bold Italics"/>
                <a:sym typeface="Times New Roman Bold Italics"/>
              </a:rPr>
              <a:t>4. T Flip-Flop:</a:t>
            </a:r>
          </a:p>
        </p:txBody>
      </p:sp>
      <p:sp>
        <p:nvSpPr>
          <p:cNvPr id="10" name="TextBox 10"/>
          <p:cNvSpPr txBox="1"/>
          <p:nvPr/>
        </p:nvSpPr>
        <p:spPr>
          <a:xfrm>
            <a:off x="553904" y="6038923"/>
            <a:ext cx="8763446" cy="664374"/>
          </a:xfrm>
          <a:prstGeom prst="rect">
            <a:avLst/>
          </a:prstGeom>
        </p:spPr>
        <p:txBody>
          <a:bodyPr lIns="0" tIns="0" rIns="0" bIns="0" rtlCol="0" anchor="t">
            <a:spAutoFit/>
          </a:bodyPr>
          <a:lstStyle/>
          <a:p>
            <a:pPr algn="ctr">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Circuit Diagram and Truth Table of T Flip Flop</a:t>
            </a:r>
          </a:p>
        </p:txBody>
      </p:sp>
      <p:sp>
        <p:nvSpPr>
          <p:cNvPr id="11" name="Freeform 11"/>
          <p:cNvSpPr/>
          <p:nvPr/>
        </p:nvSpPr>
        <p:spPr>
          <a:xfrm rot="-5400000">
            <a:off x="15871069" y="7838404"/>
            <a:ext cx="2448596" cy="2448596"/>
          </a:xfrm>
          <a:custGeom>
            <a:avLst/>
            <a:gdLst/>
            <a:ahLst/>
            <a:cxnLst/>
            <a:rect l="l" t="t" r="r" b="b"/>
            <a:pathLst>
              <a:path w="2448596" h="2448596">
                <a:moveTo>
                  <a:pt x="0" y="0"/>
                </a:moveTo>
                <a:lnTo>
                  <a:pt x="2448595" y="0"/>
                </a:lnTo>
                <a:lnTo>
                  <a:pt x="2448595" y="2448596"/>
                </a:lnTo>
                <a:lnTo>
                  <a:pt x="0" y="24485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4449197" y="32434"/>
            <a:ext cx="1974419" cy="1992533"/>
          </a:xfrm>
          <a:custGeom>
            <a:avLst/>
            <a:gdLst/>
            <a:ahLst/>
            <a:cxnLst/>
            <a:rect l="l" t="t" r="r" b="b"/>
            <a:pathLst>
              <a:path w="1974419" h="1992533">
                <a:moveTo>
                  <a:pt x="0" y="0"/>
                </a:moveTo>
                <a:lnTo>
                  <a:pt x="1974419" y="0"/>
                </a:lnTo>
                <a:lnTo>
                  <a:pt x="1974419" y="1992532"/>
                </a:lnTo>
                <a:lnTo>
                  <a:pt x="0" y="199253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grpSp>
        <p:nvGrpSpPr>
          <p:cNvPr id="3" name="Group 3"/>
          <p:cNvGrpSpPr/>
          <p:nvPr/>
        </p:nvGrpSpPr>
        <p:grpSpPr>
          <a:xfrm>
            <a:off x="6211412" y="306678"/>
            <a:ext cx="5022301" cy="1830410"/>
            <a:chOff x="0" y="0"/>
            <a:chExt cx="1322746" cy="482083"/>
          </a:xfrm>
        </p:grpSpPr>
        <p:sp>
          <p:nvSpPr>
            <p:cNvPr id="4" name="Freeform 4"/>
            <p:cNvSpPr/>
            <p:nvPr/>
          </p:nvSpPr>
          <p:spPr>
            <a:xfrm>
              <a:off x="0" y="0"/>
              <a:ext cx="1322746" cy="482083"/>
            </a:xfrm>
            <a:custGeom>
              <a:avLst/>
              <a:gdLst/>
              <a:ahLst/>
              <a:cxnLst/>
              <a:rect l="l" t="t" r="r" b="b"/>
              <a:pathLst>
                <a:path w="1322746" h="482083">
                  <a:moveTo>
                    <a:pt x="0" y="0"/>
                  </a:moveTo>
                  <a:lnTo>
                    <a:pt x="1322746" y="0"/>
                  </a:lnTo>
                  <a:lnTo>
                    <a:pt x="1322746" y="482083"/>
                  </a:lnTo>
                  <a:lnTo>
                    <a:pt x="0" y="482083"/>
                  </a:lnTo>
                  <a:close/>
                </a:path>
              </a:pathLst>
            </a:custGeom>
            <a:solidFill>
              <a:srgbClr val="000000">
                <a:alpha val="57647"/>
              </a:srgbClr>
            </a:solidFill>
          </p:spPr>
        </p:sp>
        <p:sp>
          <p:nvSpPr>
            <p:cNvPr id="5" name="TextBox 5"/>
            <p:cNvSpPr txBox="1"/>
            <p:nvPr/>
          </p:nvSpPr>
          <p:spPr>
            <a:xfrm>
              <a:off x="0" y="-85725"/>
              <a:ext cx="1322746" cy="567808"/>
            </a:xfrm>
            <a:prstGeom prst="rect">
              <a:avLst/>
            </a:prstGeom>
          </p:spPr>
          <p:txBody>
            <a:bodyPr lIns="50800" tIns="50800" rIns="50800" bIns="50800" rtlCol="0" anchor="ctr"/>
            <a:lstStyle/>
            <a:p>
              <a:pPr algn="ctr">
                <a:lnSpc>
                  <a:spcPts val="2800"/>
                </a:lnSpc>
              </a:pPr>
              <a:r>
                <a:rPr lang="en-US" sz="2000">
                  <a:solidFill>
                    <a:srgbClr val="000000">
                      <a:alpha val="57647"/>
                    </a:srgbClr>
                  </a:solidFill>
                  <a:latin typeface="Times New Roman"/>
                  <a:ea typeface="Times New Roman"/>
                  <a:cs typeface="Times New Roman"/>
                  <a:sym typeface="Times New Roman"/>
                </a:rPr>
                <a:t>s</a:t>
              </a: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p:txBody>
        </p:sp>
      </p:grpSp>
      <p:sp>
        <p:nvSpPr>
          <p:cNvPr id="6" name="TextBox 6"/>
          <p:cNvSpPr txBox="1"/>
          <p:nvPr/>
        </p:nvSpPr>
        <p:spPr>
          <a:xfrm>
            <a:off x="6685635" y="712077"/>
            <a:ext cx="4073853" cy="848162"/>
          </a:xfrm>
          <a:prstGeom prst="rect">
            <a:avLst/>
          </a:prstGeom>
        </p:spPr>
        <p:txBody>
          <a:bodyPr lIns="0" tIns="0" rIns="0" bIns="0" rtlCol="0" anchor="t">
            <a:spAutoFit/>
          </a:bodyPr>
          <a:lstStyle/>
          <a:p>
            <a:pPr algn="ctr">
              <a:lnSpc>
                <a:spcPts val="6281"/>
              </a:lnSpc>
              <a:spcBef>
                <a:spcPct val="0"/>
              </a:spcBef>
            </a:pPr>
            <a:r>
              <a:rPr lang="en-US" sz="4487" b="1" i="1">
                <a:solidFill>
                  <a:srgbClr val="FEFEFE"/>
                </a:solidFill>
                <a:latin typeface="Times New Roman Bold Italics"/>
                <a:ea typeface="Times New Roman Bold Italics"/>
                <a:cs typeface="Times New Roman Bold Italics"/>
                <a:sym typeface="Times New Roman Bold Italics"/>
              </a:rPr>
              <a:t>Counters</a:t>
            </a:r>
          </a:p>
        </p:txBody>
      </p:sp>
      <p:sp>
        <p:nvSpPr>
          <p:cNvPr id="7" name="TextBox 7"/>
          <p:cNvSpPr txBox="1"/>
          <p:nvPr/>
        </p:nvSpPr>
        <p:spPr>
          <a:xfrm>
            <a:off x="167496" y="2502121"/>
            <a:ext cx="17953008" cy="2760390"/>
          </a:xfrm>
          <a:prstGeom prst="rect">
            <a:avLst/>
          </a:prstGeom>
        </p:spPr>
        <p:txBody>
          <a:bodyPr lIns="0" tIns="0" rIns="0" bIns="0" rtlCol="0" anchor="t">
            <a:spAutoFit/>
          </a:bodyPr>
          <a:lstStyle/>
          <a:p>
            <a:pPr algn="l">
              <a:lnSpc>
                <a:spcPts val="4302"/>
              </a:lnSpc>
            </a:pPr>
            <a:r>
              <a:rPr lang="en-US" sz="3073" b="1" i="1">
                <a:solidFill>
                  <a:srgbClr val="000000"/>
                </a:solidFill>
                <a:latin typeface="Times New Roman Bold Italics"/>
                <a:ea typeface="Times New Roman Bold Italics"/>
                <a:cs typeface="Times New Roman Bold Italics"/>
                <a:sym typeface="Times New Roman Bold Italics"/>
              </a:rPr>
              <a:t>Let’s talk about counters..</a:t>
            </a:r>
          </a:p>
          <a:p>
            <a:pPr algn="l">
              <a:lnSpc>
                <a:spcPts val="4302"/>
              </a:lnSpc>
              <a:spcBef>
                <a:spcPct val="0"/>
              </a:spcBef>
            </a:pPr>
            <a:r>
              <a:rPr lang="en-US" sz="3073" b="1" i="1">
                <a:solidFill>
                  <a:srgbClr val="000000"/>
                </a:solidFill>
                <a:latin typeface="Times New Roman Bold Italics"/>
                <a:ea typeface="Times New Roman Bold Italics"/>
                <a:cs typeface="Times New Roman Bold Italics"/>
                <a:sym typeface="Times New Roman Bold Italics"/>
              </a:rPr>
              <a:t>A counter is a device which </a:t>
            </a:r>
            <a:r>
              <a:rPr lang="en-US" sz="3073" b="1" i="1">
                <a:solidFill>
                  <a:srgbClr val="FF3131"/>
                </a:solidFill>
                <a:latin typeface="Times New Roman Bold Italics"/>
                <a:ea typeface="Times New Roman Bold Italics"/>
                <a:cs typeface="Times New Roman Bold Italics"/>
                <a:sym typeface="Times New Roman Bold Italics"/>
              </a:rPr>
              <a:t>stores (and sometimes displays) the number of times a particular event or process has occurred</a:t>
            </a:r>
            <a:r>
              <a:rPr lang="en-US" sz="3073" b="1" i="1">
                <a:solidFill>
                  <a:srgbClr val="000000"/>
                </a:solidFill>
                <a:latin typeface="Times New Roman Bold Italics"/>
                <a:ea typeface="Times New Roman Bold Italics"/>
                <a:cs typeface="Times New Roman Bold Italics"/>
                <a:sym typeface="Times New Roman Bold Italics"/>
              </a:rPr>
              <a:t>, often in relationship to a clock signal. Counters are used in digital electronics for counting purpose, they can count specific event happening in the circuit. For example, in UP counter a counter increases count for every rising edge of clock. </a:t>
            </a:r>
          </a:p>
        </p:txBody>
      </p:sp>
      <p:sp>
        <p:nvSpPr>
          <p:cNvPr id="8" name="TextBox 8"/>
          <p:cNvSpPr txBox="1"/>
          <p:nvPr/>
        </p:nvSpPr>
        <p:spPr>
          <a:xfrm>
            <a:off x="0" y="5660922"/>
            <a:ext cx="18120504" cy="3899003"/>
          </a:xfrm>
          <a:prstGeom prst="rect">
            <a:avLst/>
          </a:prstGeom>
        </p:spPr>
        <p:txBody>
          <a:bodyPr lIns="0" tIns="0" rIns="0" bIns="0" rtlCol="0" anchor="t">
            <a:spAutoFit/>
          </a:bodyPr>
          <a:lstStyle/>
          <a:p>
            <a:pPr algn="l">
              <a:lnSpc>
                <a:spcPts val="4544"/>
              </a:lnSpc>
            </a:pPr>
            <a:r>
              <a:rPr lang="en-US" sz="3245" b="1" i="1" u="sng">
                <a:solidFill>
                  <a:srgbClr val="004AAD"/>
                </a:solidFill>
                <a:latin typeface="Times New Roman Bold Italics"/>
                <a:ea typeface="Times New Roman Bold Italics"/>
                <a:cs typeface="Times New Roman Bold Italics"/>
                <a:sym typeface="Times New Roman Bold Italics"/>
              </a:rPr>
              <a:t>Classification of Counters:</a:t>
            </a:r>
          </a:p>
          <a:p>
            <a:pPr algn="l">
              <a:lnSpc>
                <a:spcPts val="4544"/>
              </a:lnSpc>
            </a:pPr>
            <a:r>
              <a:rPr lang="en-US" sz="3245" b="1" i="1">
                <a:solidFill>
                  <a:srgbClr val="000000"/>
                </a:solidFill>
                <a:latin typeface="Times New Roman Bold Italics"/>
                <a:ea typeface="Times New Roman Bold Italics"/>
                <a:cs typeface="Times New Roman Bold Italics"/>
                <a:sym typeface="Times New Roman Bold Italics"/>
              </a:rPr>
              <a:t>Counters are broadly divided into two categories</a:t>
            </a:r>
          </a:p>
          <a:p>
            <a:pPr algn="l">
              <a:lnSpc>
                <a:spcPts val="4544"/>
              </a:lnSpc>
            </a:pPr>
            <a:endParaRPr lang="en-US" sz="3245" b="1" i="1">
              <a:solidFill>
                <a:srgbClr val="000000"/>
              </a:solidFill>
              <a:latin typeface="Times New Roman Bold Italics"/>
              <a:ea typeface="Times New Roman Bold Italics"/>
              <a:cs typeface="Times New Roman Bold Italics"/>
              <a:sym typeface="Times New Roman Bold Italics"/>
            </a:endParaRPr>
          </a:p>
          <a:p>
            <a:pPr marL="700797" lvl="1" indent="-350398" algn="just">
              <a:lnSpc>
                <a:spcPts val="4187"/>
              </a:lnSpc>
              <a:buAutoNum type="arabicPeriod"/>
            </a:pPr>
            <a:r>
              <a:rPr lang="en-US" sz="3245" b="1" i="1">
                <a:solidFill>
                  <a:srgbClr val="004AAD"/>
                </a:solidFill>
                <a:latin typeface="Times New Roman Bold Italics"/>
                <a:ea typeface="Times New Roman Bold Italics"/>
                <a:cs typeface="Times New Roman Bold Italics"/>
                <a:sym typeface="Times New Roman Bold Italics"/>
              </a:rPr>
              <a:t>Asynchronous counter/Ripple counter:</a:t>
            </a:r>
            <a:r>
              <a:rPr lang="en-US" sz="3245" b="1" i="1">
                <a:solidFill>
                  <a:srgbClr val="000000"/>
                </a:solidFill>
                <a:latin typeface="Times New Roman Bold Italics"/>
                <a:ea typeface="Times New Roman Bold Italics"/>
                <a:cs typeface="Times New Roman Bold Italics"/>
                <a:sym typeface="Times New Roman Bold Italics"/>
              </a:rPr>
              <a:t>In asynchronous counter we don’t use universal clock, only first flip flop is driven by main clock and the clock input of rest of the following counters is driven by output of previous flip flops. </a:t>
            </a:r>
          </a:p>
          <a:p>
            <a:pPr algn="ctr">
              <a:lnSpc>
                <a:spcPts val="4544"/>
              </a:lnSpc>
              <a:spcBef>
                <a:spcPct val="0"/>
              </a:spcBef>
            </a:pPr>
            <a:endParaRPr lang="en-US" sz="3245" b="1" i="1">
              <a:solidFill>
                <a:srgbClr val="000000"/>
              </a:solidFill>
              <a:latin typeface="Times New Roman Bold Italics"/>
              <a:ea typeface="Times New Roman Bold Italics"/>
              <a:cs typeface="Times New Roman Bold Italics"/>
              <a:sym typeface="Times New Roman Bold Italics"/>
            </a:endParaRPr>
          </a:p>
        </p:txBody>
      </p:sp>
      <p:sp>
        <p:nvSpPr>
          <p:cNvPr id="9" name="Freeform 9"/>
          <p:cNvSpPr/>
          <p:nvPr/>
        </p:nvSpPr>
        <p:spPr>
          <a:xfrm>
            <a:off x="1477888" y="225617"/>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rot="-5400000">
            <a:off x="15237246" y="0"/>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0" y="-112892"/>
            <a:ext cx="18120504" cy="6766028"/>
          </a:xfrm>
          <a:prstGeom prst="rect">
            <a:avLst/>
          </a:prstGeom>
        </p:spPr>
        <p:txBody>
          <a:bodyPr lIns="0" tIns="0" rIns="0" bIns="0" rtlCol="0" anchor="t">
            <a:spAutoFit/>
          </a:bodyPr>
          <a:lstStyle/>
          <a:p>
            <a:pPr algn="l">
              <a:lnSpc>
                <a:spcPts val="4544"/>
              </a:lnSpc>
            </a:pPr>
            <a:endParaRPr/>
          </a:p>
          <a:p>
            <a:pPr algn="l">
              <a:lnSpc>
                <a:spcPts val="4544"/>
              </a:lnSpc>
            </a:pPr>
            <a:endParaRPr/>
          </a:p>
          <a:p>
            <a:pPr algn="just">
              <a:lnSpc>
                <a:spcPts val="4187"/>
              </a:lnSpc>
            </a:pPr>
            <a:endParaRPr/>
          </a:p>
          <a:p>
            <a:pPr algn="just">
              <a:lnSpc>
                <a:spcPts val="4187"/>
              </a:lnSpc>
            </a:pPr>
            <a:endParaRPr/>
          </a:p>
          <a:p>
            <a:pPr algn="just">
              <a:lnSpc>
                <a:spcPts val="4187"/>
              </a:lnSpc>
            </a:pPr>
            <a:endParaRPr/>
          </a:p>
          <a:p>
            <a:pPr algn="just">
              <a:lnSpc>
                <a:spcPts val="4187"/>
              </a:lnSpc>
            </a:pPr>
            <a:endParaRPr/>
          </a:p>
          <a:p>
            <a:pPr algn="just">
              <a:lnSpc>
                <a:spcPts val="4187"/>
              </a:lnSpc>
            </a:pPr>
            <a:endParaRPr/>
          </a:p>
          <a:p>
            <a:pPr algn="just">
              <a:lnSpc>
                <a:spcPts val="4187"/>
              </a:lnSpc>
            </a:pPr>
            <a:endParaRPr/>
          </a:p>
          <a:p>
            <a:pPr algn="just">
              <a:lnSpc>
                <a:spcPts val="4187"/>
              </a:lnSpc>
            </a:pPr>
            <a:endParaRPr/>
          </a:p>
          <a:p>
            <a:pPr algn="just">
              <a:lnSpc>
                <a:spcPts val="3542"/>
              </a:lnSpc>
            </a:pPr>
            <a:r>
              <a:rPr lang="en-US" sz="2745" b="1" i="1" u="sng">
                <a:solidFill>
                  <a:srgbClr val="004AAD"/>
                </a:solidFill>
                <a:latin typeface="Times New Roman Bold Italics"/>
                <a:ea typeface="Times New Roman Bold Italics"/>
                <a:cs typeface="Times New Roman Bold Italics"/>
                <a:sym typeface="Times New Roman Bold Italics"/>
              </a:rPr>
              <a:t>Synchronous counter:</a:t>
            </a:r>
            <a:r>
              <a:rPr lang="en-US" sz="2745" b="1" i="1" u="sng">
                <a:solidFill>
                  <a:srgbClr val="000000"/>
                </a:solidFill>
                <a:latin typeface="Times New Roman Bold Italics"/>
                <a:ea typeface="Times New Roman Bold Italics"/>
                <a:cs typeface="Times New Roman Bold Italics"/>
                <a:sym typeface="Times New Roman Bold Italics"/>
              </a:rPr>
              <a:t> </a:t>
            </a:r>
            <a:r>
              <a:rPr lang="en-US" sz="2745" b="1" i="1">
                <a:solidFill>
                  <a:srgbClr val="000000"/>
                </a:solidFill>
                <a:latin typeface="Times New Roman Bold Italics"/>
                <a:ea typeface="Times New Roman Bold Italics"/>
                <a:cs typeface="Times New Roman Bold Italics"/>
                <a:sym typeface="Times New Roman Bold Italics"/>
              </a:rPr>
              <a:t>Unlike the asynchronous counter, synchronous counter has one global clock which drives each flip flop so output changes in parallel.</a:t>
            </a:r>
            <a:r>
              <a:rPr lang="en-US" sz="2745" b="1" i="1">
                <a:solidFill>
                  <a:srgbClr val="FF3131"/>
                </a:solidFill>
                <a:latin typeface="Times New Roman Bold Italics"/>
                <a:ea typeface="Times New Roman Bold Italics"/>
                <a:cs typeface="Times New Roman Bold Italics"/>
                <a:sym typeface="Times New Roman Bold Italics"/>
              </a:rPr>
              <a:t>Advantage of synchronous counter over asynchronous counter is, it can operate on higher frequency than asynchronous counter as it does not have cumulative delay because of same clock is given to each flip flop.</a:t>
            </a:r>
          </a:p>
          <a:p>
            <a:pPr algn="ctr">
              <a:lnSpc>
                <a:spcPts val="4544"/>
              </a:lnSpc>
              <a:spcBef>
                <a:spcPct val="0"/>
              </a:spcBef>
            </a:pPr>
            <a:endParaRPr lang="en-US" sz="2745" b="1" i="1">
              <a:solidFill>
                <a:srgbClr val="FF3131"/>
              </a:solidFill>
              <a:latin typeface="Times New Roman Bold Italics"/>
              <a:ea typeface="Times New Roman Bold Italics"/>
              <a:cs typeface="Times New Roman Bold Italics"/>
              <a:sym typeface="Times New Roman Bold Italics"/>
            </a:endParaRPr>
          </a:p>
        </p:txBody>
      </p:sp>
      <p:sp>
        <p:nvSpPr>
          <p:cNvPr id="3" name="Freeform 3"/>
          <p:cNvSpPr/>
          <p:nvPr/>
        </p:nvSpPr>
        <p:spPr>
          <a:xfrm>
            <a:off x="408891" y="6870353"/>
            <a:ext cx="8155373" cy="3123593"/>
          </a:xfrm>
          <a:custGeom>
            <a:avLst/>
            <a:gdLst/>
            <a:ahLst/>
            <a:cxnLst/>
            <a:rect l="l" t="t" r="r" b="b"/>
            <a:pathLst>
              <a:path w="8155373" h="3123593">
                <a:moveTo>
                  <a:pt x="0" y="0"/>
                </a:moveTo>
                <a:lnTo>
                  <a:pt x="8155372" y="0"/>
                </a:lnTo>
                <a:lnTo>
                  <a:pt x="8155372" y="3123593"/>
                </a:lnTo>
                <a:lnTo>
                  <a:pt x="0" y="3123593"/>
                </a:lnTo>
                <a:lnTo>
                  <a:pt x="0" y="0"/>
                </a:lnTo>
                <a:close/>
              </a:path>
            </a:pathLst>
          </a:custGeom>
          <a:blipFill>
            <a:blip r:embed="rId2"/>
            <a:stretch>
              <a:fillRect/>
            </a:stretch>
          </a:blipFill>
        </p:spPr>
      </p:sp>
      <p:sp>
        <p:nvSpPr>
          <p:cNvPr id="4" name="Freeform 4"/>
          <p:cNvSpPr/>
          <p:nvPr/>
        </p:nvSpPr>
        <p:spPr>
          <a:xfrm>
            <a:off x="9596074" y="6509458"/>
            <a:ext cx="6631416" cy="3484488"/>
          </a:xfrm>
          <a:custGeom>
            <a:avLst/>
            <a:gdLst/>
            <a:ahLst/>
            <a:cxnLst/>
            <a:rect l="l" t="t" r="r" b="b"/>
            <a:pathLst>
              <a:path w="6631416" h="3484488">
                <a:moveTo>
                  <a:pt x="0" y="0"/>
                </a:moveTo>
                <a:lnTo>
                  <a:pt x="6631416" y="0"/>
                </a:lnTo>
                <a:lnTo>
                  <a:pt x="6631416" y="3484488"/>
                </a:lnTo>
                <a:lnTo>
                  <a:pt x="0" y="3484488"/>
                </a:lnTo>
                <a:lnTo>
                  <a:pt x="0" y="0"/>
                </a:lnTo>
                <a:close/>
              </a:path>
            </a:pathLst>
          </a:custGeom>
          <a:blipFill>
            <a:blip r:embed="rId3"/>
            <a:stretch>
              <a:fillRect/>
            </a:stretch>
          </a:blipFill>
        </p:spPr>
      </p:sp>
      <p:sp>
        <p:nvSpPr>
          <p:cNvPr id="5" name="Freeform 5"/>
          <p:cNvSpPr/>
          <p:nvPr/>
        </p:nvSpPr>
        <p:spPr>
          <a:xfrm>
            <a:off x="544840" y="1028700"/>
            <a:ext cx="8333090" cy="2546222"/>
          </a:xfrm>
          <a:custGeom>
            <a:avLst/>
            <a:gdLst/>
            <a:ahLst/>
            <a:cxnLst/>
            <a:rect l="l" t="t" r="r" b="b"/>
            <a:pathLst>
              <a:path w="8333090" h="2546222">
                <a:moveTo>
                  <a:pt x="0" y="0"/>
                </a:moveTo>
                <a:lnTo>
                  <a:pt x="8333089" y="0"/>
                </a:lnTo>
                <a:lnTo>
                  <a:pt x="8333089" y="2546222"/>
                </a:lnTo>
                <a:lnTo>
                  <a:pt x="0" y="2546222"/>
                </a:lnTo>
                <a:lnTo>
                  <a:pt x="0" y="0"/>
                </a:lnTo>
                <a:close/>
              </a:path>
            </a:pathLst>
          </a:custGeom>
          <a:blipFill>
            <a:blip r:embed="rId4"/>
            <a:stretch>
              <a:fillRect/>
            </a:stretch>
          </a:blipFill>
        </p:spPr>
      </p:sp>
      <p:sp>
        <p:nvSpPr>
          <p:cNvPr id="6" name="Freeform 6"/>
          <p:cNvSpPr/>
          <p:nvPr/>
        </p:nvSpPr>
        <p:spPr>
          <a:xfrm>
            <a:off x="9998086" y="463824"/>
            <a:ext cx="6551351" cy="3675973"/>
          </a:xfrm>
          <a:custGeom>
            <a:avLst/>
            <a:gdLst/>
            <a:ahLst/>
            <a:cxnLst/>
            <a:rect l="l" t="t" r="r" b="b"/>
            <a:pathLst>
              <a:path w="6551351" h="3675973">
                <a:moveTo>
                  <a:pt x="0" y="0"/>
                </a:moveTo>
                <a:lnTo>
                  <a:pt x="6551350" y="0"/>
                </a:lnTo>
                <a:lnTo>
                  <a:pt x="6551350" y="3675973"/>
                </a:lnTo>
                <a:lnTo>
                  <a:pt x="0" y="3675973"/>
                </a:lnTo>
                <a:lnTo>
                  <a:pt x="0" y="0"/>
                </a:lnTo>
                <a:close/>
              </a:path>
            </a:pathLst>
          </a:custGeom>
          <a:blipFill>
            <a:blip r:embed="rId5"/>
            <a:stretch>
              <a:fillRect/>
            </a:stretch>
          </a:blipFill>
        </p:spPr>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id="8" name="Freeform 8"/>
          <p:cNvSpPr/>
          <p:nvPr/>
        </p:nvSpPr>
        <p:spPr>
          <a:xfrm rot="-5400000">
            <a:off x="15694517" y="7993432"/>
            <a:ext cx="2593483" cy="2593483"/>
          </a:xfrm>
          <a:custGeom>
            <a:avLst/>
            <a:gdLst/>
            <a:ahLst/>
            <a:cxnLst/>
            <a:rect l="l" t="t" r="r" b="b"/>
            <a:pathLst>
              <a:path w="2593483" h="2593483">
                <a:moveTo>
                  <a:pt x="0" y="0"/>
                </a:moveTo>
                <a:lnTo>
                  <a:pt x="2593483" y="0"/>
                </a:lnTo>
                <a:lnTo>
                  <a:pt x="2593483" y="2593483"/>
                </a:lnTo>
                <a:lnTo>
                  <a:pt x="0" y="25934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cover dir="r"/>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id="3" name="TextBox 3"/>
          <p:cNvSpPr txBox="1"/>
          <p:nvPr/>
        </p:nvSpPr>
        <p:spPr>
          <a:xfrm>
            <a:off x="0" y="373851"/>
            <a:ext cx="11818855" cy="6235957"/>
          </a:xfrm>
          <a:prstGeom prst="rect">
            <a:avLst/>
          </a:prstGeom>
        </p:spPr>
        <p:txBody>
          <a:bodyPr lIns="0" tIns="0" rIns="0" bIns="0" rtlCol="0" anchor="t">
            <a:spAutoFit/>
          </a:bodyPr>
          <a:lstStyle/>
          <a:p>
            <a:pPr algn="l">
              <a:lnSpc>
                <a:spcPts val="4885"/>
              </a:lnSpc>
              <a:spcBef>
                <a:spcPct val="0"/>
              </a:spcBef>
            </a:pPr>
            <a:r>
              <a:rPr lang="en-US" sz="3489" b="1" i="1" u="sng">
                <a:solidFill>
                  <a:srgbClr val="000000"/>
                </a:solidFill>
                <a:latin typeface="Times New Roman Bold Italics"/>
                <a:ea typeface="Times New Roman Bold Italics"/>
                <a:cs typeface="Times New Roman Bold Italics"/>
                <a:sym typeface="Times New Roman Bold Italics"/>
              </a:rPr>
              <a:t>Counter classification based on directions:</a:t>
            </a:r>
          </a:p>
          <a:p>
            <a:pPr algn="l">
              <a:lnSpc>
                <a:spcPts val="4885"/>
              </a:lnSpc>
              <a:spcBef>
                <a:spcPct val="0"/>
              </a:spcBef>
            </a:pPr>
            <a:endParaRPr lang="en-US" sz="3489" b="1" i="1" u="sng">
              <a:solidFill>
                <a:srgbClr val="000000"/>
              </a:solidFill>
              <a:latin typeface="Times New Roman Bold Italics"/>
              <a:ea typeface="Times New Roman Bold Italics"/>
              <a:cs typeface="Times New Roman Bold Italics"/>
              <a:sym typeface="Times New Roman Bold Italics"/>
            </a:endParaRPr>
          </a:p>
          <a:p>
            <a:pPr marL="753468" lvl="1" indent="-376734" algn="l">
              <a:lnSpc>
                <a:spcPts val="4885"/>
              </a:lnSpc>
              <a:spcBef>
                <a:spcPct val="0"/>
              </a:spcBef>
              <a:buFont typeface="Arial"/>
              <a:buChar char="•"/>
            </a:pPr>
            <a:r>
              <a:rPr lang="en-US" sz="3489" b="1" i="1">
                <a:solidFill>
                  <a:srgbClr val="000000"/>
                </a:solidFill>
                <a:latin typeface="Times New Roman Bold Italics"/>
                <a:ea typeface="Times New Roman Bold Italics"/>
                <a:cs typeface="Times New Roman Bold Italics"/>
                <a:sym typeface="Times New Roman Bold Italics"/>
              </a:rPr>
              <a:t>Up counters</a:t>
            </a:r>
          </a:p>
          <a:p>
            <a:pPr marL="753468" lvl="1" indent="-376734" algn="l">
              <a:lnSpc>
                <a:spcPts val="4885"/>
              </a:lnSpc>
              <a:spcBef>
                <a:spcPct val="0"/>
              </a:spcBef>
              <a:buFont typeface="Arial"/>
              <a:buChar char="•"/>
            </a:pPr>
            <a:r>
              <a:rPr lang="en-US" sz="3489" b="1" i="1">
                <a:solidFill>
                  <a:srgbClr val="000000"/>
                </a:solidFill>
                <a:latin typeface="Times New Roman Bold Italics"/>
                <a:ea typeface="Times New Roman Bold Italics"/>
                <a:cs typeface="Times New Roman Bold Italics"/>
                <a:sym typeface="Times New Roman Bold Italics"/>
              </a:rPr>
              <a:t>Down counters</a:t>
            </a:r>
          </a:p>
          <a:p>
            <a:pPr marL="753468" lvl="1" indent="-376734" algn="l">
              <a:lnSpc>
                <a:spcPts val="4885"/>
              </a:lnSpc>
              <a:spcBef>
                <a:spcPct val="0"/>
              </a:spcBef>
              <a:buFont typeface="Arial"/>
              <a:buChar char="•"/>
            </a:pPr>
            <a:r>
              <a:rPr lang="en-US" sz="3489" b="1" i="1">
                <a:solidFill>
                  <a:srgbClr val="000000"/>
                </a:solidFill>
                <a:latin typeface="Times New Roman Bold Italics"/>
                <a:ea typeface="Times New Roman Bold Italics"/>
                <a:cs typeface="Times New Roman Bold Italics"/>
                <a:sym typeface="Times New Roman Bold Italics"/>
              </a:rPr>
              <a:t>Up/Down counters</a:t>
            </a:r>
          </a:p>
          <a:p>
            <a:pPr algn="l">
              <a:lnSpc>
                <a:spcPts val="4885"/>
              </a:lnSpc>
              <a:spcBef>
                <a:spcPct val="0"/>
              </a:spcBef>
            </a:pPr>
            <a:endParaRPr lang="en-US" sz="3489" b="1" i="1">
              <a:solidFill>
                <a:srgbClr val="000000"/>
              </a:solidFill>
              <a:latin typeface="Times New Roman Bold Italics"/>
              <a:ea typeface="Times New Roman Bold Italics"/>
              <a:cs typeface="Times New Roman Bold Italics"/>
              <a:sym typeface="Times New Roman Bold Italics"/>
            </a:endParaRPr>
          </a:p>
          <a:p>
            <a:pPr algn="l">
              <a:lnSpc>
                <a:spcPts val="4885"/>
              </a:lnSpc>
              <a:spcBef>
                <a:spcPct val="0"/>
              </a:spcBef>
            </a:pPr>
            <a:r>
              <a:rPr lang="en-US" sz="3489" b="1" i="1">
                <a:solidFill>
                  <a:srgbClr val="000000"/>
                </a:solidFill>
                <a:latin typeface="Times New Roman Bold Italics"/>
                <a:ea typeface="Times New Roman Bold Italics"/>
                <a:cs typeface="Times New Roman Bold Italics"/>
                <a:sym typeface="Times New Roman Bold Italics"/>
              </a:rPr>
              <a:t> </a:t>
            </a:r>
            <a:r>
              <a:rPr lang="en-US" sz="3489" b="1" i="1">
                <a:solidFill>
                  <a:srgbClr val="FF3131"/>
                </a:solidFill>
                <a:latin typeface="Times New Roman Bold Italics"/>
                <a:ea typeface="Times New Roman Bold Italics"/>
                <a:cs typeface="Times New Roman Bold Italics"/>
                <a:sym typeface="Times New Roman Bold Italics"/>
              </a:rPr>
              <a:t>Some special counters such as :</a:t>
            </a:r>
          </a:p>
          <a:p>
            <a:pPr algn="l">
              <a:lnSpc>
                <a:spcPts val="4885"/>
              </a:lnSpc>
              <a:spcBef>
                <a:spcPct val="0"/>
              </a:spcBef>
            </a:pPr>
            <a:endParaRPr lang="en-US" sz="3489" b="1" i="1">
              <a:solidFill>
                <a:srgbClr val="FF3131"/>
              </a:solidFill>
              <a:latin typeface="Times New Roman Bold Italics"/>
              <a:ea typeface="Times New Roman Bold Italics"/>
              <a:cs typeface="Times New Roman Bold Italics"/>
              <a:sym typeface="Times New Roman Bold Italics"/>
            </a:endParaRPr>
          </a:p>
          <a:p>
            <a:pPr marL="753468" lvl="1" indent="-376734" algn="l">
              <a:lnSpc>
                <a:spcPts val="4885"/>
              </a:lnSpc>
              <a:spcBef>
                <a:spcPct val="0"/>
              </a:spcBef>
              <a:buFont typeface="Arial"/>
              <a:buChar char="•"/>
            </a:pPr>
            <a:r>
              <a:rPr lang="en-US" sz="3489" b="1" i="1">
                <a:solidFill>
                  <a:srgbClr val="000000"/>
                </a:solidFill>
                <a:latin typeface="Times New Roman Bold Italics"/>
                <a:ea typeface="Times New Roman Bold Italics"/>
                <a:cs typeface="Times New Roman Bold Italics"/>
                <a:sym typeface="Times New Roman Bold Italics"/>
              </a:rPr>
              <a:t>Ring Counters </a:t>
            </a:r>
          </a:p>
          <a:p>
            <a:pPr marL="753468" lvl="1" indent="-376734" algn="l">
              <a:lnSpc>
                <a:spcPts val="4885"/>
              </a:lnSpc>
              <a:buFont typeface="Arial"/>
              <a:buChar char="•"/>
            </a:pPr>
            <a:r>
              <a:rPr lang="en-US" sz="3489" b="1" i="1">
                <a:solidFill>
                  <a:srgbClr val="000000"/>
                </a:solidFill>
                <a:latin typeface="Times New Roman Bold Italics"/>
                <a:ea typeface="Times New Roman Bold Italics"/>
                <a:cs typeface="Times New Roman Bold Italics"/>
                <a:sym typeface="Times New Roman Bold Italics"/>
              </a:rPr>
              <a:t>Johnson’s Counter/Twisted/Switch tail ring counter</a:t>
            </a:r>
          </a:p>
        </p:txBody>
      </p:sp>
      <p:sp>
        <p:nvSpPr>
          <p:cNvPr id="4" name="Freeform 4"/>
          <p:cNvSpPr/>
          <p:nvPr/>
        </p:nvSpPr>
        <p:spPr>
          <a:xfrm>
            <a:off x="15183988" y="165634"/>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923154" y="6743582"/>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4"/>
            <a:stretch>
              <a:fillRect/>
            </a:stretch>
          </a:blipFill>
        </p:spPr>
      </p:sp>
      <p:sp>
        <p:nvSpPr>
          <p:cNvPr id="6" name="Freeform 6"/>
          <p:cNvSpPr/>
          <p:nvPr/>
        </p:nvSpPr>
        <p:spPr>
          <a:xfrm>
            <a:off x="0" y="7228933"/>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5157304" y="7092219"/>
            <a:ext cx="6196683" cy="2467706"/>
          </a:xfrm>
          <a:custGeom>
            <a:avLst/>
            <a:gdLst/>
            <a:ahLst/>
            <a:cxnLst/>
            <a:rect l="l" t="t" r="r" b="b"/>
            <a:pathLst>
              <a:path w="6196683" h="2467706">
                <a:moveTo>
                  <a:pt x="0" y="0"/>
                </a:moveTo>
                <a:lnTo>
                  <a:pt x="6196684" y="0"/>
                </a:lnTo>
                <a:lnTo>
                  <a:pt x="6196684" y="2467706"/>
                </a:lnTo>
                <a:lnTo>
                  <a:pt x="0" y="2467706"/>
                </a:lnTo>
                <a:lnTo>
                  <a:pt x="0" y="0"/>
                </a:lnTo>
                <a:close/>
              </a:path>
            </a:pathLst>
          </a:custGeom>
          <a:blipFill>
            <a:blip r:embed="rId7"/>
            <a:stretch>
              <a:fillRect/>
            </a:stretch>
          </a:blipFill>
        </p:spPr>
      </p:sp>
      <p:sp>
        <p:nvSpPr>
          <p:cNvPr id="8" name="TextBox 8"/>
          <p:cNvSpPr txBox="1"/>
          <p:nvPr/>
        </p:nvSpPr>
        <p:spPr>
          <a:xfrm>
            <a:off x="6563842" y="9445625"/>
            <a:ext cx="3383607" cy="529753"/>
          </a:xfrm>
          <a:prstGeom prst="rect">
            <a:avLst/>
          </a:prstGeom>
        </p:spPr>
        <p:txBody>
          <a:bodyPr lIns="0" tIns="0" rIns="0" bIns="0" rtlCol="0" anchor="t">
            <a:spAutoFit/>
          </a:bodyPr>
          <a:lstStyle/>
          <a:p>
            <a:pPr algn="ctr">
              <a:lnSpc>
                <a:spcPts val="3875"/>
              </a:lnSpc>
              <a:spcBef>
                <a:spcPct val="0"/>
              </a:spcBef>
            </a:pPr>
            <a:r>
              <a:rPr lang="en-US" sz="2768" i="1">
                <a:solidFill>
                  <a:srgbClr val="000000"/>
                </a:solidFill>
                <a:latin typeface="Times New Roman Italics"/>
                <a:ea typeface="Times New Roman Italics"/>
                <a:cs typeface="Times New Roman Italics"/>
                <a:sym typeface="Times New Roman Italics"/>
              </a:rPr>
              <a:t>Fig: Johnson’s Counter</a:t>
            </a: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grpSp>
        <p:nvGrpSpPr>
          <p:cNvPr id="3" name="Group 3"/>
          <p:cNvGrpSpPr/>
          <p:nvPr/>
        </p:nvGrpSpPr>
        <p:grpSpPr>
          <a:xfrm>
            <a:off x="6211412" y="306678"/>
            <a:ext cx="5022301" cy="1830410"/>
            <a:chOff x="0" y="0"/>
            <a:chExt cx="1322746" cy="482083"/>
          </a:xfrm>
        </p:grpSpPr>
        <p:sp>
          <p:nvSpPr>
            <p:cNvPr id="4" name="Freeform 4"/>
            <p:cNvSpPr/>
            <p:nvPr/>
          </p:nvSpPr>
          <p:spPr>
            <a:xfrm>
              <a:off x="0" y="0"/>
              <a:ext cx="1322746" cy="482083"/>
            </a:xfrm>
            <a:custGeom>
              <a:avLst/>
              <a:gdLst/>
              <a:ahLst/>
              <a:cxnLst/>
              <a:rect l="l" t="t" r="r" b="b"/>
              <a:pathLst>
                <a:path w="1322746" h="482083">
                  <a:moveTo>
                    <a:pt x="0" y="0"/>
                  </a:moveTo>
                  <a:lnTo>
                    <a:pt x="1322746" y="0"/>
                  </a:lnTo>
                  <a:lnTo>
                    <a:pt x="1322746" y="482083"/>
                  </a:lnTo>
                  <a:lnTo>
                    <a:pt x="0" y="482083"/>
                  </a:lnTo>
                  <a:close/>
                </a:path>
              </a:pathLst>
            </a:custGeom>
            <a:solidFill>
              <a:srgbClr val="000000">
                <a:alpha val="57647"/>
              </a:srgbClr>
            </a:solidFill>
          </p:spPr>
        </p:sp>
        <p:sp>
          <p:nvSpPr>
            <p:cNvPr id="5" name="TextBox 5"/>
            <p:cNvSpPr txBox="1"/>
            <p:nvPr/>
          </p:nvSpPr>
          <p:spPr>
            <a:xfrm>
              <a:off x="0" y="-85725"/>
              <a:ext cx="1322746" cy="567808"/>
            </a:xfrm>
            <a:prstGeom prst="rect">
              <a:avLst/>
            </a:prstGeom>
          </p:spPr>
          <p:txBody>
            <a:bodyPr lIns="50800" tIns="50800" rIns="50800" bIns="50800" rtlCol="0" anchor="ctr"/>
            <a:lstStyle/>
            <a:p>
              <a:pPr algn="ctr">
                <a:lnSpc>
                  <a:spcPts val="2800"/>
                </a:lnSpc>
              </a:pPr>
              <a:r>
                <a:rPr lang="en-US" sz="2000">
                  <a:solidFill>
                    <a:srgbClr val="000000">
                      <a:alpha val="57647"/>
                    </a:srgbClr>
                  </a:solidFill>
                  <a:latin typeface="Times New Roman"/>
                  <a:ea typeface="Times New Roman"/>
                  <a:cs typeface="Times New Roman"/>
                  <a:sym typeface="Times New Roman"/>
                </a:rPr>
                <a:t>s</a:t>
              </a: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p:txBody>
        </p:sp>
      </p:grpSp>
      <p:sp>
        <p:nvSpPr>
          <p:cNvPr id="6" name="TextBox 6"/>
          <p:cNvSpPr txBox="1"/>
          <p:nvPr/>
        </p:nvSpPr>
        <p:spPr>
          <a:xfrm>
            <a:off x="6685635" y="712077"/>
            <a:ext cx="4073853" cy="848162"/>
          </a:xfrm>
          <a:prstGeom prst="rect">
            <a:avLst/>
          </a:prstGeom>
        </p:spPr>
        <p:txBody>
          <a:bodyPr lIns="0" tIns="0" rIns="0" bIns="0" rtlCol="0" anchor="t">
            <a:spAutoFit/>
          </a:bodyPr>
          <a:lstStyle/>
          <a:p>
            <a:pPr algn="ctr">
              <a:lnSpc>
                <a:spcPts val="6281"/>
              </a:lnSpc>
              <a:spcBef>
                <a:spcPct val="0"/>
              </a:spcBef>
            </a:pPr>
            <a:r>
              <a:rPr lang="en-US" sz="4487" b="1" i="1">
                <a:solidFill>
                  <a:srgbClr val="FEFEFE"/>
                </a:solidFill>
                <a:latin typeface="Times New Roman Bold Italics"/>
                <a:ea typeface="Times New Roman Bold Italics"/>
                <a:cs typeface="Times New Roman Bold Italics"/>
                <a:sym typeface="Times New Roman Bold Italics"/>
              </a:rPr>
              <a:t>Registers</a:t>
            </a:r>
          </a:p>
        </p:txBody>
      </p:sp>
      <p:sp>
        <p:nvSpPr>
          <p:cNvPr id="7" name="TextBox 7"/>
          <p:cNvSpPr txBox="1"/>
          <p:nvPr/>
        </p:nvSpPr>
        <p:spPr>
          <a:xfrm>
            <a:off x="257175" y="2744000"/>
            <a:ext cx="18030825" cy="5541174"/>
          </a:xfrm>
          <a:prstGeom prst="rect">
            <a:avLst/>
          </a:prstGeom>
        </p:spPr>
        <p:txBody>
          <a:bodyPr lIns="0" tIns="0" rIns="0" bIns="0" rtlCol="0" anchor="t">
            <a:spAutoFit/>
          </a:bodyPr>
          <a:lstStyle/>
          <a:p>
            <a:pPr algn="l">
              <a:lnSpc>
                <a:spcPts val="4855"/>
              </a:lnSpc>
              <a:spcBef>
                <a:spcPct val="0"/>
              </a:spcBef>
            </a:pPr>
            <a:r>
              <a:rPr lang="en-US" sz="3468" b="1" i="1">
                <a:solidFill>
                  <a:srgbClr val="004AAD"/>
                </a:solidFill>
                <a:latin typeface="Times New Roman Bold Italics"/>
                <a:ea typeface="Times New Roman Bold Italics"/>
                <a:cs typeface="Times New Roman Bold Italics"/>
                <a:sym typeface="Times New Roman Bold Italics"/>
              </a:rPr>
              <a:t>What Are Registers?</a:t>
            </a:r>
          </a:p>
          <a:p>
            <a:pPr algn="l">
              <a:lnSpc>
                <a:spcPts val="4855"/>
              </a:lnSpc>
              <a:spcBef>
                <a:spcPct val="0"/>
              </a:spcBef>
            </a:pPr>
            <a:r>
              <a:rPr lang="en-US" sz="3468" b="1" i="1">
                <a:solidFill>
                  <a:srgbClr val="000000"/>
                </a:solidFill>
                <a:latin typeface="Times New Roman Bold Italics"/>
                <a:ea typeface="Times New Roman Bold Italics"/>
                <a:cs typeface="Times New Roman Bold Italics"/>
                <a:sym typeface="Times New Roman Bold Italics"/>
              </a:rPr>
              <a:t>A register is basically a storage space for units of memory that are used to transfer data for immediate use by the CPU (Central Processing Unit) for data processing. Also known as memory registers, they can actually form part of the computer processor as a processor register. It is  large enough to hold any kind of data, such as dates, instruction sets, storage addresses, bits, sequences, and characters. Some instruction sets are partly formed by registers. Types of registers include memory address register, memory buffer register, input output address register, input output buffer register, and shift register. In this presentation we will be focusing on shift registers.</a:t>
            </a:r>
          </a:p>
          <a:p>
            <a:pPr algn="l">
              <a:lnSpc>
                <a:spcPts val="4855"/>
              </a:lnSpc>
              <a:spcBef>
                <a:spcPct val="0"/>
              </a:spcBef>
            </a:pPr>
            <a:endParaRPr lang="en-US" sz="3468" b="1" i="1">
              <a:solidFill>
                <a:srgbClr val="000000"/>
              </a:solidFill>
              <a:latin typeface="Times New Roman Bold Italics"/>
              <a:ea typeface="Times New Roman Bold Italics"/>
              <a:cs typeface="Times New Roman Bold Italics"/>
              <a:sym typeface="Times New Roman Bold Italics"/>
            </a:endParaRPr>
          </a:p>
        </p:txBody>
      </p:sp>
      <p:sp>
        <p:nvSpPr>
          <p:cNvPr id="8" name="Freeform 8"/>
          <p:cNvSpPr/>
          <p:nvPr/>
        </p:nvSpPr>
        <p:spPr>
          <a:xfrm>
            <a:off x="15183988" y="165634"/>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rot="-5400000">
            <a:off x="15314768" y="7253785"/>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013293" y="6679026"/>
            <a:ext cx="10902527" cy="3420668"/>
          </a:xfrm>
          <a:custGeom>
            <a:avLst/>
            <a:gdLst/>
            <a:ahLst/>
            <a:cxnLst/>
            <a:rect l="l" t="t" r="r" b="b"/>
            <a:pathLst>
              <a:path w="10902527" h="3420668">
                <a:moveTo>
                  <a:pt x="0" y="0"/>
                </a:moveTo>
                <a:lnTo>
                  <a:pt x="10902527" y="0"/>
                </a:lnTo>
                <a:lnTo>
                  <a:pt x="10902527" y="3420668"/>
                </a:lnTo>
                <a:lnTo>
                  <a:pt x="0" y="3420668"/>
                </a:lnTo>
                <a:lnTo>
                  <a:pt x="0" y="0"/>
                </a:lnTo>
                <a:close/>
              </a:path>
            </a:pathLst>
          </a:custGeom>
          <a:blipFill>
            <a:blip r:embed="rId2"/>
            <a:stretch>
              <a:fillRect/>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id="4" name="TextBox 4"/>
          <p:cNvSpPr txBox="1"/>
          <p:nvPr/>
        </p:nvSpPr>
        <p:spPr>
          <a:xfrm>
            <a:off x="565323" y="127339"/>
            <a:ext cx="8822234" cy="4847125"/>
          </a:xfrm>
          <a:prstGeom prst="rect">
            <a:avLst/>
          </a:prstGeom>
        </p:spPr>
        <p:txBody>
          <a:bodyPr lIns="0" tIns="0" rIns="0" bIns="0" rtlCol="0" anchor="t">
            <a:spAutoFit/>
          </a:bodyPr>
          <a:lstStyle/>
          <a:p>
            <a:pPr algn="l">
              <a:lnSpc>
                <a:spcPts val="4785"/>
              </a:lnSpc>
              <a:spcBef>
                <a:spcPct val="0"/>
              </a:spcBef>
            </a:pPr>
            <a:r>
              <a:rPr lang="en-US" sz="3418" b="1" i="1" u="sng">
                <a:solidFill>
                  <a:srgbClr val="000000"/>
                </a:solidFill>
                <a:latin typeface="Times New Roman Bold Italics"/>
                <a:ea typeface="Times New Roman Bold Italics"/>
                <a:cs typeface="Times New Roman Bold Italics"/>
                <a:sym typeface="Times New Roman Bold Italics"/>
              </a:rPr>
              <a:t>Types of Shift Registers:</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Serial In Serial Out shift register(SISO)</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Serial In parallel Out shift register(SIPO)</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Parallel In Serial Out shift register(PISO)</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Parallel In parallel Out shift register(PIPO)</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Bidirectional Shift Register</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Universal Shift Register</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Shift Register Counter</a:t>
            </a:r>
          </a:p>
        </p:txBody>
      </p:sp>
      <p:sp>
        <p:nvSpPr>
          <p:cNvPr id="5" name="TextBox 5"/>
          <p:cNvSpPr txBox="1"/>
          <p:nvPr/>
        </p:nvSpPr>
        <p:spPr>
          <a:xfrm>
            <a:off x="193713" y="5562318"/>
            <a:ext cx="17974321" cy="1771814"/>
          </a:xfrm>
          <a:prstGeom prst="rect">
            <a:avLst/>
          </a:prstGeom>
        </p:spPr>
        <p:txBody>
          <a:bodyPr lIns="0" tIns="0" rIns="0" bIns="0" rtlCol="0" anchor="t">
            <a:spAutoFit/>
          </a:bodyPr>
          <a:lstStyle/>
          <a:p>
            <a:pPr algn="l">
              <a:lnSpc>
                <a:spcPts val="4295"/>
              </a:lnSpc>
              <a:spcBef>
                <a:spcPct val="0"/>
              </a:spcBef>
            </a:pPr>
            <a:r>
              <a:rPr lang="en-US" sz="3068" b="1" i="1" u="sng">
                <a:solidFill>
                  <a:srgbClr val="004AAD"/>
                </a:solidFill>
                <a:latin typeface="Times New Roman Bold Italics"/>
                <a:ea typeface="Times New Roman Bold Italics"/>
                <a:cs typeface="Times New Roman Bold Italics"/>
                <a:sym typeface="Times New Roman Bold Italics"/>
              </a:rPr>
              <a:t>Serial-In Serial-Out Shift Register (SISO):</a:t>
            </a:r>
            <a:r>
              <a:rPr lang="en-US" sz="3068" b="1" i="1">
                <a:solidFill>
                  <a:srgbClr val="000000"/>
                </a:solidFill>
                <a:latin typeface="Times New Roman Bold Italics"/>
                <a:ea typeface="Times New Roman Bold Italics"/>
                <a:cs typeface="Times New Roman Bold Italics"/>
                <a:sym typeface="Times New Roman Bold Italics"/>
              </a:rPr>
              <a:t>The shift register, which allows serial input (</a:t>
            </a:r>
            <a:r>
              <a:rPr lang="en-US" sz="3068" b="1" i="1">
                <a:solidFill>
                  <a:srgbClr val="FF3131"/>
                </a:solidFill>
                <a:latin typeface="Times New Roman Bold Italics"/>
                <a:ea typeface="Times New Roman Bold Italics"/>
                <a:cs typeface="Times New Roman Bold Italics"/>
                <a:sym typeface="Times New Roman Bold Italics"/>
              </a:rPr>
              <a:t>one bit after the other through a single data line</a:t>
            </a:r>
            <a:r>
              <a:rPr lang="en-US" sz="3068" b="1" i="1">
                <a:solidFill>
                  <a:srgbClr val="000000"/>
                </a:solidFill>
                <a:latin typeface="Times New Roman Bold Italics"/>
                <a:ea typeface="Times New Roman Bold Italics"/>
                <a:cs typeface="Times New Roman Bold Italics"/>
                <a:sym typeface="Times New Roman Bold Italics"/>
              </a:rPr>
              <a:t>) and produces a serial output is known as a Serial-In Serial-Out shift register</a:t>
            </a:r>
          </a:p>
          <a:p>
            <a:pPr algn="l">
              <a:lnSpc>
                <a:spcPts val="5135"/>
              </a:lnSpc>
              <a:spcBef>
                <a:spcPct val="0"/>
              </a:spcBef>
            </a:pPr>
            <a:r>
              <a:rPr lang="en-US" sz="3668" b="1" i="1">
                <a:solidFill>
                  <a:srgbClr val="000000"/>
                </a:solidFill>
                <a:latin typeface="Times New Roman Bold Italics"/>
                <a:ea typeface="Times New Roman Bold Italics"/>
                <a:cs typeface="Times New Roman Bold Italics"/>
                <a:sym typeface="Times New Roman Bold Italics"/>
              </a:rPr>
              <a:t> </a:t>
            </a:r>
          </a:p>
        </p:txBody>
      </p:sp>
      <p:sp>
        <p:nvSpPr>
          <p:cNvPr id="6" name="Freeform 6"/>
          <p:cNvSpPr/>
          <p:nvPr/>
        </p:nvSpPr>
        <p:spPr>
          <a:xfrm rot="-5400000">
            <a:off x="15284776" y="7538704"/>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4536809" y="1379607"/>
            <a:ext cx="2189597" cy="1992533"/>
          </a:xfrm>
          <a:custGeom>
            <a:avLst/>
            <a:gdLst/>
            <a:ahLst/>
            <a:cxnLst/>
            <a:rect l="l" t="t" r="r" b="b"/>
            <a:pathLst>
              <a:path w="2189597" h="1992533">
                <a:moveTo>
                  <a:pt x="0" y="0"/>
                </a:moveTo>
                <a:lnTo>
                  <a:pt x="2189596" y="0"/>
                </a:lnTo>
                <a:lnTo>
                  <a:pt x="2189596" y="1992533"/>
                </a:lnTo>
                <a:lnTo>
                  <a:pt x="0" y="1992533"/>
                </a:lnTo>
                <a:lnTo>
                  <a:pt x="0" y="0"/>
                </a:lnTo>
                <a:close/>
              </a:path>
            </a:pathLst>
          </a:custGeom>
          <a:blipFill>
            <a:blip r:embed="rId5"/>
            <a:stretch>
              <a:fillRect/>
            </a:stretch>
          </a:blipFill>
        </p:spPr>
      </p:sp>
    </p:spTree>
  </p:cSld>
  <p:clrMapOvr>
    <a:masterClrMapping/>
  </p:clrMapOvr>
  <p:transition spd="slow">
    <p:push dir="d"/>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513080" y="1409659"/>
            <a:ext cx="8255956" cy="3353982"/>
          </a:xfrm>
          <a:custGeom>
            <a:avLst/>
            <a:gdLst/>
            <a:ahLst/>
            <a:cxnLst/>
            <a:rect l="l" t="t" r="r" b="b"/>
            <a:pathLst>
              <a:path w="8255956" h="3353982">
                <a:moveTo>
                  <a:pt x="0" y="0"/>
                </a:moveTo>
                <a:lnTo>
                  <a:pt x="8255956" y="0"/>
                </a:lnTo>
                <a:lnTo>
                  <a:pt x="8255956" y="3353983"/>
                </a:lnTo>
                <a:lnTo>
                  <a:pt x="0" y="3353983"/>
                </a:lnTo>
                <a:lnTo>
                  <a:pt x="0" y="0"/>
                </a:lnTo>
                <a:close/>
              </a:path>
            </a:pathLst>
          </a:custGeom>
          <a:blipFill>
            <a:blip r:embed="rId2"/>
            <a:stretch>
              <a:fillRect/>
            </a:stretch>
          </a:blipFill>
        </p:spPr>
      </p:sp>
      <p:sp>
        <p:nvSpPr>
          <p:cNvPr id="3" name="Freeform 3"/>
          <p:cNvSpPr/>
          <p:nvPr/>
        </p:nvSpPr>
        <p:spPr>
          <a:xfrm>
            <a:off x="5695709" y="6399205"/>
            <a:ext cx="6378862" cy="3739608"/>
          </a:xfrm>
          <a:custGeom>
            <a:avLst/>
            <a:gdLst/>
            <a:ahLst/>
            <a:cxnLst/>
            <a:rect l="l" t="t" r="r" b="b"/>
            <a:pathLst>
              <a:path w="6378862" h="3739608">
                <a:moveTo>
                  <a:pt x="0" y="0"/>
                </a:moveTo>
                <a:lnTo>
                  <a:pt x="6378863" y="0"/>
                </a:lnTo>
                <a:lnTo>
                  <a:pt x="6378863" y="3739608"/>
                </a:lnTo>
                <a:lnTo>
                  <a:pt x="0" y="3739608"/>
                </a:lnTo>
                <a:lnTo>
                  <a:pt x="0" y="0"/>
                </a:lnTo>
                <a:close/>
              </a:path>
            </a:pathLst>
          </a:custGeom>
          <a:blipFill>
            <a:blip r:embed="rId3"/>
            <a:stretch>
              <a:fillRect/>
            </a:stretch>
          </a:blipFill>
        </p:spPr>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id="5" name="TextBox 5"/>
          <p:cNvSpPr txBox="1"/>
          <p:nvPr/>
        </p:nvSpPr>
        <p:spPr>
          <a:xfrm>
            <a:off x="156840" y="80881"/>
            <a:ext cx="17974321" cy="2314739"/>
          </a:xfrm>
          <a:prstGeom prst="rect">
            <a:avLst/>
          </a:prstGeom>
        </p:spPr>
        <p:txBody>
          <a:bodyPr lIns="0" tIns="0" rIns="0" bIns="0" rtlCol="0" anchor="t">
            <a:spAutoFit/>
          </a:bodyPr>
          <a:lstStyle/>
          <a:p>
            <a:pPr algn="l">
              <a:lnSpc>
                <a:spcPts val="4295"/>
              </a:lnSpc>
            </a:pPr>
            <a:r>
              <a:rPr lang="en-US" sz="3068" b="1" i="1" u="sng">
                <a:solidFill>
                  <a:srgbClr val="004AAD"/>
                </a:solidFill>
                <a:latin typeface="Times New Roman Bold Italics"/>
                <a:ea typeface="Times New Roman Bold Italics"/>
                <a:cs typeface="Times New Roman Bold Italics"/>
                <a:sym typeface="Times New Roman Bold Italics"/>
              </a:rPr>
              <a:t>Serial-In Parallel-Out Shift Register (SIPO):</a:t>
            </a:r>
            <a:r>
              <a:rPr lang="en-US" sz="3068" b="1" i="1">
                <a:solidFill>
                  <a:srgbClr val="000000"/>
                </a:solidFill>
                <a:latin typeface="Times New Roman Bold Italics"/>
                <a:ea typeface="Times New Roman Bold Italics"/>
                <a:cs typeface="Times New Roman Bold Italics"/>
                <a:sym typeface="Times New Roman Bold Italics"/>
              </a:rPr>
              <a:t>The shift register, which allows serial input (</a:t>
            </a:r>
            <a:r>
              <a:rPr lang="en-US" sz="3068" b="1" i="1">
                <a:solidFill>
                  <a:srgbClr val="FF3131"/>
                </a:solidFill>
                <a:latin typeface="Times New Roman Bold Italics"/>
                <a:ea typeface="Times New Roman Bold Italics"/>
                <a:cs typeface="Times New Roman Bold Italics"/>
                <a:sym typeface="Times New Roman Bold Italics"/>
              </a:rPr>
              <a:t>one bit after the other through a single data line</a:t>
            </a:r>
            <a:r>
              <a:rPr lang="en-US" sz="3068" b="1" i="1">
                <a:solidFill>
                  <a:srgbClr val="000000"/>
                </a:solidFill>
                <a:latin typeface="Times New Roman Bold Italics"/>
                <a:ea typeface="Times New Roman Bold Italics"/>
                <a:cs typeface="Times New Roman Bold Italics"/>
                <a:sym typeface="Times New Roman Bold Italics"/>
              </a:rPr>
              <a:t>) and produces a parallel output is known as the Serial-In Parallel-Out shift register.</a:t>
            </a:r>
          </a:p>
          <a:p>
            <a:pPr algn="l">
              <a:lnSpc>
                <a:spcPts val="5135"/>
              </a:lnSpc>
              <a:spcBef>
                <a:spcPct val="0"/>
              </a:spcBef>
            </a:pPr>
            <a:endParaRPr lang="en-US" sz="3068" b="1" i="1">
              <a:solidFill>
                <a:srgbClr val="000000"/>
              </a:solidFill>
              <a:latin typeface="Times New Roman Bold Italics"/>
              <a:ea typeface="Times New Roman Bold Italics"/>
              <a:cs typeface="Times New Roman Bold Italics"/>
              <a:sym typeface="Times New Roman Bold Italics"/>
            </a:endParaRPr>
          </a:p>
        </p:txBody>
      </p:sp>
      <p:sp>
        <p:nvSpPr>
          <p:cNvPr id="6" name="TextBox 6"/>
          <p:cNvSpPr txBox="1"/>
          <p:nvPr/>
        </p:nvSpPr>
        <p:spPr>
          <a:xfrm>
            <a:off x="156840" y="5019675"/>
            <a:ext cx="17974321" cy="2857664"/>
          </a:xfrm>
          <a:prstGeom prst="rect">
            <a:avLst/>
          </a:prstGeom>
        </p:spPr>
        <p:txBody>
          <a:bodyPr lIns="0" tIns="0" rIns="0" bIns="0" rtlCol="0" anchor="t">
            <a:spAutoFit/>
          </a:bodyPr>
          <a:lstStyle/>
          <a:p>
            <a:pPr algn="l">
              <a:lnSpc>
                <a:spcPts val="4295"/>
              </a:lnSpc>
            </a:pPr>
            <a:r>
              <a:rPr lang="en-US" sz="3068" b="1" i="1" u="sng">
                <a:solidFill>
                  <a:srgbClr val="004AAD"/>
                </a:solidFill>
                <a:latin typeface="Times New Roman Bold Italics"/>
                <a:ea typeface="Times New Roman Bold Italics"/>
                <a:cs typeface="Times New Roman Bold Italics"/>
                <a:sym typeface="Times New Roman Bold Italics"/>
              </a:rPr>
              <a:t>Parallel-In Serial-Out Shift Register (PISO):</a:t>
            </a:r>
            <a:r>
              <a:rPr lang="en-US" sz="3068" b="1" i="1">
                <a:solidFill>
                  <a:srgbClr val="000000"/>
                </a:solidFill>
                <a:latin typeface="Times New Roman Bold Italics"/>
                <a:ea typeface="Times New Roman Bold Italics"/>
                <a:cs typeface="Times New Roman Bold Italics"/>
                <a:sym typeface="Times New Roman Bold Italics"/>
              </a:rPr>
              <a:t>The shift register, which allows parallel input (</a:t>
            </a:r>
            <a:r>
              <a:rPr lang="en-US" sz="3068" b="1" i="1">
                <a:solidFill>
                  <a:srgbClr val="FF3131"/>
                </a:solidFill>
                <a:latin typeface="Times New Roman Bold Italics"/>
                <a:ea typeface="Times New Roman Bold Italics"/>
                <a:cs typeface="Times New Roman Bold Italics"/>
                <a:sym typeface="Times New Roman Bold Italics"/>
              </a:rPr>
              <a:t>data is given separately to each flip flop and in a simultaneous manner</a:t>
            </a:r>
            <a:r>
              <a:rPr lang="en-US" sz="3068" b="1" i="1">
                <a:solidFill>
                  <a:srgbClr val="000000"/>
                </a:solidFill>
                <a:latin typeface="Times New Roman Bold Italics"/>
                <a:ea typeface="Times New Roman Bold Italics"/>
                <a:cs typeface="Times New Roman Bold Italics"/>
                <a:sym typeface="Times New Roman Bold Italics"/>
              </a:rPr>
              <a:t>) and produces a serial output is known as a Parallel-In Serial-Out shift register</a:t>
            </a:r>
          </a:p>
          <a:p>
            <a:pPr algn="l">
              <a:lnSpc>
                <a:spcPts val="4295"/>
              </a:lnSpc>
            </a:pPr>
            <a:endParaRPr lang="en-US" sz="3068" b="1" i="1">
              <a:solidFill>
                <a:srgbClr val="000000"/>
              </a:solidFill>
              <a:latin typeface="Times New Roman Bold Italics"/>
              <a:ea typeface="Times New Roman Bold Italics"/>
              <a:cs typeface="Times New Roman Bold Italics"/>
              <a:sym typeface="Times New Roman Bold Italics"/>
            </a:endParaRPr>
          </a:p>
          <a:p>
            <a:pPr algn="l">
              <a:lnSpc>
                <a:spcPts val="5135"/>
              </a:lnSpc>
              <a:spcBef>
                <a:spcPct val="0"/>
              </a:spcBef>
            </a:pPr>
            <a:endParaRPr lang="en-US" sz="3068" b="1" i="1">
              <a:solidFill>
                <a:srgbClr val="000000"/>
              </a:solidFill>
              <a:latin typeface="Times New Roman Bold Italics"/>
              <a:ea typeface="Times New Roman Bold Italics"/>
              <a:cs typeface="Times New Roman Bold Italics"/>
              <a:sym typeface="Times New Roman Bold Italics"/>
            </a:endParaRPr>
          </a:p>
        </p:txBody>
      </p:sp>
      <p:sp>
        <p:nvSpPr>
          <p:cNvPr id="7" name="Freeform 7"/>
          <p:cNvSpPr/>
          <p:nvPr/>
        </p:nvSpPr>
        <p:spPr>
          <a:xfrm>
            <a:off x="14923154" y="6743582"/>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4"/>
            <a:stretch>
              <a:fillRect/>
            </a:stretch>
          </a:blipFill>
        </p:spPr>
      </p:sp>
      <p:sp>
        <p:nvSpPr>
          <p:cNvPr id="8" name="Freeform 8"/>
          <p:cNvSpPr/>
          <p:nvPr/>
        </p:nvSpPr>
        <p:spPr>
          <a:xfrm>
            <a:off x="156840" y="7059250"/>
            <a:ext cx="2883258" cy="2883258"/>
          </a:xfrm>
          <a:custGeom>
            <a:avLst/>
            <a:gdLst/>
            <a:ahLst/>
            <a:cxnLst/>
            <a:rect l="l" t="t" r="r" b="b"/>
            <a:pathLst>
              <a:path w="2883258" h="2883258">
                <a:moveTo>
                  <a:pt x="0" y="0"/>
                </a:moveTo>
                <a:lnTo>
                  <a:pt x="2883257" y="0"/>
                </a:lnTo>
                <a:lnTo>
                  <a:pt x="2883257" y="2883258"/>
                </a:lnTo>
                <a:lnTo>
                  <a:pt x="0" y="28832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859124" y="1202442"/>
            <a:ext cx="8569752" cy="3706418"/>
          </a:xfrm>
          <a:custGeom>
            <a:avLst/>
            <a:gdLst/>
            <a:ahLst/>
            <a:cxnLst/>
            <a:rect l="l" t="t" r="r" b="b"/>
            <a:pathLst>
              <a:path w="8569752" h="3706418">
                <a:moveTo>
                  <a:pt x="0" y="0"/>
                </a:moveTo>
                <a:lnTo>
                  <a:pt x="8569752" y="0"/>
                </a:lnTo>
                <a:lnTo>
                  <a:pt x="8569752" y="3706418"/>
                </a:lnTo>
                <a:lnTo>
                  <a:pt x="0" y="3706418"/>
                </a:lnTo>
                <a:lnTo>
                  <a:pt x="0" y="0"/>
                </a:lnTo>
                <a:close/>
              </a:path>
            </a:pathLst>
          </a:custGeom>
          <a:blipFill>
            <a:blip r:embed="rId2"/>
            <a:stretch>
              <a:fillRect/>
            </a:stretch>
          </a:blipFill>
        </p:spPr>
      </p:sp>
      <p:sp>
        <p:nvSpPr>
          <p:cNvPr id="3" name="Freeform 3"/>
          <p:cNvSpPr/>
          <p:nvPr/>
        </p:nvSpPr>
        <p:spPr>
          <a:xfrm>
            <a:off x="5759881" y="6645764"/>
            <a:ext cx="6229695" cy="3641236"/>
          </a:xfrm>
          <a:custGeom>
            <a:avLst/>
            <a:gdLst/>
            <a:ahLst/>
            <a:cxnLst/>
            <a:rect l="l" t="t" r="r" b="b"/>
            <a:pathLst>
              <a:path w="6229695" h="3641236">
                <a:moveTo>
                  <a:pt x="0" y="0"/>
                </a:moveTo>
                <a:lnTo>
                  <a:pt x="6229695" y="0"/>
                </a:lnTo>
                <a:lnTo>
                  <a:pt x="6229695" y="3641236"/>
                </a:lnTo>
                <a:lnTo>
                  <a:pt x="0" y="3641236"/>
                </a:lnTo>
                <a:lnTo>
                  <a:pt x="0" y="0"/>
                </a:lnTo>
                <a:close/>
              </a:path>
            </a:pathLst>
          </a:custGeom>
          <a:blipFill>
            <a:blip r:embed="rId3"/>
            <a:stretch>
              <a:fillRect r="-992"/>
            </a:stretch>
          </a:blipFill>
        </p:spPr>
      </p:sp>
      <p:sp>
        <p:nvSpPr>
          <p:cNvPr id="4" name="TextBox 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id="5" name="TextBox 5"/>
          <p:cNvSpPr txBox="1"/>
          <p:nvPr/>
        </p:nvSpPr>
        <p:spPr>
          <a:xfrm>
            <a:off x="0" y="20625"/>
            <a:ext cx="17974321" cy="2249334"/>
          </a:xfrm>
          <a:prstGeom prst="rect">
            <a:avLst/>
          </a:prstGeom>
        </p:spPr>
        <p:txBody>
          <a:bodyPr lIns="0" tIns="0" rIns="0" bIns="0" rtlCol="0" anchor="t">
            <a:spAutoFit/>
          </a:bodyPr>
          <a:lstStyle/>
          <a:p>
            <a:pPr algn="l">
              <a:lnSpc>
                <a:spcPts val="4155"/>
              </a:lnSpc>
            </a:pPr>
            <a:r>
              <a:rPr lang="en-US" sz="2968" b="1" i="1" u="sng">
                <a:solidFill>
                  <a:srgbClr val="004AAD"/>
                </a:solidFill>
                <a:latin typeface="Times New Roman Bold Italics"/>
                <a:ea typeface="Times New Roman Bold Italics"/>
                <a:cs typeface="Times New Roman Bold Italics"/>
                <a:sym typeface="Times New Roman Bold Italics"/>
              </a:rPr>
              <a:t>Parallel-In Parallel-Out Shift Register (PIPO):</a:t>
            </a:r>
            <a:r>
              <a:rPr lang="en-US" sz="2968" b="1" i="1">
                <a:solidFill>
                  <a:srgbClr val="000000"/>
                </a:solidFill>
                <a:latin typeface="Times New Roman Bold Italics"/>
                <a:ea typeface="Times New Roman Bold Italics"/>
                <a:cs typeface="Times New Roman Bold Italics"/>
                <a:sym typeface="Times New Roman Bold Italics"/>
              </a:rPr>
              <a:t>The shift register, which allows parallel input (</a:t>
            </a:r>
            <a:r>
              <a:rPr lang="en-US" sz="2968" b="1" i="1">
                <a:solidFill>
                  <a:srgbClr val="FF3131"/>
                </a:solidFill>
                <a:latin typeface="Times New Roman Bold Italics"/>
                <a:ea typeface="Times New Roman Bold Italics"/>
                <a:cs typeface="Times New Roman Bold Italics"/>
                <a:sym typeface="Times New Roman Bold Italics"/>
              </a:rPr>
              <a:t>data is given separately to each flip flop and in a simultaneous manner</a:t>
            </a:r>
            <a:r>
              <a:rPr lang="en-US" sz="2968" b="1" i="1">
                <a:solidFill>
                  <a:srgbClr val="000000"/>
                </a:solidFill>
                <a:latin typeface="Times New Roman Bold Italics"/>
                <a:ea typeface="Times New Roman Bold Italics"/>
                <a:cs typeface="Times New Roman Bold Italics"/>
                <a:sym typeface="Times New Roman Bold Italics"/>
              </a:rPr>
              <a:t>) and also produces a parallel output is known as Parallel-In parallel-Out shift register.</a:t>
            </a:r>
          </a:p>
          <a:p>
            <a:pPr algn="l">
              <a:lnSpc>
                <a:spcPts val="5135"/>
              </a:lnSpc>
              <a:spcBef>
                <a:spcPct val="0"/>
              </a:spcBef>
            </a:pPr>
            <a:endParaRPr lang="en-US" sz="2968" b="1" i="1">
              <a:solidFill>
                <a:srgbClr val="000000"/>
              </a:solidFill>
              <a:latin typeface="Times New Roman Bold Italics"/>
              <a:ea typeface="Times New Roman Bold Italics"/>
              <a:cs typeface="Times New Roman Bold Italics"/>
              <a:sym typeface="Times New Roman Bold Italics"/>
            </a:endParaRPr>
          </a:p>
        </p:txBody>
      </p:sp>
      <p:sp>
        <p:nvSpPr>
          <p:cNvPr id="6" name="TextBox 6"/>
          <p:cNvSpPr txBox="1"/>
          <p:nvPr/>
        </p:nvSpPr>
        <p:spPr>
          <a:xfrm>
            <a:off x="156840" y="5119174"/>
            <a:ext cx="17974321" cy="2157894"/>
          </a:xfrm>
          <a:prstGeom prst="rect">
            <a:avLst/>
          </a:prstGeom>
        </p:spPr>
        <p:txBody>
          <a:bodyPr lIns="0" tIns="0" rIns="0" bIns="0" rtlCol="0" anchor="t">
            <a:spAutoFit/>
          </a:bodyPr>
          <a:lstStyle/>
          <a:p>
            <a:pPr algn="l">
              <a:lnSpc>
                <a:spcPts val="4015"/>
              </a:lnSpc>
            </a:pPr>
            <a:r>
              <a:rPr lang="en-US" sz="2868" b="1" i="1" u="sng">
                <a:solidFill>
                  <a:srgbClr val="004AAD"/>
                </a:solidFill>
                <a:latin typeface="Times New Roman Bold Italics"/>
                <a:ea typeface="Times New Roman Bold Italics"/>
                <a:cs typeface="Times New Roman Bold Italics"/>
                <a:sym typeface="Times New Roman Bold Italics"/>
              </a:rPr>
              <a:t>Bidirectional Shift Register:</a:t>
            </a:r>
            <a:r>
              <a:rPr lang="en-US" sz="2868" b="1" i="1">
                <a:solidFill>
                  <a:srgbClr val="000000"/>
                </a:solidFill>
                <a:latin typeface="Times New Roman Bold Italics"/>
                <a:ea typeface="Times New Roman Bold Italics"/>
                <a:cs typeface="Times New Roman Bold Italics"/>
                <a:sym typeface="Times New Roman Bold Italics"/>
              </a:rPr>
              <a:t>Bidirectional shift registers are the registers that are </a:t>
            </a:r>
            <a:r>
              <a:rPr lang="en-US" sz="2868" b="1" i="1">
                <a:solidFill>
                  <a:srgbClr val="FF3131"/>
                </a:solidFill>
                <a:latin typeface="Times New Roman Bold Italics"/>
                <a:ea typeface="Times New Roman Bold Italics"/>
                <a:cs typeface="Times New Roman Bold Italics"/>
                <a:sym typeface="Times New Roman Bold Italics"/>
              </a:rPr>
              <a:t>capable of shifting the data either right or left depending on the mode selected</a:t>
            </a:r>
            <a:r>
              <a:rPr lang="en-US" sz="2868" b="1" i="1">
                <a:solidFill>
                  <a:srgbClr val="000000"/>
                </a:solidFill>
                <a:latin typeface="Times New Roman Bold Italics"/>
                <a:ea typeface="Times New Roman Bold Italics"/>
                <a:cs typeface="Times New Roman Bold Italics"/>
                <a:sym typeface="Times New Roman Bold Italics"/>
              </a:rPr>
              <a:t>. If the mode selected is 1(high), the data will be shifted toward the right direction and if the mode selected is 0(low), the data will be shifted towards the left direction.</a:t>
            </a:r>
          </a:p>
          <a:p>
            <a:pPr algn="l">
              <a:lnSpc>
                <a:spcPts val="4855"/>
              </a:lnSpc>
              <a:spcBef>
                <a:spcPct val="0"/>
              </a:spcBef>
            </a:pPr>
            <a:endParaRPr lang="en-US" sz="2868" b="1" i="1">
              <a:solidFill>
                <a:srgbClr val="000000"/>
              </a:solidFill>
              <a:latin typeface="Times New Roman Bold Italics"/>
              <a:ea typeface="Times New Roman Bold Italics"/>
              <a:cs typeface="Times New Roman Bold Italics"/>
              <a:sym typeface="Times New Roman Bold Italics"/>
            </a:endParaRPr>
          </a:p>
        </p:txBody>
      </p:sp>
      <p:sp>
        <p:nvSpPr>
          <p:cNvPr id="7" name="Freeform 7"/>
          <p:cNvSpPr/>
          <p:nvPr/>
        </p:nvSpPr>
        <p:spPr>
          <a:xfrm>
            <a:off x="0" y="7228933"/>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5255641" y="6866919"/>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6"/>
            <a:stretch>
              <a:fillRect/>
            </a:stretch>
          </a:blipFill>
        </p:spPr>
      </p:sp>
    </p:spTree>
  </p:cSld>
  <p:clrMapOvr>
    <a:masterClrMapping/>
  </p:clrMapOvr>
  <p:transition spd="slow">
    <p:push dir="r"/>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3669272" y="2090842"/>
            <a:ext cx="11158815" cy="7167458"/>
          </a:xfrm>
          <a:custGeom>
            <a:avLst/>
            <a:gdLst/>
            <a:ahLst/>
            <a:cxnLst/>
            <a:rect l="l" t="t" r="r" b="b"/>
            <a:pathLst>
              <a:path w="11158815" h="7167458">
                <a:moveTo>
                  <a:pt x="0" y="0"/>
                </a:moveTo>
                <a:lnTo>
                  <a:pt x="11158815" y="0"/>
                </a:lnTo>
                <a:lnTo>
                  <a:pt x="11158815" y="7167458"/>
                </a:lnTo>
                <a:lnTo>
                  <a:pt x="0" y="7167458"/>
                </a:lnTo>
                <a:lnTo>
                  <a:pt x="0" y="0"/>
                </a:lnTo>
                <a:close/>
              </a:path>
            </a:pathLst>
          </a:custGeom>
          <a:blipFill>
            <a:blip r:embed="rId2"/>
            <a:stretch>
              <a:fillRect/>
            </a:stretch>
          </a:blipFill>
        </p:spPr>
      </p:sp>
      <p:sp>
        <p:nvSpPr>
          <p:cNvPr id="3" name="TextBox 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id="4" name="TextBox 4"/>
          <p:cNvSpPr txBox="1"/>
          <p:nvPr/>
        </p:nvSpPr>
        <p:spPr>
          <a:xfrm>
            <a:off x="156840" y="376468"/>
            <a:ext cx="17974321" cy="1934374"/>
          </a:xfrm>
          <a:prstGeom prst="rect">
            <a:avLst/>
          </a:prstGeom>
        </p:spPr>
        <p:txBody>
          <a:bodyPr lIns="0" tIns="0" rIns="0" bIns="0" rtlCol="0" anchor="t">
            <a:spAutoFit/>
          </a:bodyPr>
          <a:lstStyle/>
          <a:p>
            <a:pPr algn="l">
              <a:lnSpc>
                <a:spcPts val="4715"/>
              </a:lnSpc>
            </a:pPr>
            <a:r>
              <a:rPr lang="en-US" sz="3368" b="1" i="1" u="sng">
                <a:solidFill>
                  <a:srgbClr val="004AAD"/>
                </a:solidFill>
                <a:latin typeface="Times New Roman Bold Italics"/>
                <a:ea typeface="Times New Roman Bold Italics"/>
                <a:cs typeface="Times New Roman Bold Italics"/>
                <a:sym typeface="Times New Roman Bold Italics"/>
              </a:rPr>
              <a:t>Universal Shift Register:</a:t>
            </a:r>
            <a:r>
              <a:rPr lang="en-US" sz="3368" b="1" i="1">
                <a:solidFill>
                  <a:srgbClr val="000000"/>
                </a:solidFill>
                <a:latin typeface="Times New Roman Bold Italics"/>
                <a:ea typeface="Times New Roman Bold Italics"/>
                <a:cs typeface="Times New Roman Bold Italics"/>
                <a:sym typeface="Times New Roman Bold Italics"/>
                <a:hlinkClick r:id="rId3" tooltip="https://www.geeksforgeeks.org/universal-shift-register-in-digital-logic/"/>
              </a:rPr>
              <a:t>Universal Shift Register</a:t>
            </a:r>
            <a:r>
              <a:rPr lang="en-US" sz="3368" b="1" i="1">
                <a:solidFill>
                  <a:srgbClr val="000000"/>
                </a:solidFill>
                <a:latin typeface="Times New Roman Bold Italics"/>
                <a:ea typeface="Times New Roman Bold Italics"/>
                <a:cs typeface="Times New Roman Bold Italics"/>
                <a:sym typeface="Times New Roman Bold Italics"/>
              </a:rPr>
              <a:t> is a type of register that </a:t>
            </a:r>
            <a:r>
              <a:rPr lang="en-US" sz="3368" b="1" i="1">
                <a:solidFill>
                  <a:srgbClr val="FF3131"/>
                </a:solidFill>
                <a:latin typeface="Times New Roman Bold Italics"/>
                <a:ea typeface="Times New Roman Bold Italics"/>
                <a:cs typeface="Times New Roman Bold Italics"/>
                <a:sym typeface="Times New Roman Bold Italics"/>
              </a:rPr>
              <a:t>contains the both right shift and the left shift</a:t>
            </a:r>
            <a:r>
              <a:rPr lang="en-US" sz="3368" b="1" i="1">
                <a:solidFill>
                  <a:srgbClr val="000000"/>
                </a:solidFill>
                <a:latin typeface="Times New Roman Bold Italics"/>
                <a:ea typeface="Times New Roman Bold Italics"/>
                <a:cs typeface="Times New Roman Bold Italics"/>
                <a:sym typeface="Times New Roman Bold Italics"/>
              </a:rPr>
              <a:t>. It has also parallel load capabilities.</a:t>
            </a:r>
          </a:p>
          <a:p>
            <a:pPr algn="l">
              <a:lnSpc>
                <a:spcPts val="5695"/>
              </a:lnSpc>
              <a:spcBef>
                <a:spcPct val="0"/>
              </a:spcBef>
            </a:pPr>
            <a:endParaRPr lang="en-US" sz="3368" b="1" i="1">
              <a:solidFill>
                <a:srgbClr val="000000"/>
              </a:solidFill>
              <a:latin typeface="Times New Roman Bold Italics"/>
              <a:ea typeface="Times New Roman Bold Italics"/>
              <a:cs typeface="Times New Roman Bold Italics"/>
              <a:sym typeface="Times New Roman Bold Italics"/>
            </a:endParaRPr>
          </a:p>
        </p:txBody>
      </p:sp>
      <p:sp>
        <p:nvSpPr>
          <p:cNvPr id="5" name="Freeform 5"/>
          <p:cNvSpPr/>
          <p:nvPr/>
        </p:nvSpPr>
        <p:spPr>
          <a:xfrm>
            <a:off x="15223069" y="6893540"/>
            <a:ext cx="2718680" cy="3198925"/>
          </a:xfrm>
          <a:custGeom>
            <a:avLst/>
            <a:gdLst/>
            <a:ahLst/>
            <a:cxnLst/>
            <a:rect l="l" t="t" r="r" b="b"/>
            <a:pathLst>
              <a:path w="2718680" h="3198925">
                <a:moveTo>
                  <a:pt x="0" y="0"/>
                </a:moveTo>
                <a:lnTo>
                  <a:pt x="2718679" y="0"/>
                </a:lnTo>
                <a:lnTo>
                  <a:pt x="2718679" y="3198925"/>
                </a:lnTo>
                <a:lnTo>
                  <a:pt x="0" y="3198925"/>
                </a:lnTo>
                <a:lnTo>
                  <a:pt x="0" y="0"/>
                </a:lnTo>
                <a:close/>
              </a:path>
            </a:pathLst>
          </a:custGeom>
          <a:blipFill>
            <a:blip r:embed="rId4"/>
            <a:stretch>
              <a:fillRect/>
            </a:stretch>
          </a:blipFill>
        </p:spPr>
      </p:sp>
      <p:sp>
        <p:nvSpPr>
          <p:cNvPr id="6" name="Freeform 6"/>
          <p:cNvSpPr/>
          <p:nvPr/>
        </p:nvSpPr>
        <p:spPr>
          <a:xfrm>
            <a:off x="156840" y="7051374"/>
            <a:ext cx="2883258" cy="2883258"/>
          </a:xfrm>
          <a:custGeom>
            <a:avLst/>
            <a:gdLst/>
            <a:ahLst/>
            <a:cxnLst/>
            <a:rect l="l" t="t" r="r" b="b"/>
            <a:pathLst>
              <a:path w="2883258" h="2883258">
                <a:moveTo>
                  <a:pt x="0" y="0"/>
                </a:moveTo>
                <a:lnTo>
                  <a:pt x="2883257" y="0"/>
                </a:lnTo>
                <a:lnTo>
                  <a:pt x="2883257" y="2883257"/>
                </a:lnTo>
                <a:lnTo>
                  <a:pt x="0" y="28832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156840" y="3989546"/>
            <a:ext cx="1974419" cy="1992533"/>
          </a:xfrm>
          <a:custGeom>
            <a:avLst/>
            <a:gdLst/>
            <a:ahLst/>
            <a:cxnLst/>
            <a:rect l="l" t="t" r="r" b="b"/>
            <a:pathLst>
              <a:path w="1974419" h="1992533">
                <a:moveTo>
                  <a:pt x="0" y="0"/>
                </a:moveTo>
                <a:lnTo>
                  <a:pt x="1974418" y="0"/>
                </a:lnTo>
                <a:lnTo>
                  <a:pt x="1974418" y="1992533"/>
                </a:lnTo>
                <a:lnTo>
                  <a:pt x="0" y="199253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6211412" y="0"/>
            <a:ext cx="5191336" cy="1419896"/>
            <a:chOff x="0" y="0"/>
            <a:chExt cx="1367265" cy="373964"/>
          </a:xfrm>
        </p:grpSpPr>
        <p:sp>
          <p:nvSpPr>
            <p:cNvPr id="3" name="Freeform 3"/>
            <p:cNvSpPr/>
            <p:nvPr/>
          </p:nvSpPr>
          <p:spPr>
            <a:xfrm>
              <a:off x="0" y="0"/>
              <a:ext cx="1367265" cy="373964"/>
            </a:xfrm>
            <a:custGeom>
              <a:avLst/>
              <a:gdLst/>
              <a:ahLst/>
              <a:cxnLst/>
              <a:rect l="l" t="t" r="r" b="b"/>
              <a:pathLst>
                <a:path w="1367265" h="373964">
                  <a:moveTo>
                    <a:pt x="0" y="0"/>
                  </a:moveTo>
                  <a:lnTo>
                    <a:pt x="1367265" y="0"/>
                  </a:lnTo>
                  <a:lnTo>
                    <a:pt x="1367265" y="373964"/>
                  </a:lnTo>
                  <a:lnTo>
                    <a:pt x="0" y="373964"/>
                  </a:lnTo>
                  <a:close/>
                </a:path>
              </a:pathLst>
            </a:custGeom>
            <a:solidFill>
              <a:srgbClr val="000000">
                <a:alpha val="57647"/>
              </a:srgbClr>
            </a:solidFill>
          </p:spPr>
        </p:sp>
        <p:sp>
          <p:nvSpPr>
            <p:cNvPr id="4" name="TextBox 4"/>
            <p:cNvSpPr txBox="1"/>
            <p:nvPr/>
          </p:nvSpPr>
          <p:spPr>
            <a:xfrm>
              <a:off x="0" y="-85725"/>
              <a:ext cx="1367265" cy="459689"/>
            </a:xfrm>
            <a:prstGeom prst="rect">
              <a:avLst/>
            </a:prstGeom>
          </p:spPr>
          <p:txBody>
            <a:bodyPr lIns="50800" tIns="50800" rIns="50800" bIns="50800" rtlCol="0" anchor="ctr"/>
            <a:lstStyle/>
            <a:p>
              <a:pPr algn="ctr">
                <a:lnSpc>
                  <a:spcPts val="2800"/>
                </a:lnSpc>
              </a:pPr>
              <a:r>
                <a:rPr lang="en-US" sz="2000">
                  <a:solidFill>
                    <a:srgbClr val="000000">
                      <a:alpha val="57647"/>
                    </a:srgbClr>
                  </a:solidFill>
                  <a:latin typeface="Times New Roman"/>
                  <a:ea typeface="Times New Roman"/>
                  <a:cs typeface="Times New Roman"/>
                  <a:sym typeface="Times New Roman"/>
                </a:rPr>
                <a:t>s</a:t>
              </a: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a:p>
              <a:pPr algn="ctr">
                <a:lnSpc>
                  <a:spcPts val="2800"/>
                </a:lnSpc>
              </a:pPr>
              <a:endParaRPr lang="en-US" sz="2000">
                <a:solidFill>
                  <a:srgbClr val="000000">
                    <a:alpha val="57647"/>
                  </a:srgbClr>
                </a:solidFill>
                <a:latin typeface="Times New Roman"/>
                <a:ea typeface="Times New Roman"/>
                <a:cs typeface="Times New Roman"/>
                <a:sym typeface="Times New Roman"/>
              </a:endParaRPr>
            </a:p>
          </p:txBody>
        </p:sp>
      </p:grpSp>
      <p:sp>
        <p:nvSpPr>
          <p:cNvPr id="5" name="Freeform 5"/>
          <p:cNvSpPr/>
          <p:nvPr/>
        </p:nvSpPr>
        <p:spPr>
          <a:xfrm>
            <a:off x="4873276" y="5293747"/>
            <a:ext cx="8121547" cy="4640884"/>
          </a:xfrm>
          <a:custGeom>
            <a:avLst/>
            <a:gdLst/>
            <a:ahLst/>
            <a:cxnLst/>
            <a:rect l="l" t="t" r="r" b="b"/>
            <a:pathLst>
              <a:path w="8121547" h="4640884">
                <a:moveTo>
                  <a:pt x="0" y="0"/>
                </a:moveTo>
                <a:lnTo>
                  <a:pt x="8121547" y="0"/>
                </a:lnTo>
                <a:lnTo>
                  <a:pt x="8121547" y="4640884"/>
                </a:lnTo>
                <a:lnTo>
                  <a:pt x="0" y="4640884"/>
                </a:lnTo>
                <a:lnTo>
                  <a:pt x="0" y="0"/>
                </a:lnTo>
                <a:close/>
              </a:path>
            </a:pathLst>
          </a:custGeom>
          <a:blipFill>
            <a:blip r:embed="rId2"/>
            <a:stretch>
              <a:fillRect/>
            </a:stretch>
          </a:blipFill>
        </p:spPr>
      </p:sp>
      <p:sp>
        <p:nvSpPr>
          <p:cNvPr id="6" name="TextBox 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20</a:t>
            </a:r>
          </a:p>
        </p:txBody>
      </p:sp>
      <p:sp>
        <p:nvSpPr>
          <p:cNvPr id="7" name="TextBox 7"/>
          <p:cNvSpPr txBox="1"/>
          <p:nvPr/>
        </p:nvSpPr>
        <p:spPr>
          <a:xfrm>
            <a:off x="6770153" y="180538"/>
            <a:ext cx="4073853" cy="848162"/>
          </a:xfrm>
          <a:prstGeom prst="rect">
            <a:avLst/>
          </a:prstGeom>
        </p:spPr>
        <p:txBody>
          <a:bodyPr lIns="0" tIns="0" rIns="0" bIns="0" rtlCol="0" anchor="t">
            <a:spAutoFit/>
          </a:bodyPr>
          <a:lstStyle/>
          <a:p>
            <a:pPr algn="ctr">
              <a:lnSpc>
                <a:spcPts val="6281"/>
              </a:lnSpc>
              <a:spcBef>
                <a:spcPct val="0"/>
              </a:spcBef>
            </a:pPr>
            <a:r>
              <a:rPr lang="en-US" sz="4487" b="1" i="1">
                <a:solidFill>
                  <a:srgbClr val="FEFEFE"/>
                </a:solidFill>
                <a:latin typeface="Times New Roman Bold Italics"/>
                <a:ea typeface="Times New Roman Bold Italics"/>
                <a:cs typeface="Times New Roman Bold Italics"/>
                <a:sym typeface="Times New Roman Bold Italics"/>
              </a:rPr>
              <a:t>Conclusion</a:t>
            </a:r>
          </a:p>
        </p:txBody>
      </p:sp>
      <p:sp>
        <p:nvSpPr>
          <p:cNvPr id="8" name="TextBox 8"/>
          <p:cNvSpPr txBox="1"/>
          <p:nvPr/>
        </p:nvSpPr>
        <p:spPr>
          <a:xfrm>
            <a:off x="9139238" y="4274503"/>
            <a:ext cx="9525" cy="1566544"/>
          </a:xfrm>
          <a:prstGeom prst="rect">
            <a:avLst/>
          </a:prstGeom>
        </p:spPr>
        <p:txBody>
          <a:bodyPr lIns="0" tIns="0" rIns="0" bIns="0" rtlCol="0" anchor="t">
            <a:spAutoFit/>
          </a:bodyPr>
          <a:lstStyle/>
          <a:p>
            <a:pPr algn="ctr">
              <a:lnSpc>
                <a:spcPts val="12880"/>
              </a:lnSpc>
            </a:pPr>
            <a:endParaRPr/>
          </a:p>
        </p:txBody>
      </p:sp>
      <p:sp>
        <p:nvSpPr>
          <p:cNvPr id="9" name="TextBox 9"/>
          <p:cNvSpPr txBox="1"/>
          <p:nvPr/>
        </p:nvSpPr>
        <p:spPr>
          <a:xfrm>
            <a:off x="1028700" y="2007308"/>
            <a:ext cx="15020072" cy="2760410"/>
          </a:xfrm>
          <a:prstGeom prst="rect">
            <a:avLst/>
          </a:prstGeom>
        </p:spPr>
        <p:txBody>
          <a:bodyPr lIns="0" tIns="0" rIns="0" bIns="0" rtlCol="0" anchor="t">
            <a:spAutoFit/>
          </a:bodyPr>
          <a:lstStyle/>
          <a:p>
            <a:pPr algn="l">
              <a:lnSpc>
                <a:spcPts val="4301"/>
              </a:lnSpc>
            </a:pPr>
            <a:r>
              <a:rPr lang="en-US" sz="3072" b="1" i="1">
                <a:solidFill>
                  <a:srgbClr val="000000"/>
                </a:solidFill>
                <a:latin typeface="Times New Roman Bold Italics"/>
                <a:ea typeface="Times New Roman Bold Italics"/>
                <a:cs typeface="Times New Roman Bold Italics"/>
                <a:sym typeface="Times New Roman Bold Italics"/>
              </a:rPr>
              <a:t>Synchronous sequential logic forms the backbone of modern digital systems, leveraging clock signals and storage elements like flip-flops, counters, and registers to enable controlled and reliable data processing. Applications, ranging from memory design to complex state machines, highlights its importance in advancing technology. Understanding these foundational components equips us to design efficient and innovative digital circuits.</a:t>
            </a:r>
          </a:p>
        </p:txBody>
      </p:sp>
      <p:sp>
        <p:nvSpPr>
          <p:cNvPr id="10" name="Freeform 10"/>
          <p:cNvSpPr/>
          <p:nvPr/>
        </p:nvSpPr>
        <p:spPr>
          <a:xfrm>
            <a:off x="15054033" y="6765588"/>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3"/>
            <a:stretch>
              <a:fillRect/>
            </a:stretch>
          </a:blipFill>
        </p:spPr>
      </p:sp>
      <p:sp>
        <p:nvSpPr>
          <p:cNvPr id="11" name="Freeform 11"/>
          <p:cNvSpPr/>
          <p:nvPr/>
        </p:nvSpPr>
        <p:spPr>
          <a:xfrm>
            <a:off x="156840" y="7051374"/>
            <a:ext cx="2883258" cy="2883258"/>
          </a:xfrm>
          <a:custGeom>
            <a:avLst/>
            <a:gdLst/>
            <a:ahLst/>
            <a:cxnLst/>
            <a:rect l="l" t="t" r="r" b="b"/>
            <a:pathLst>
              <a:path w="2883258" h="2883258">
                <a:moveTo>
                  <a:pt x="0" y="0"/>
                </a:moveTo>
                <a:lnTo>
                  <a:pt x="2883257" y="0"/>
                </a:lnTo>
                <a:lnTo>
                  <a:pt x="2883257" y="2883257"/>
                </a:lnTo>
                <a:lnTo>
                  <a:pt x="0" y="2883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5602629" y="0"/>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TextBox 2"/>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21</a:t>
            </a:r>
          </a:p>
        </p:txBody>
      </p:sp>
      <p:grpSp>
        <p:nvGrpSpPr>
          <p:cNvPr id="3" name="Group 3"/>
          <p:cNvGrpSpPr/>
          <p:nvPr/>
        </p:nvGrpSpPr>
        <p:grpSpPr>
          <a:xfrm>
            <a:off x="6211412" y="0"/>
            <a:ext cx="5191336" cy="1419896"/>
            <a:chOff x="0" y="0"/>
            <a:chExt cx="1367265" cy="373964"/>
          </a:xfrm>
        </p:grpSpPr>
        <p:sp>
          <p:nvSpPr>
            <p:cNvPr id="4" name="Freeform 4"/>
            <p:cNvSpPr/>
            <p:nvPr/>
          </p:nvSpPr>
          <p:spPr>
            <a:xfrm>
              <a:off x="0" y="0"/>
              <a:ext cx="1367265" cy="373964"/>
            </a:xfrm>
            <a:custGeom>
              <a:avLst/>
              <a:gdLst/>
              <a:ahLst/>
              <a:cxnLst/>
              <a:rect l="l" t="t" r="r" b="b"/>
              <a:pathLst>
                <a:path w="1367265" h="373964">
                  <a:moveTo>
                    <a:pt x="0" y="0"/>
                  </a:moveTo>
                  <a:lnTo>
                    <a:pt x="1367265" y="0"/>
                  </a:lnTo>
                  <a:lnTo>
                    <a:pt x="1367265" y="373964"/>
                  </a:lnTo>
                  <a:lnTo>
                    <a:pt x="0" y="373964"/>
                  </a:lnTo>
                  <a:close/>
                </a:path>
              </a:pathLst>
            </a:custGeom>
            <a:solidFill>
              <a:srgbClr val="000000">
                <a:alpha val="57647"/>
              </a:srgbClr>
            </a:solidFill>
          </p:spPr>
        </p:sp>
        <p:sp>
          <p:nvSpPr>
            <p:cNvPr id="5" name="TextBox 5"/>
            <p:cNvSpPr txBox="1"/>
            <p:nvPr/>
          </p:nvSpPr>
          <p:spPr>
            <a:xfrm>
              <a:off x="0" y="-85725"/>
              <a:ext cx="1367265" cy="459689"/>
            </a:xfrm>
            <a:prstGeom prst="rect">
              <a:avLst/>
            </a:prstGeom>
          </p:spPr>
          <p:txBody>
            <a:bodyPr lIns="50800" tIns="50800" rIns="50800" bIns="50800" rtlCol="0" anchor="ctr"/>
            <a:lstStyle/>
            <a:p>
              <a:pPr algn="ctr">
                <a:lnSpc>
                  <a:spcPts val="2800"/>
                </a:lnSpc>
              </a:pPr>
              <a:endParaRPr/>
            </a:p>
            <a:p>
              <a:pPr algn="ctr">
                <a:lnSpc>
                  <a:spcPts val="2800"/>
                </a:lnSpc>
              </a:pPr>
              <a:endParaRPr/>
            </a:p>
            <a:p>
              <a:pPr algn="ctr">
                <a:lnSpc>
                  <a:spcPts val="2800"/>
                </a:lnSpc>
              </a:pPr>
              <a:endParaRPr/>
            </a:p>
          </p:txBody>
        </p:sp>
      </p:grpSp>
      <p:sp>
        <p:nvSpPr>
          <p:cNvPr id="6" name="TextBox 6"/>
          <p:cNvSpPr txBox="1"/>
          <p:nvPr/>
        </p:nvSpPr>
        <p:spPr>
          <a:xfrm>
            <a:off x="6770153" y="180538"/>
            <a:ext cx="4073853" cy="848162"/>
          </a:xfrm>
          <a:prstGeom prst="rect">
            <a:avLst/>
          </a:prstGeom>
        </p:spPr>
        <p:txBody>
          <a:bodyPr lIns="0" tIns="0" rIns="0" bIns="0" rtlCol="0" anchor="t">
            <a:spAutoFit/>
          </a:bodyPr>
          <a:lstStyle/>
          <a:p>
            <a:pPr algn="ctr">
              <a:lnSpc>
                <a:spcPts val="6281"/>
              </a:lnSpc>
              <a:spcBef>
                <a:spcPct val="0"/>
              </a:spcBef>
            </a:pPr>
            <a:r>
              <a:rPr lang="en-US" sz="4487" b="1" i="1">
                <a:solidFill>
                  <a:srgbClr val="FEFEFE"/>
                </a:solidFill>
                <a:latin typeface="Times New Roman Bold Italics"/>
                <a:ea typeface="Times New Roman Bold Italics"/>
                <a:cs typeface="Times New Roman Bold Italics"/>
                <a:sym typeface="Times New Roman Bold Italics"/>
              </a:rPr>
              <a:t>References</a:t>
            </a:r>
          </a:p>
        </p:txBody>
      </p:sp>
      <p:sp>
        <p:nvSpPr>
          <p:cNvPr id="7" name="TextBox 7"/>
          <p:cNvSpPr txBox="1"/>
          <p:nvPr/>
        </p:nvSpPr>
        <p:spPr>
          <a:xfrm>
            <a:off x="290959" y="1417496"/>
            <a:ext cx="17242929" cy="3646975"/>
          </a:xfrm>
          <a:prstGeom prst="rect">
            <a:avLst/>
          </a:prstGeom>
        </p:spPr>
        <p:txBody>
          <a:bodyPr lIns="0" tIns="0" rIns="0" bIns="0" rtlCol="0" anchor="t">
            <a:spAutoFit/>
          </a:bodyPr>
          <a:lstStyle/>
          <a:p>
            <a:pPr algn="l">
              <a:lnSpc>
                <a:spcPts val="4785"/>
              </a:lnSpc>
              <a:spcBef>
                <a:spcPct val="0"/>
              </a:spcBef>
            </a:pPr>
            <a:r>
              <a:rPr lang="en-US" sz="3418" b="1" i="1" u="sng">
                <a:solidFill>
                  <a:srgbClr val="000000"/>
                </a:solidFill>
                <a:latin typeface="Times New Roman Bold Italics"/>
                <a:ea typeface="Times New Roman Bold Italics"/>
                <a:cs typeface="Times New Roman Bold Italics"/>
                <a:sym typeface="Times New Roman Bold Italics"/>
              </a:rPr>
              <a:t>Books</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Digital Design by M. Morris Mano and Michael D. Ciletti</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Digital Fundamentals by Thomas L. Floyd</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Fundamentals of Digital Logic with Verilog Design by Stephen Brown and Zvonko Vranesic</a:t>
            </a:r>
          </a:p>
          <a:p>
            <a:pPr marL="738009" lvl="1" indent="-369004" algn="l">
              <a:lnSpc>
                <a:spcPts val="4785"/>
              </a:lnSpc>
              <a:buFont typeface="Arial"/>
              <a:buChar char="•"/>
            </a:pPr>
            <a:r>
              <a:rPr lang="en-US" sz="3418" b="1" i="1">
                <a:solidFill>
                  <a:srgbClr val="000000"/>
                </a:solidFill>
                <a:latin typeface="Times New Roman Bold Italics"/>
                <a:ea typeface="Times New Roman Bold Italics"/>
                <a:cs typeface="Times New Roman Bold Italics"/>
                <a:sym typeface="Times New Roman Bold Italics"/>
              </a:rPr>
              <a:t>Modern Digital Electronics by R.P. Jain</a:t>
            </a:r>
          </a:p>
          <a:p>
            <a:pPr algn="l">
              <a:lnSpc>
                <a:spcPts val="4785"/>
              </a:lnSpc>
            </a:pPr>
            <a:endParaRPr lang="en-US" sz="3418" b="1" i="1">
              <a:solidFill>
                <a:srgbClr val="000000"/>
              </a:solidFill>
              <a:latin typeface="Times New Roman Bold Italics"/>
              <a:ea typeface="Times New Roman Bold Italics"/>
              <a:cs typeface="Times New Roman Bold Italics"/>
              <a:sym typeface="Times New Roman Bold Italics"/>
            </a:endParaRPr>
          </a:p>
        </p:txBody>
      </p:sp>
      <p:sp>
        <p:nvSpPr>
          <p:cNvPr id="8" name="TextBox 8"/>
          <p:cNvSpPr txBox="1"/>
          <p:nvPr/>
        </p:nvSpPr>
        <p:spPr>
          <a:xfrm>
            <a:off x="290959" y="5064471"/>
            <a:ext cx="8755119" cy="6315646"/>
          </a:xfrm>
          <a:prstGeom prst="rect">
            <a:avLst/>
          </a:prstGeom>
        </p:spPr>
        <p:txBody>
          <a:bodyPr lIns="0" tIns="0" rIns="0" bIns="0" rtlCol="0" anchor="t">
            <a:spAutoFit/>
          </a:bodyPr>
          <a:lstStyle/>
          <a:p>
            <a:pPr algn="l">
              <a:lnSpc>
                <a:spcPts val="4548"/>
              </a:lnSpc>
            </a:pPr>
            <a:r>
              <a:rPr lang="en-US" sz="3249" b="1" i="1" u="sng" dirty="0">
                <a:solidFill>
                  <a:srgbClr val="000000"/>
                </a:solidFill>
                <a:latin typeface="Times New Roman Bold Italics"/>
                <a:ea typeface="Times New Roman Bold Italics"/>
                <a:cs typeface="Times New Roman Bold Italics"/>
                <a:sym typeface="Times New Roman Bold Italics"/>
                <a:hlinkClick r:id="rId2" tooltip="https://www.allaboutcircuits.com"/>
              </a:rPr>
              <a:t>Web Resources</a:t>
            </a:r>
          </a:p>
          <a:p>
            <a:pPr marL="701507" lvl="1" indent="-350754" algn="l">
              <a:lnSpc>
                <a:spcPts val="4548"/>
              </a:lnSpc>
              <a:buFont typeface="Arial"/>
              <a:buChar char="•"/>
            </a:pP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Al</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l About Circuits - Sequential Circuits</a:t>
            </a:r>
          </a:p>
          <a:p>
            <a:pPr algn="l">
              <a:lnSpc>
                <a:spcPts val="4548"/>
              </a:lnSpc>
            </a:pPr>
            <a:r>
              <a:rPr lang="en-US" sz="3249" dirty="0">
                <a:solidFill>
                  <a:srgbClr val="000000"/>
                </a:solidFill>
                <a:latin typeface="Times New Roman"/>
                <a:ea typeface="Times New Roman"/>
                <a:cs typeface="Times New Roman"/>
                <a:sym typeface="Times New Roman"/>
              </a:rPr>
              <a:t>        </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h</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ttps://www.allaboutcircuits.com</a:t>
            </a:r>
          </a:p>
          <a:p>
            <a:pPr marL="701507" lvl="1" indent="-350754" algn="l">
              <a:lnSpc>
                <a:spcPts val="4548"/>
              </a:lnSpc>
              <a:buFont typeface="Arial"/>
              <a:buChar char="•"/>
            </a:pPr>
            <a:r>
              <a:rPr lang="en-US" sz="3249" b="1" i="1" dirty="0" err="1">
                <a:solidFill>
                  <a:srgbClr val="000000"/>
                </a:solidFill>
                <a:latin typeface="Times New Roman Bold Italics"/>
                <a:ea typeface="Times New Roman Bold Italics"/>
                <a:cs typeface="Times New Roman Bold Italics"/>
                <a:sym typeface="Times New Roman Bold Italics"/>
                <a:hlinkClick r:id="rId2" tooltip="https://www.allaboutcircuits.com"/>
              </a:rPr>
              <a:t>GeeksforGeeks</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 - Sequential Circuits</a:t>
            </a:r>
          </a:p>
          <a:p>
            <a:pPr algn="l">
              <a:lnSpc>
                <a:spcPts val="4548"/>
              </a:lnSpc>
            </a:pPr>
            <a:r>
              <a:rPr lang="en-US" sz="3249" dirty="0">
                <a:solidFill>
                  <a:srgbClr val="000000"/>
                </a:solidFill>
                <a:latin typeface="Times New Roman"/>
                <a:ea typeface="Times New Roman"/>
                <a:cs typeface="Times New Roman"/>
                <a:sym typeface="Times New Roman"/>
              </a:rPr>
              <a:t>        </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https://www.geeksforgeeks.org</a:t>
            </a:r>
          </a:p>
          <a:p>
            <a:pPr marL="701507" lvl="1" indent="-350754" algn="l">
              <a:lnSpc>
                <a:spcPts val="4548"/>
              </a:lnSpc>
              <a:buFont typeface="Arial"/>
              <a:buChar char="•"/>
            </a:pP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Electronics Tutorials - Flip-Flops and Counters</a:t>
            </a:r>
          </a:p>
          <a:p>
            <a:pPr algn="l">
              <a:lnSpc>
                <a:spcPts val="4548"/>
              </a:lnSpc>
            </a:pPr>
            <a:r>
              <a:rPr lang="en-US" sz="3249" dirty="0">
                <a:solidFill>
                  <a:srgbClr val="000000"/>
                </a:solidFill>
                <a:latin typeface="Times New Roman"/>
                <a:ea typeface="Times New Roman"/>
                <a:cs typeface="Times New Roman"/>
                <a:sym typeface="Times New Roman"/>
              </a:rPr>
              <a:t>       </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https://www.electronics-tutorials.ws</a:t>
            </a:r>
          </a:p>
          <a:p>
            <a:pPr marL="701507" lvl="1" indent="-350754" algn="l">
              <a:lnSpc>
                <a:spcPts val="4548"/>
              </a:lnSpc>
              <a:buFont typeface="Arial"/>
              <a:buChar char="•"/>
            </a:pPr>
            <a:r>
              <a:rPr lang="en-US" sz="3249" b="1" i="1" dirty="0" err="1">
                <a:solidFill>
                  <a:srgbClr val="000000"/>
                </a:solidFill>
                <a:latin typeface="Times New Roman Bold Italics"/>
                <a:ea typeface="Times New Roman Bold Italics"/>
                <a:cs typeface="Times New Roman Bold Italics"/>
                <a:sym typeface="Times New Roman Bold Italics"/>
                <a:hlinkClick r:id="rId2" tooltip="https://www.allaboutcircuits.com"/>
              </a:rPr>
              <a:t>Tut</a:t>
            </a:r>
            <a:r>
              <a:rPr lang="en-US" sz="3249" b="1" i="1" dirty="0" err="1">
                <a:solidFill>
                  <a:srgbClr val="000000"/>
                </a:solidFill>
                <a:latin typeface="Times New Roman Bold Italics"/>
                <a:ea typeface="Times New Roman Bold Italics"/>
                <a:cs typeface="Times New Roman Bold Italics"/>
                <a:sym typeface="Times New Roman Bold Italics"/>
                <a:hlinkClick r:id="rId2" tooltip="https://www.allaboutcircuits.com"/>
              </a:rPr>
              <a:t>orialsPoint</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 - Digital Circuits</a:t>
            </a:r>
          </a:p>
          <a:p>
            <a:pPr algn="l">
              <a:lnSpc>
                <a:spcPts val="4548"/>
              </a:lnSpc>
            </a:pPr>
            <a:r>
              <a:rPr lang="en-US" sz="3249" dirty="0">
                <a:solidFill>
                  <a:srgbClr val="000000"/>
                </a:solidFill>
                <a:latin typeface="Times New Roman"/>
                <a:ea typeface="Times New Roman"/>
                <a:cs typeface="Times New Roman"/>
                <a:sym typeface="Times New Roman"/>
              </a:rPr>
              <a:t>       </a:t>
            </a:r>
            <a:r>
              <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rPr>
              <a:t>https://www.tutorialspoint.com</a:t>
            </a:r>
          </a:p>
          <a:p>
            <a:pPr algn="l">
              <a:lnSpc>
                <a:spcPts val="4548"/>
              </a:lnSpc>
            </a:pPr>
            <a:endPar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endParaRPr>
          </a:p>
          <a:p>
            <a:pPr algn="l">
              <a:lnSpc>
                <a:spcPts val="4548"/>
              </a:lnSpc>
            </a:pPr>
            <a:endParaRPr lang="en-US" sz="3249" b="1" i="1" dirty="0">
              <a:solidFill>
                <a:srgbClr val="000000"/>
              </a:solidFill>
              <a:latin typeface="Times New Roman Bold Italics"/>
              <a:ea typeface="Times New Roman Bold Italics"/>
              <a:cs typeface="Times New Roman Bold Italics"/>
              <a:sym typeface="Times New Roman Bold Italics"/>
              <a:hlinkClick r:id="rId2" tooltip="https://www.allaboutcircuits.com"/>
            </a:endParaRPr>
          </a:p>
        </p:txBody>
      </p:sp>
      <p:sp>
        <p:nvSpPr>
          <p:cNvPr id="9" name="Freeform 9"/>
          <p:cNvSpPr/>
          <p:nvPr/>
        </p:nvSpPr>
        <p:spPr>
          <a:xfrm>
            <a:off x="15559469" y="240612"/>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5400000">
            <a:off x="15284776" y="7538704"/>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A6A6A6">
                <a:alpha val="100000"/>
              </a:srgbClr>
            </a:gs>
            <a:gs pos="100000">
              <a:srgbClr val="FFFFFF">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408139" y="7841077"/>
            <a:ext cx="2189597" cy="1992533"/>
          </a:xfrm>
          <a:custGeom>
            <a:avLst/>
            <a:gdLst/>
            <a:ahLst/>
            <a:cxnLst/>
            <a:rect l="l" t="t" r="r" b="b"/>
            <a:pathLst>
              <a:path w="2189597" h="1992533">
                <a:moveTo>
                  <a:pt x="0" y="0"/>
                </a:moveTo>
                <a:lnTo>
                  <a:pt x="2189596" y="0"/>
                </a:lnTo>
                <a:lnTo>
                  <a:pt x="2189596" y="1992533"/>
                </a:lnTo>
                <a:lnTo>
                  <a:pt x="0" y="1992533"/>
                </a:lnTo>
                <a:lnTo>
                  <a:pt x="0" y="0"/>
                </a:lnTo>
                <a:close/>
              </a:path>
            </a:pathLst>
          </a:custGeom>
          <a:blipFill>
            <a:blip r:embed="rId2"/>
            <a:stretch>
              <a:fillRect/>
            </a:stretch>
          </a:blipFill>
        </p:spPr>
      </p:sp>
      <p:sp>
        <p:nvSpPr>
          <p:cNvPr id="3" name="Freeform 3"/>
          <p:cNvSpPr/>
          <p:nvPr/>
        </p:nvSpPr>
        <p:spPr>
          <a:xfrm>
            <a:off x="14670735" y="1028700"/>
            <a:ext cx="1974419" cy="1992533"/>
          </a:xfrm>
          <a:custGeom>
            <a:avLst/>
            <a:gdLst/>
            <a:ahLst/>
            <a:cxnLst/>
            <a:rect l="l" t="t" r="r" b="b"/>
            <a:pathLst>
              <a:path w="1974419" h="1992533">
                <a:moveTo>
                  <a:pt x="0" y="0"/>
                </a:moveTo>
                <a:lnTo>
                  <a:pt x="1974419" y="0"/>
                </a:lnTo>
                <a:lnTo>
                  <a:pt x="1974419" y="1992533"/>
                </a:lnTo>
                <a:lnTo>
                  <a:pt x="0" y="19925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5051873" y="2264072"/>
            <a:ext cx="8358977" cy="5577005"/>
          </a:xfrm>
          <a:custGeom>
            <a:avLst/>
            <a:gdLst/>
            <a:ahLst/>
            <a:cxnLst/>
            <a:rect l="l" t="t" r="r" b="b"/>
            <a:pathLst>
              <a:path w="8358977" h="5577005">
                <a:moveTo>
                  <a:pt x="0" y="0"/>
                </a:moveTo>
                <a:lnTo>
                  <a:pt x="8358978" y="0"/>
                </a:lnTo>
                <a:lnTo>
                  <a:pt x="8358978" y="5577005"/>
                </a:lnTo>
                <a:lnTo>
                  <a:pt x="0" y="5577005"/>
                </a:lnTo>
                <a:lnTo>
                  <a:pt x="0" y="0"/>
                </a:lnTo>
                <a:close/>
              </a:path>
            </a:pathLst>
          </a:custGeom>
          <a:blipFill>
            <a:blip r:embed="rId5"/>
            <a:stretch>
              <a:fillRect/>
            </a:stretch>
          </a:blipFill>
        </p:spPr>
      </p:sp>
      <p:sp>
        <p:nvSpPr>
          <p:cNvPr id="5" name="TextBox 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22</a:t>
            </a:r>
          </a:p>
        </p:txBody>
      </p:sp>
      <p:grpSp>
        <p:nvGrpSpPr>
          <p:cNvPr id="6" name="Group 6"/>
          <p:cNvGrpSpPr/>
          <p:nvPr/>
        </p:nvGrpSpPr>
        <p:grpSpPr>
          <a:xfrm>
            <a:off x="5276848" y="4468692"/>
            <a:ext cx="7909027" cy="1167765"/>
            <a:chOff x="0" y="0"/>
            <a:chExt cx="2083036" cy="307560"/>
          </a:xfrm>
        </p:grpSpPr>
        <p:sp>
          <p:nvSpPr>
            <p:cNvPr id="7" name="Freeform 7"/>
            <p:cNvSpPr/>
            <p:nvPr/>
          </p:nvSpPr>
          <p:spPr>
            <a:xfrm>
              <a:off x="0" y="0"/>
              <a:ext cx="2083036" cy="307560"/>
            </a:xfrm>
            <a:custGeom>
              <a:avLst/>
              <a:gdLst/>
              <a:ahLst/>
              <a:cxnLst/>
              <a:rect l="l" t="t" r="r" b="b"/>
              <a:pathLst>
                <a:path w="2083036" h="307560">
                  <a:moveTo>
                    <a:pt x="0" y="0"/>
                  </a:moveTo>
                  <a:lnTo>
                    <a:pt x="2083036" y="0"/>
                  </a:lnTo>
                  <a:lnTo>
                    <a:pt x="2083036" y="307560"/>
                  </a:lnTo>
                  <a:lnTo>
                    <a:pt x="0" y="307560"/>
                  </a:lnTo>
                  <a:close/>
                </a:path>
              </a:pathLst>
            </a:custGeom>
            <a:solidFill>
              <a:srgbClr val="000000">
                <a:alpha val="65882"/>
              </a:srgbClr>
            </a:solidFill>
          </p:spPr>
        </p:sp>
        <p:sp>
          <p:nvSpPr>
            <p:cNvPr id="8" name="TextBox 8"/>
            <p:cNvSpPr txBox="1"/>
            <p:nvPr/>
          </p:nvSpPr>
          <p:spPr>
            <a:xfrm>
              <a:off x="0" y="-85725"/>
              <a:ext cx="2083036" cy="393285"/>
            </a:xfrm>
            <a:prstGeom prst="rect">
              <a:avLst/>
            </a:prstGeom>
          </p:spPr>
          <p:txBody>
            <a:bodyPr lIns="50800" tIns="50800" rIns="50800" bIns="50800" rtlCol="0" anchor="ctr"/>
            <a:lstStyle/>
            <a:p>
              <a:pPr algn="ctr">
                <a:lnSpc>
                  <a:spcPts val="2800"/>
                </a:lnSpc>
              </a:pPr>
              <a:endParaRPr/>
            </a:p>
            <a:p>
              <a:pPr algn="ctr">
                <a:lnSpc>
                  <a:spcPts val="2800"/>
                </a:lnSpc>
              </a:pPr>
              <a:endParaRPr/>
            </a:p>
            <a:p>
              <a:pPr algn="ctr">
                <a:lnSpc>
                  <a:spcPts val="2800"/>
                </a:lnSpc>
              </a:pPr>
              <a:endParaRPr/>
            </a:p>
          </p:txBody>
        </p:sp>
      </p:grpSp>
      <p:sp>
        <p:nvSpPr>
          <p:cNvPr id="9" name="TextBox 9"/>
          <p:cNvSpPr txBox="1"/>
          <p:nvPr/>
        </p:nvSpPr>
        <p:spPr>
          <a:xfrm>
            <a:off x="5276848" y="4471185"/>
            <a:ext cx="7909027" cy="962753"/>
          </a:xfrm>
          <a:prstGeom prst="rect">
            <a:avLst/>
          </a:prstGeom>
        </p:spPr>
        <p:txBody>
          <a:bodyPr lIns="0" tIns="0" rIns="0" bIns="0" rtlCol="0" anchor="t">
            <a:spAutoFit/>
          </a:bodyPr>
          <a:lstStyle/>
          <a:p>
            <a:pPr algn="l">
              <a:lnSpc>
                <a:spcPts val="7111"/>
              </a:lnSpc>
            </a:pPr>
            <a:r>
              <a:rPr lang="en-US" sz="5079" b="1" i="1">
                <a:solidFill>
                  <a:srgbClr val="FEFEFE"/>
                </a:solidFill>
                <a:latin typeface="Times New Roman Bold Italics"/>
                <a:ea typeface="Times New Roman Bold Italics"/>
                <a:cs typeface="Times New Roman Bold Italics"/>
                <a:sym typeface="Times New Roman Bold Italics"/>
              </a:rPr>
              <a:t>Thank you for your patience! </a:t>
            </a:r>
          </a:p>
        </p:txBody>
      </p:sp>
      <p:sp>
        <p:nvSpPr>
          <p:cNvPr id="10" name="Freeform 10"/>
          <p:cNvSpPr/>
          <p:nvPr/>
        </p:nvSpPr>
        <p:spPr>
          <a:xfrm rot="-5400000">
            <a:off x="15203525" y="7313768"/>
            <a:ext cx="2883258" cy="2883258"/>
          </a:xfrm>
          <a:custGeom>
            <a:avLst/>
            <a:gdLst/>
            <a:ahLst/>
            <a:cxnLst/>
            <a:rect l="l" t="t" r="r" b="b"/>
            <a:pathLst>
              <a:path w="2883258" h="2883258">
                <a:moveTo>
                  <a:pt x="0" y="0"/>
                </a:moveTo>
                <a:lnTo>
                  <a:pt x="2883258" y="0"/>
                </a:lnTo>
                <a:lnTo>
                  <a:pt x="2883258" y="2883258"/>
                </a:lnTo>
                <a:lnTo>
                  <a:pt x="0" y="28832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rot="-10800000">
            <a:off x="143597" y="130054"/>
            <a:ext cx="2718680" cy="3198925"/>
          </a:xfrm>
          <a:custGeom>
            <a:avLst/>
            <a:gdLst/>
            <a:ahLst/>
            <a:cxnLst/>
            <a:rect l="l" t="t" r="r" b="b"/>
            <a:pathLst>
              <a:path w="2718680" h="3198925">
                <a:moveTo>
                  <a:pt x="0" y="0"/>
                </a:moveTo>
                <a:lnTo>
                  <a:pt x="2718680" y="0"/>
                </a:lnTo>
                <a:lnTo>
                  <a:pt x="2718680" y="3198926"/>
                </a:lnTo>
                <a:lnTo>
                  <a:pt x="0" y="3198926"/>
                </a:lnTo>
                <a:lnTo>
                  <a:pt x="0" y="0"/>
                </a:lnTo>
                <a:close/>
              </a:path>
            </a:pathLst>
          </a:custGeom>
          <a:blipFill>
            <a:blip r:embed="rId8"/>
            <a:stretch>
              <a:fillRect/>
            </a:stretch>
          </a:blipFill>
        </p:spPr>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1501</Words>
  <Application>Microsoft Office PowerPoint</Application>
  <PresentationFormat>Custom</PresentationFormat>
  <Paragraphs>160</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Times New Roman</vt:lpstr>
      <vt:lpstr>Times New Roman Bold Italics</vt:lpstr>
      <vt:lpstr>Times New Roman Bold</vt:lpstr>
      <vt:lpstr>Calibri</vt:lpstr>
      <vt:lpstr>Arial</vt:lpstr>
      <vt:lpstr>Canva Sans</vt:lpstr>
      <vt:lpstr>Times New Roman Italics</vt:lpstr>
      <vt:lpstr>Fredoka</vt:lpstr>
      <vt:lpstr>Shrikhand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Synchonous Sequential Logic</dc:title>
  <cp:lastModifiedBy>Taquat Hossain</cp:lastModifiedBy>
  <cp:revision>2</cp:revision>
  <dcterms:created xsi:type="dcterms:W3CDTF">2006-08-16T00:00:00Z</dcterms:created>
  <dcterms:modified xsi:type="dcterms:W3CDTF">2026-08-03T06:48:50Z</dcterms:modified>
  <dc:identifier>DAGWL1fVOeI</dc:identifier>
</cp:coreProperties>
</file>